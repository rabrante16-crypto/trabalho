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5488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médicos no painel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92024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044598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8,7% do setor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5760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48716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044598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808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2706624"/>
            <a:ext cx="130649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6,5% do setor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05409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044598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9808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" y="3273552"/>
            <a:ext cx="117584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 do setor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65760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38912" y="3621024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044598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9808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3840480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9808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4,0% do setor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" y="4187952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2044598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9808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44" name="Shape 42"/>
          <p:cNvSpPr/>
          <p:nvPr/>
        </p:nvSpPr>
        <p:spPr>
          <a:xfrm>
            <a:off x="749808" y="4407408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65760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75488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38912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2044598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49808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52" name="Shape 50"/>
          <p:cNvSpPr/>
          <p:nvPr/>
        </p:nvSpPr>
        <p:spPr>
          <a:xfrm>
            <a:off x="749808" y="4974336"/>
            <a:ext cx="457273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9808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2,3% do setor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912" y="532180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38912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749808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2044598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749808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808" y="5541264"/>
            <a:ext cx="39194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9808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 do setor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65760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63" name="Shape 61"/>
          <p:cNvSpPr/>
          <p:nvPr/>
        </p:nvSpPr>
        <p:spPr>
          <a:xfrm>
            <a:off x="438912" y="588873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3891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2044598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749808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" y="6108192"/>
            <a:ext cx="326624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49808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1,7% do setor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2684678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2794406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800" dirty="0"/>
          </a:p>
        </p:txBody>
      </p:sp>
      <p:sp>
        <p:nvSpPr>
          <p:cNvPr id="72" name="Text 70"/>
          <p:cNvSpPr txBox="1"/>
          <p:nvPr/>
        </p:nvSpPr>
        <p:spPr>
          <a:xfrm>
            <a:off x="2794406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médicos no painel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2684678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4" name="Shape 72"/>
          <p:cNvSpPr/>
          <p:nvPr/>
        </p:nvSpPr>
        <p:spPr>
          <a:xfrm>
            <a:off x="2757830" y="192024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757830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3068726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77" name="Text 75"/>
          <p:cNvSpPr txBox="1"/>
          <p:nvPr/>
        </p:nvSpPr>
        <p:spPr>
          <a:xfrm>
            <a:off x="4363517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79" name="Shape 77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68726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17,8% do setor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2684678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82" name="Shape 80"/>
          <p:cNvSpPr/>
          <p:nvPr/>
        </p:nvSpPr>
        <p:spPr>
          <a:xfrm>
            <a:off x="2757830" y="248716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75783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3068726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85" name="Text 83"/>
          <p:cNvSpPr txBox="1"/>
          <p:nvPr/>
        </p:nvSpPr>
        <p:spPr>
          <a:xfrm>
            <a:off x="4363517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3068726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87" name="Shape 85"/>
          <p:cNvSpPr/>
          <p:nvPr/>
        </p:nvSpPr>
        <p:spPr>
          <a:xfrm>
            <a:off x="3068726" y="2706624"/>
            <a:ext cx="1440987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3068726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15,7% do setor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2684678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757830" y="305409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5783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068726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93" name="Text 91"/>
          <p:cNvSpPr txBox="1"/>
          <p:nvPr/>
        </p:nvSpPr>
        <p:spPr>
          <a:xfrm>
            <a:off x="4363517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068726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95" name="Shape 93"/>
          <p:cNvSpPr/>
          <p:nvPr/>
        </p:nvSpPr>
        <p:spPr>
          <a:xfrm>
            <a:off x="3068726" y="3273552"/>
            <a:ext cx="89661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068726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9,0% do setor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2684678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8" name="Shape 96"/>
          <p:cNvSpPr/>
          <p:nvPr/>
        </p:nvSpPr>
        <p:spPr>
          <a:xfrm>
            <a:off x="2757830" y="3621024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757830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Text 98"/>
          <p:cNvSpPr txBox="1"/>
          <p:nvPr/>
        </p:nvSpPr>
        <p:spPr>
          <a:xfrm>
            <a:off x="3068726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101" name="Text 99"/>
          <p:cNvSpPr txBox="1"/>
          <p:nvPr/>
        </p:nvSpPr>
        <p:spPr>
          <a:xfrm>
            <a:off x="4363517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3068726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068726" y="3840480"/>
            <a:ext cx="768526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068726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do setor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2684678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7830" y="4187952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75783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08" name="Text 106"/>
          <p:cNvSpPr txBox="1"/>
          <p:nvPr/>
        </p:nvSpPr>
        <p:spPr>
          <a:xfrm>
            <a:off x="3068726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109" name="Text 107"/>
          <p:cNvSpPr txBox="1"/>
          <p:nvPr/>
        </p:nvSpPr>
        <p:spPr>
          <a:xfrm>
            <a:off x="4363517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110" name="Shape 108"/>
          <p:cNvSpPr/>
          <p:nvPr/>
        </p:nvSpPr>
        <p:spPr>
          <a:xfrm>
            <a:off x="3068726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68726" y="4407408"/>
            <a:ext cx="73650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068726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 do setor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2684678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57830" y="475488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75783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16" name="Text 114"/>
          <p:cNvSpPr txBox="1"/>
          <p:nvPr/>
        </p:nvSpPr>
        <p:spPr>
          <a:xfrm>
            <a:off x="3068726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117" name="Text 115"/>
          <p:cNvSpPr txBox="1"/>
          <p:nvPr/>
        </p:nvSpPr>
        <p:spPr>
          <a:xfrm>
            <a:off x="4363517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118" name="Shape 116"/>
          <p:cNvSpPr/>
          <p:nvPr/>
        </p:nvSpPr>
        <p:spPr>
          <a:xfrm>
            <a:off x="3068726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68726" y="4974336"/>
            <a:ext cx="704482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068726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7,7% do setor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2684678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7830" y="532180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757830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4" name="Text 122"/>
          <p:cNvSpPr txBox="1"/>
          <p:nvPr/>
        </p:nvSpPr>
        <p:spPr>
          <a:xfrm>
            <a:off x="3068726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125" name="Text 123"/>
          <p:cNvSpPr txBox="1"/>
          <p:nvPr/>
        </p:nvSpPr>
        <p:spPr>
          <a:xfrm>
            <a:off x="4363517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126" name="Shape 124"/>
          <p:cNvSpPr/>
          <p:nvPr/>
        </p:nvSpPr>
        <p:spPr>
          <a:xfrm>
            <a:off x="3068726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68726" y="5541264"/>
            <a:ext cx="57639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068726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6,1% do setor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2684678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57830" y="588873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2757830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32" name="Text 130"/>
          <p:cNvSpPr txBox="1"/>
          <p:nvPr/>
        </p:nvSpPr>
        <p:spPr>
          <a:xfrm>
            <a:off x="3068726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133" name="Text 131"/>
          <p:cNvSpPr txBox="1"/>
          <p:nvPr/>
        </p:nvSpPr>
        <p:spPr>
          <a:xfrm>
            <a:off x="4363517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134" name="Shape 132"/>
          <p:cNvSpPr/>
          <p:nvPr/>
        </p:nvSpPr>
        <p:spPr>
          <a:xfrm>
            <a:off x="3068726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68726" y="6108192"/>
            <a:ext cx="41628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3068726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5003597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8" name="Text 136"/>
          <p:cNvSpPr txBox="1"/>
          <p:nvPr/>
        </p:nvSpPr>
        <p:spPr>
          <a:xfrm>
            <a:off x="5113325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800" dirty="0"/>
          </a:p>
        </p:txBody>
      </p:sp>
      <p:sp>
        <p:nvSpPr>
          <p:cNvPr id="139" name="Text 137"/>
          <p:cNvSpPr txBox="1"/>
          <p:nvPr/>
        </p:nvSpPr>
        <p:spPr>
          <a:xfrm>
            <a:off x="5113325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médicos no painel</a:t>
            </a:r>
            <a:endParaRPr lang="en-US" sz="1050" dirty="0"/>
          </a:p>
        </p:txBody>
      </p:sp>
      <p:sp>
        <p:nvSpPr>
          <p:cNvPr id="140" name="Shape 138"/>
          <p:cNvSpPr/>
          <p:nvPr/>
        </p:nvSpPr>
        <p:spPr>
          <a:xfrm>
            <a:off x="5003597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076749" y="192024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076749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3" name="Text 141"/>
          <p:cNvSpPr txBox="1"/>
          <p:nvPr/>
        </p:nvSpPr>
        <p:spPr>
          <a:xfrm>
            <a:off x="5387645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144" name="Text 142"/>
          <p:cNvSpPr txBox="1"/>
          <p:nvPr/>
        </p:nvSpPr>
        <p:spPr>
          <a:xfrm>
            <a:off x="6682435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400" dirty="0"/>
          </a:p>
        </p:txBody>
      </p:sp>
      <p:sp>
        <p:nvSpPr>
          <p:cNvPr id="145" name="Shape 143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387645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5003597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076749" y="248716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076749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1" name="Text 149"/>
          <p:cNvSpPr txBox="1"/>
          <p:nvPr/>
        </p:nvSpPr>
        <p:spPr>
          <a:xfrm>
            <a:off x="5387645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152" name="Text 150"/>
          <p:cNvSpPr txBox="1"/>
          <p:nvPr/>
        </p:nvSpPr>
        <p:spPr>
          <a:xfrm>
            <a:off x="6682435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400" dirty="0"/>
          </a:p>
        </p:txBody>
      </p:sp>
      <p:sp>
        <p:nvSpPr>
          <p:cNvPr id="153" name="Shape 151"/>
          <p:cNvSpPr/>
          <p:nvPr/>
        </p:nvSpPr>
        <p:spPr>
          <a:xfrm>
            <a:off x="5387645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387645" y="2706624"/>
            <a:ext cx="129288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387645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19,9% do setor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5003597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076749" y="305409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076749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9" name="Text 157"/>
          <p:cNvSpPr txBox="1"/>
          <p:nvPr/>
        </p:nvSpPr>
        <p:spPr>
          <a:xfrm>
            <a:off x="5387645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160" name="Text 158"/>
          <p:cNvSpPr txBox="1"/>
          <p:nvPr/>
        </p:nvSpPr>
        <p:spPr>
          <a:xfrm>
            <a:off x="6682435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161" name="Shape 159"/>
          <p:cNvSpPr/>
          <p:nvPr/>
        </p:nvSpPr>
        <p:spPr>
          <a:xfrm>
            <a:off x="5387645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387645" y="3273552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387645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14,5% do setor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5003597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076749" y="3621024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6749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7" name="Text 165"/>
          <p:cNvSpPr txBox="1"/>
          <p:nvPr/>
        </p:nvSpPr>
        <p:spPr>
          <a:xfrm>
            <a:off x="5387645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168" name="Text 166"/>
          <p:cNvSpPr txBox="1"/>
          <p:nvPr/>
        </p:nvSpPr>
        <p:spPr>
          <a:xfrm>
            <a:off x="6682435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169" name="Shape 167"/>
          <p:cNvSpPr/>
          <p:nvPr/>
        </p:nvSpPr>
        <p:spPr>
          <a:xfrm>
            <a:off x="5387645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387645" y="3840480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387645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14,6% do setor</a:t>
            </a:r>
            <a:endParaRPr lang="en-US" sz="750" dirty="0"/>
          </a:p>
        </p:txBody>
      </p:sp>
      <p:sp>
        <p:nvSpPr>
          <p:cNvPr id="172" name="Shape 170"/>
          <p:cNvSpPr/>
          <p:nvPr/>
        </p:nvSpPr>
        <p:spPr>
          <a:xfrm>
            <a:off x="5003597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76749" y="4187952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076749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75" name="Text 173"/>
          <p:cNvSpPr txBox="1"/>
          <p:nvPr/>
        </p:nvSpPr>
        <p:spPr>
          <a:xfrm>
            <a:off x="5387645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176" name="Text 174"/>
          <p:cNvSpPr txBox="1"/>
          <p:nvPr/>
        </p:nvSpPr>
        <p:spPr>
          <a:xfrm>
            <a:off x="6682435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  <p:sp>
        <p:nvSpPr>
          <p:cNvPr id="177" name="Shape 175"/>
          <p:cNvSpPr/>
          <p:nvPr/>
        </p:nvSpPr>
        <p:spPr>
          <a:xfrm>
            <a:off x="5387645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387645" y="4407408"/>
            <a:ext cx="97533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387645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15,1% do setor</a:t>
            </a:r>
            <a:endParaRPr lang="en-US" sz="750" dirty="0"/>
          </a:p>
        </p:txBody>
      </p:sp>
      <p:sp>
        <p:nvSpPr>
          <p:cNvPr id="180" name="Shape 178"/>
          <p:cNvSpPr/>
          <p:nvPr/>
        </p:nvSpPr>
        <p:spPr>
          <a:xfrm>
            <a:off x="5003597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76749" y="475488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076749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83" name="Text 181"/>
          <p:cNvSpPr txBox="1"/>
          <p:nvPr/>
        </p:nvSpPr>
        <p:spPr>
          <a:xfrm>
            <a:off x="5387645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184" name="Text 182"/>
          <p:cNvSpPr txBox="1"/>
          <p:nvPr/>
        </p:nvSpPr>
        <p:spPr>
          <a:xfrm>
            <a:off x="6682435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  <p:sp>
        <p:nvSpPr>
          <p:cNvPr id="185" name="Shape 183"/>
          <p:cNvSpPr/>
          <p:nvPr/>
        </p:nvSpPr>
        <p:spPr>
          <a:xfrm>
            <a:off x="5387645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387645" y="4974336"/>
            <a:ext cx="77119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5387645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5003597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076749" y="532180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076749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1" name="Text 189"/>
          <p:cNvSpPr txBox="1"/>
          <p:nvPr/>
        </p:nvSpPr>
        <p:spPr>
          <a:xfrm>
            <a:off x="5387645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192" name="Text 190"/>
          <p:cNvSpPr txBox="1"/>
          <p:nvPr/>
        </p:nvSpPr>
        <p:spPr>
          <a:xfrm>
            <a:off x="6682435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  <p:sp>
        <p:nvSpPr>
          <p:cNvPr id="193" name="Shape 191"/>
          <p:cNvSpPr/>
          <p:nvPr/>
        </p:nvSpPr>
        <p:spPr>
          <a:xfrm>
            <a:off x="5387645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387645" y="5541264"/>
            <a:ext cx="725830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5387645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5003597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076749" y="588873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076749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99" name="Text 197"/>
          <p:cNvSpPr txBox="1"/>
          <p:nvPr/>
        </p:nvSpPr>
        <p:spPr>
          <a:xfrm>
            <a:off x="5387645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00" name="Text 198"/>
          <p:cNvSpPr txBox="1"/>
          <p:nvPr/>
        </p:nvSpPr>
        <p:spPr>
          <a:xfrm>
            <a:off x="6682435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201" name="Shape 199"/>
          <p:cNvSpPr/>
          <p:nvPr/>
        </p:nvSpPr>
        <p:spPr>
          <a:xfrm>
            <a:off x="5387645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387645" y="6108192"/>
            <a:ext cx="521691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5387645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8,0% do setor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7322515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5" name="Text 203"/>
          <p:cNvSpPr txBox="1"/>
          <p:nvPr/>
        </p:nvSpPr>
        <p:spPr>
          <a:xfrm>
            <a:off x="7432243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800" dirty="0"/>
          </a:p>
        </p:txBody>
      </p:sp>
      <p:sp>
        <p:nvSpPr>
          <p:cNvPr id="206" name="Text 204"/>
          <p:cNvSpPr txBox="1"/>
          <p:nvPr/>
        </p:nvSpPr>
        <p:spPr>
          <a:xfrm>
            <a:off x="7432243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 médicos no painel</a:t>
            </a:r>
            <a:endParaRPr lang="en-US" sz="1050" dirty="0"/>
          </a:p>
        </p:txBody>
      </p:sp>
      <p:sp>
        <p:nvSpPr>
          <p:cNvPr id="207" name="Shape 205"/>
          <p:cNvSpPr/>
          <p:nvPr/>
        </p:nvSpPr>
        <p:spPr>
          <a:xfrm>
            <a:off x="7322515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395667" y="192024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7395667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0" name="Text 208"/>
          <p:cNvSpPr txBox="1"/>
          <p:nvPr/>
        </p:nvSpPr>
        <p:spPr>
          <a:xfrm>
            <a:off x="7706563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211" name="Text 209"/>
          <p:cNvSpPr txBox="1"/>
          <p:nvPr/>
        </p:nvSpPr>
        <p:spPr>
          <a:xfrm>
            <a:off x="9001354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400" dirty="0"/>
          </a:p>
        </p:txBody>
      </p:sp>
      <p:sp>
        <p:nvSpPr>
          <p:cNvPr id="212" name="Shape 210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7706563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29,8% do setor</a:t>
            </a:r>
            <a:endParaRPr lang="en-US" sz="750" dirty="0"/>
          </a:p>
        </p:txBody>
      </p:sp>
      <p:sp>
        <p:nvSpPr>
          <p:cNvPr id="215" name="Shape 213"/>
          <p:cNvSpPr/>
          <p:nvPr/>
        </p:nvSpPr>
        <p:spPr>
          <a:xfrm>
            <a:off x="7322515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95667" y="248716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7395667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8" name="Text 216"/>
          <p:cNvSpPr txBox="1"/>
          <p:nvPr/>
        </p:nvSpPr>
        <p:spPr>
          <a:xfrm>
            <a:off x="7706563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219" name="Text 217"/>
          <p:cNvSpPr txBox="1"/>
          <p:nvPr/>
        </p:nvSpPr>
        <p:spPr>
          <a:xfrm>
            <a:off x="9001354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400" dirty="0"/>
          </a:p>
        </p:txBody>
      </p:sp>
      <p:sp>
        <p:nvSpPr>
          <p:cNvPr id="220" name="Shape 218"/>
          <p:cNvSpPr/>
          <p:nvPr/>
        </p:nvSpPr>
        <p:spPr>
          <a:xfrm>
            <a:off x="7706563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706563" y="2706624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7706563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29,6% do setor</a:t>
            </a:r>
            <a:endParaRPr lang="en-US" sz="750" dirty="0"/>
          </a:p>
        </p:txBody>
      </p:sp>
      <p:sp>
        <p:nvSpPr>
          <p:cNvPr id="223" name="Shape 221"/>
          <p:cNvSpPr/>
          <p:nvPr/>
        </p:nvSpPr>
        <p:spPr>
          <a:xfrm>
            <a:off x="7322515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95667" y="305409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7395667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6" name="Text 224"/>
          <p:cNvSpPr txBox="1"/>
          <p:nvPr/>
        </p:nvSpPr>
        <p:spPr>
          <a:xfrm>
            <a:off x="7706563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227" name="Text 225"/>
          <p:cNvSpPr txBox="1"/>
          <p:nvPr/>
        </p:nvSpPr>
        <p:spPr>
          <a:xfrm>
            <a:off x="9001354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400" dirty="0"/>
          </a:p>
        </p:txBody>
      </p:sp>
      <p:sp>
        <p:nvSpPr>
          <p:cNvPr id="228" name="Shape 226"/>
          <p:cNvSpPr/>
          <p:nvPr/>
        </p:nvSpPr>
        <p:spPr>
          <a:xfrm>
            <a:off x="7706563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06563" y="3273552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706563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29,9% do setor</a:t>
            </a:r>
            <a:endParaRPr lang="en-US" sz="750" dirty="0"/>
          </a:p>
        </p:txBody>
      </p:sp>
      <p:sp>
        <p:nvSpPr>
          <p:cNvPr id="231" name="Shape 229"/>
          <p:cNvSpPr/>
          <p:nvPr/>
        </p:nvSpPr>
        <p:spPr>
          <a:xfrm>
            <a:off x="7322515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395667" y="3621024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7395667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4" name="Text 232"/>
          <p:cNvSpPr txBox="1"/>
          <p:nvPr/>
        </p:nvSpPr>
        <p:spPr>
          <a:xfrm>
            <a:off x="7706563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235" name="Text 233"/>
          <p:cNvSpPr txBox="1"/>
          <p:nvPr/>
        </p:nvSpPr>
        <p:spPr>
          <a:xfrm>
            <a:off x="9001354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400" dirty="0"/>
          </a:p>
        </p:txBody>
      </p:sp>
      <p:sp>
        <p:nvSpPr>
          <p:cNvPr id="236" name="Shape 234"/>
          <p:cNvSpPr/>
          <p:nvPr/>
        </p:nvSpPr>
        <p:spPr>
          <a:xfrm>
            <a:off x="7706563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706563" y="3840480"/>
            <a:ext cx="149110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706563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28,3% do setor</a:t>
            </a:r>
            <a:endParaRPr lang="en-US" sz="750" dirty="0"/>
          </a:p>
        </p:txBody>
      </p:sp>
      <p:sp>
        <p:nvSpPr>
          <p:cNvPr id="239" name="Shape 237"/>
          <p:cNvSpPr/>
          <p:nvPr/>
        </p:nvSpPr>
        <p:spPr>
          <a:xfrm>
            <a:off x="7322515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95667" y="418795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395667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2" name="Text 240"/>
          <p:cNvSpPr txBox="1"/>
          <p:nvPr/>
        </p:nvSpPr>
        <p:spPr>
          <a:xfrm>
            <a:off x="7706563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243" name="Text 241"/>
          <p:cNvSpPr txBox="1"/>
          <p:nvPr/>
        </p:nvSpPr>
        <p:spPr>
          <a:xfrm>
            <a:off x="9001354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400" dirty="0"/>
          </a:p>
        </p:txBody>
      </p:sp>
      <p:sp>
        <p:nvSpPr>
          <p:cNvPr id="244" name="Shape 242"/>
          <p:cNvSpPr/>
          <p:nvPr/>
        </p:nvSpPr>
        <p:spPr>
          <a:xfrm>
            <a:off x="7706563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706563" y="4407408"/>
            <a:ext cx="1278093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7706563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750" dirty="0"/>
          </a:p>
        </p:txBody>
      </p:sp>
      <p:sp>
        <p:nvSpPr>
          <p:cNvPr id="247" name="Shape 245"/>
          <p:cNvSpPr/>
          <p:nvPr/>
        </p:nvSpPr>
        <p:spPr>
          <a:xfrm>
            <a:off x="7322515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7395667" y="475488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7395667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0" name="Text 248"/>
          <p:cNvSpPr txBox="1"/>
          <p:nvPr/>
        </p:nvSpPr>
        <p:spPr>
          <a:xfrm>
            <a:off x="7706563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251" name="Text 249"/>
          <p:cNvSpPr txBox="1"/>
          <p:nvPr/>
        </p:nvSpPr>
        <p:spPr>
          <a:xfrm>
            <a:off x="9001354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400" dirty="0"/>
          </a:p>
        </p:txBody>
      </p:sp>
      <p:sp>
        <p:nvSpPr>
          <p:cNvPr id="252" name="Shape 250"/>
          <p:cNvSpPr/>
          <p:nvPr/>
        </p:nvSpPr>
        <p:spPr>
          <a:xfrm>
            <a:off x="7706563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706563" y="4974336"/>
            <a:ext cx="1260341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706563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22,9% do setor</a:t>
            </a:r>
            <a:endParaRPr lang="en-US" sz="750" dirty="0"/>
          </a:p>
        </p:txBody>
      </p:sp>
      <p:sp>
        <p:nvSpPr>
          <p:cNvPr id="255" name="Shape 253"/>
          <p:cNvSpPr/>
          <p:nvPr/>
        </p:nvSpPr>
        <p:spPr>
          <a:xfrm>
            <a:off x="7322515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7395667" y="53218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7395667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8" name="Text 256"/>
          <p:cNvSpPr txBox="1"/>
          <p:nvPr/>
        </p:nvSpPr>
        <p:spPr>
          <a:xfrm>
            <a:off x="7706563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259" name="Text 257"/>
          <p:cNvSpPr txBox="1"/>
          <p:nvPr/>
        </p:nvSpPr>
        <p:spPr>
          <a:xfrm>
            <a:off x="9001354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400" dirty="0"/>
          </a:p>
        </p:txBody>
      </p:sp>
      <p:sp>
        <p:nvSpPr>
          <p:cNvPr id="260" name="Shape 258"/>
          <p:cNvSpPr/>
          <p:nvPr/>
        </p:nvSpPr>
        <p:spPr>
          <a:xfrm>
            <a:off x="7706563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06563" y="5541264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62" name="Text 260"/>
          <p:cNvSpPr txBox="1"/>
          <p:nvPr/>
        </p:nvSpPr>
        <p:spPr>
          <a:xfrm>
            <a:off x="7706563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22,8% do setor</a:t>
            </a:r>
            <a:endParaRPr lang="en-US" sz="750" dirty="0"/>
          </a:p>
        </p:txBody>
      </p:sp>
      <p:sp>
        <p:nvSpPr>
          <p:cNvPr id="263" name="Shape 261"/>
          <p:cNvSpPr/>
          <p:nvPr/>
        </p:nvSpPr>
        <p:spPr>
          <a:xfrm>
            <a:off x="7322515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95667" y="588873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7395667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66" name="Text 264"/>
          <p:cNvSpPr txBox="1"/>
          <p:nvPr/>
        </p:nvSpPr>
        <p:spPr>
          <a:xfrm>
            <a:off x="7706563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67" name="Text 265"/>
          <p:cNvSpPr txBox="1"/>
          <p:nvPr/>
        </p:nvSpPr>
        <p:spPr>
          <a:xfrm>
            <a:off x="9001354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400" dirty="0"/>
          </a:p>
        </p:txBody>
      </p:sp>
      <p:sp>
        <p:nvSpPr>
          <p:cNvPr id="268" name="Shape 266"/>
          <p:cNvSpPr/>
          <p:nvPr/>
        </p:nvSpPr>
        <p:spPr>
          <a:xfrm>
            <a:off x="7706563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706563" y="6108192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70" name="Text 268"/>
          <p:cNvSpPr txBox="1"/>
          <p:nvPr/>
        </p:nvSpPr>
        <p:spPr>
          <a:xfrm>
            <a:off x="7706563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 do setor</a:t>
            </a:r>
            <a:endParaRPr lang="en-US" sz="750" dirty="0"/>
          </a:p>
        </p:txBody>
      </p:sp>
      <p:sp>
        <p:nvSpPr>
          <p:cNvPr id="271" name="Shape 269"/>
          <p:cNvSpPr/>
          <p:nvPr/>
        </p:nvSpPr>
        <p:spPr>
          <a:xfrm>
            <a:off x="9641434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2" name="Text 270"/>
          <p:cNvSpPr txBox="1"/>
          <p:nvPr/>
        </p:nvSpPr>
        <p:spPr>
          <a:xfrm>
            <a:off x="9751162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800" dirty="0"/>
          </a:p>
        </p:txBody>
      </p:sp>
      <p:sp>
        <p:nvSpPr>
          <p:cNvPr id="273" name="Text 271"/>
          <p:cNvSpPr txBox="1"/>
          <p:nvPr/>
        </p:nvSpPr>
        <p:spPr>
          <a:xfrm>
            <a:off x="9751162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médicos no painel</a:t>
            </a:r>
            <a:endParaRPr lang="en-US" sz="1050" dirty="0"/>
          </a:p>
        </p:txBody>
      </p:sp>
      <p:sp>
        <p:nvSpPr>
          <p:cNvPr id="274" name="Shape 272"/>
          <p:cNvSpPr/>
          <p:nvPr/>
        </p:nvSpPr>
        <p:spPr>
          <a:xfrm>
            <a:off x="9641434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14586" y="192024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9714586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7" name="Text 275"/>
          <p:cNvSpPr txBox="1"/>
          <p:nvPr/>
        </p:nvSpPr>
        <p:spPr>
          <a:xfrm>
            <a:off x="10025482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78" name="Text 276"/>
          <p:cNvSpPr txBox="1"/>
          <p:nvPr/>
        </p:nvSpPr>
        <p:spPr>
          <a:xfrm>
            <a:off x="11320272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400" dirty="0"/>
          </a:p>
        </p:txBody>
      </p:sp>
      <p:sp>
        <p:nvSpPr>
          <p:cNvPr id="279" name="Shape 277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1" name="Text 279"/>
          <p:cNvSpPr txBox="1"/>
          <p:nvPr/>
        </p:nvSpPr>
        <p:spPr>
          <a:xfrm>
            <a:off x="10025482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59,9% do setor</a:t>
            </a:r>
            <a:endParaRPr lang="en-US" sz="750" dirty="0"/>
          </a:p>
        </p:txBody>
      </p:sp>
      <p:sp>
        <p:nvSpPr>
          <p:cNvPr id="282" name="Shape 280"/>
          <p:cNvSpPr/>
          <p:nvPr/>
        </p:nvSpPr>
        <p:spPr>
          <a:xfrm>
            <a:off x="9641434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714586" y="248716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9714586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85" name="Text 283"/>
          <p:cNvSpPr txBox="1"/>
          <p:nvPr/>
        </p:nvSpPr>
        <p:spPr>
          <a:xfrm>
            <a:off x="10025482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286" name="Text 284"/>
          <p:cNvSpPr txBox="1"/>
          <p:nvPr/>
        </p:nvSpPr>
        <p:spPr>
          <a:xfrm>
            <a:off x="11320272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400" dirty="0"/>
          </a:p>
        </p:txBody>
      </p:sp>
      <p:sp>
        <p:nvSpPr>
          <p:cNvPr id="287" name="Shape 285"/>
          <p:cNvSpPr/>
          <p:nvPr/>
        </p:nvSpPr>
        <p:spPr>
          <a:xfrm>
            <a:off x="10025482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25482" y="2706624"/>
            <a:ext cx="14726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9" name="Text 287"/>
          <p:cNvSpPr txBox="1"/>
          <p:nvPr/>
        </p:nvSpPr>
        <p:spPr>
          <a:xfrm>
            <a:off x="10025482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55,5% do setor</a:t>
            </a:r>
            <a:endParaRPr lang="en-US" sz="750" dirty="0"/>
          </a:p>
        </p:txBody>
      </p:sp>
      <p:sp>
        <p:nvSpPr>
          <p:cNvPr id="290" name="Shape 288"/>
          <p:cNvSpPr/>
          <p:nvPr/>
        </p:nvSpPr>
        <p:spPr>
          <a:xfrm>
            <a:off x="9641434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14586" y="305409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92" name="Text 290"/>
          <p:cNvSpPr txBox="1"/>
          <p:nvPr/>
        </p:nvSpPr>
        <p:spPr>
          <a:xfrm>
            <a:off x="9714586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3" name="Text 291"/>
          <p:cNvSpPr txBox="1"/>
          <p:nvPr/>
        </p:nvSpPr>
        <p:spPr>
          <a:xfrm>
            <a:off x="10025482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294" name="Text 292"/>
          <p:cNvSpPr txBox="1"/>
          <p:nvPr/>
        </p:nvSpPr>
        <p:spPr>
          <a:xfrm>
            <a:off x="11320272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400" dirty="0"/>
          </a:p>
        </p:txBody>
      </p:sp>
      <p:sp>
        <p:nvSpPr>
          <p:cNvPr id="295" name="Shape 293"/>
          <p:cNvSpPr/>
          <p:nvPr/>
        </p:nvSpPr>
        <p:spPr>
          <a:xfrm>
            <a:off x="10025482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25482" y="3273552"/>
            <a:ext cx="14348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97" name="Text 295"/>
          <p:cNvSpPr txBox="1"/>
          <p:nvPr/>
        </p:nvSpPr>
        <p:spPr>
          <a:xfrm>
            <a:off x="10025482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49,2% do setor</a:t>
            </a:r>
            <a:endParaRPr lang="en-US" sz="750" dirty="0"/>
          </a:p>
        </p:txBody>
      </p:sp>
      <p:sp>
        <p:nvSpPr>
          <p:cNvPr id="298" name="Shape 296"/>
          <p:cNvSpPr/>
          <p:nvPr/>
        </p:nvSpPr>
        <p:spPr>
          <a:xfrm>
            <a:off x="9641434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9714586" y="3621024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0" name="Text 298"/>
          <p:cNvSpPr txBox="1"/>
          <p:nvPr/>
        </p:nvSpPr>
        <p:spPr>
          <a:xfrm>
            <a:off x="971458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1" name="Text 299"/>
          <p:cNvSpPr txBox="1"/>
          <p:nvPr/>
        </p:nvSpPr>
        <p:spPr>
          <a:xfrm>
            <a:off x="10025482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302" name="Text 300"/>
          <p:cNvSpPr txBox="1"/>
          <p:nvPr/>
        </p:nvSpPr>
        <p:spPr>
          <a:xfrm>
            <a:off x="11320272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400" dirty="0"/>
          </a:p>
        </p:txBody>
      </p:sp>
      <p:sp>
        <p:nvSpPr>
          <p:cNvPr id="303" name="Shape 301"/>
          <p:cNvSpPr/>
          <p:nvPr/>
        </p:nvSpPr>
        <p:spPr>
          <a:xfrm>
            <a:off x="10025482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025482" y="3840480"/>
            <a:ext cx="140655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05" name="Text 303"/>
          <p:cNvSpPr txBox="1"/>
          <p:nvPr/>
        </p:nvSpPr>
        <p:spPr>
          <a:xfrm>
            <a:off x="10025482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50,2% do setor</a:t>
            </a:r>
            <a:endParaRPr lang="en-US" sz="750" dirty="0"/>
          </a:p>
        </p:txBody>
      </p:sp>
      <p:sp>
        <p:nvSpPr>
          <p:cNvPr id="306" name="Shape 304"/>
          <p:cNvSpPr/>
          <p:nvPr/>
        </p:nvSpPr>
        <p:spPr>
          <a:xfrm>
            <a:off x="9641434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14586" y="4187952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8" name="Text 306"/>
          <p:cNvSpPr txBox="1"/>
          <p:nvPr/>
        </p:nvSpPr>
        <p:spPr>
          <a:xfrm>
            <a:off x="9714586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9" name="Text 307"/>
          <p:cNvSpPr txBox="1"/>
          <p:nvPr/>
        </p:nvSpPr>
        <p:spPr>
          <a:xfrm>
            <a:off x="10025482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310" name="Text 308"/>
          <p:cNvSpPr txBox="1"/>
          <p:nvPr/>
        </p:nvSpPr>
        <p:spPr>
          <a:xfrm>
            <a:off x="11320272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400" dirty="0"/>
          </a:p>
        </p:txBody>
      </p:sp>
      <p:sp>
        <p:nvSpPr>
          <p:cNvPr id="311" name="Shape 309"/>
          <p:cNvSpPr/>
          <p:nvPr/>
        </p:nvSpPr>
        <p:spPr>
          <a:xfrm>
            <a:off x="10025482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025482" y="4407408"/>
            <a:ext cx="13782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13" name="Text 311"/>
          <p:cNvSpPr txBox="1"/>
          <p:nvPr/>
        </p:nvSpPr>
        <p:spPr>
          <a:xfrm>
            <a:off x="10025482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47,1% do setor</a:t>
            </a:r>
            <a:endParaRPr lang="en-US" sz="750" dirty="0"/>
          </a:p>
        </p:txBody>
      </p:sp>
      <p:sp>
        <p:nvSpPr>
          <p:cNvPr id="314" name="Shape 312"/>
          <p:cNvSpPr/>
          <p:nvPr/>
        </p:nvSpPr>
        <p:spPr>
          <a:xfrm>
            <a:off x="9641434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714586" y="475488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16" name="Text 314"/>
          <p:cNvSpPr txBox="1"/>
          <p:nvPr/>
        </p:nvSpPr>
        <p:spPr>
          <a:xfrm>
            <a:off x="9714586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7" name="Text 315"/>
          <p:cNvSpPr txBox="1"/>
          <p:nvPr/>
        </p:nvSpPr>
        <p:spPr>
          <a:xfrm>
            <a:off x="10025482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318" name="Text 316"/>
          <p:cNvSpPr txBox="1"/>
          <p:nvPr/>
        </p:nvSpPr>
        <p:spPr>
          <a:xfrm>
            <a:off x="11320272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400" dirty="0"/>
          </a:p>
        </p:txBody>
      </p:sp>
      <p:sp>
        <p:nvSpPr>
          <p:cNvPr id="319" name="Shape 317"/>
          <p:cNvSpPr/>
          <p:nvPr/>
        </p:nvSpPr>
        <p:spPr>
          <a:xfrm>
            <a:off x="10025482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025482" y="4974336"/>
            <a:ext cx="11516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1" name="Text 319"/>
          <p:cNvSpPr txBox="1"/>
          <p:nvPr/>
        </p:nvSpPr>
        <p:spPr>
          <a:xfrm>
            <a:off x="10025482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43,0% do setor</a:t>
            </a:r>
            <a:endParaRPr lang="en-US" sz="750" dirty="0"/>
          </a:p>
        </p:txBody>
      </p:sp>
      <p:sp>
        <p:nvSpPr>
          <p:cNvPr id="322" name="Shape 320"/>
          <p:cNvSpPr/>
          <p:nvPr/>
        </p:nvSpPr>
        <p:spPr>
          <a:xfrm>
            <a:off x="9641434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14586" y="532180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24" name="Text 322"/>
          <p:cNvSpPr txBox="1"/>
          <p:nvPr/>
        </p:nvSpPr>
        <p:spPr>
          <a:xfrm>
            <a:off x="9714586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5" name="Text 323"/>
          <p:cNvSpPr txBox="1"/>
          <p:nvPr/>
        </p:nvSpPr>
        <p:spPr>
          <a:xfrm>
            <a:off x="10025482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326" name="Text 324"/>
          <p:cNvSpPr txBox="1"/>
          <p:nvPr/>
        </p:nvSpPr>
        <p:spPr>
          <a:xfrm>
            <a:off x="11320272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400" dirty="0"/>
          </a:p>
        </p:txBody>
      </p:sp>
      <p:sp>
        <p:nvSpPr>
          <p:cNvPr id="327" name="Shape 325"/>
          <p:cNvSpPr/>
          <p:nvPr/>
        </p:nvSpPr>
        <p:spPr>
          <a:xfrm>
            <a:off x="10025482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025482" y="5541264"/>
            <a:ext cx="70799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9" name="Text 327"/>
          <p:cNvSpPr txBox="1"/>
          <p:nvPr/>
        </p:nvSpPr>
        <p:spPr>
          <a:xfrm>
            <a:off x="10025482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26,1% do setor</a:t>
            </a:r>
            <a:endParaRPr lang="en-US" sz="750" dirty="0"/>
          </a:p>
        </p:txBody>
      </p:sp>
      <p:sp>
        <p:nvSpPr>
          <p:cNvPr id="330" name="Shape 328"/>
          <p:cNvSpPr/>
          <p:nvPr/>
        </p:nvSpPr>
        <p:spPr>
          <a:xfrm>
            <a:off x="9641434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714586" y="588873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32" name="Text 330"/>
          <p:cNvSpPr txBox="1"/>
          <p:nvPr/>
        </p:nvSpPr>
        <p:spPr>
          <a:xfrm>
            <a:off x="9714586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33" name="Text 331"/>
          <p:cNvSpPr txBox="1"/>
          <p:nvPr/>
        </p:nvSpPr>
        <p:spPr>
          <a:xfrm>
            <a:off x="10025482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334" name="Text 332"/>
          <p:cNvSpPr txBox="1"/>
          <p:nvPr/>
        </p:nvSpPr>
        <p:spPr>
          <a:xfrm>
            <a:off x="11320272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400" dirty="0"/>
          </a:p>
        </p:txBody>
      </p:sp>
      <p:sp>
        <p:nvSpPr>
          <p:cNvPr id="335" name="Shape 333"/>
          <p:cNvSpPr/>
          <p:nvPr/>
        </p:nvSpPr>
        <p:spPr>
          <a:xfrm>
            <a:off x="10025482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025482" y="6108192"/>
            <a:ext cx="68911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37" name="Text 335"/>
          <p:cNvSpPr txBox="1"/>
          <p:nvPr/>
        </p:nvSpPr>
        <p:spPr>
          <a:xfrm>
            <a:off x="10025482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25,5% do setor</a:t>
            </a:r>
            <a:endParaRPr lang="en-US" sz="750" dirty="0"/>
          </a:p>
        </p:txBody>
      </p:sp>
      <p:sp>
        <p:nvSpPr>
          <p:cNvPr id="338" name="Text 33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"% do setor" = participação da CAT no total de médicos classificados (CAT 1 a 5) daquele setor.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 Geral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692908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344168"/>
            <a:ext cx="26929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86000"/>
            <a:ext cx="2418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classificados no painel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87268" y="1143000"/>
            <a:ext cx="2692908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287268" y="1344168"/>
            <a:ext cx="26929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3424428" y="2286000"/>
            <a:ext cx="2418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mapeados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08776" y="1143000"/>
            <a:ext cx="2692908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08776" y="1344168"/>
            <a:ext cx="26929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286000"/>
            <a:ext cx="2418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atendidas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0284" y="1143000"/>
            <a:ext cx="2692908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30284" y="1344168"/>
            <a:ext cx="26929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79,5%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9267444" y="2286000"/>
            <a:ext cx="2418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prescrevem EUF (MAT)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65760" y="2880360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CAT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" y="3246120"/>
            <a:ext cx="2181758" cy="2880360"/>
          </a:xfrm>
          <a:prstGeom prst="roundRect">
            <a:avLst>
              <a:gd name="adj" fmla="val 3353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" y="342900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14800"/>
            <a:ext cx="19988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5623560"/>
            <a:ext cx="19988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4,5% do painel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684678" y="3246120"/>
            <a:ext cx="2181758" cy="2880360"/>
          </a:xfrm>
          <a:prstGeom prst="roundRect">
            <a:avLst>
              <a:gd name="adj" fmla="val 3353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2794406" y="342900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2776118" y="4114800"/>
            <a:ext cx="19988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776118" y="5623560"/>
            <a:ext cx="19988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9,6% do painel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03597" y="3246120"/>
            <a:ext cx="2181758" cy="2880360"/>
          </a:xfrm>
          <a:prstGeom prst="roundRect">
            <a:avLst>
              <a:gd name="adj" fmla="val 3353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113325" y="342900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95037" y="4114800"/>
            <a:ext cx="19988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5095037" y="5623560"/>
            <a:ext cx="19988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15,0% do painel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322515" y="3246120"/>
            <a:ext cx="2181758" cy="2880360"/>
          </a:xfrm>
          <a:prstGeom prst="roundRect">
            <a:avLst>
              <a:gd name="adj" fmla="val 3353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432243" y="342900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413955" y="4114800"/>
            <a:ext cx="19988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</a:t>
            </a:r>
            <a:endParaRPr lang="en-US" sz="4000" dirty="0"/>
          </a:p>
        </p:txBody>
      </p:sp>
      <p:sp>
        <p:nvSpPr>
          <p:cNvPr id="32" name="Text 30"/>
          <p:cNvSpPr txBox="1"/>
          <p:nvPr/>
        </p:nvSpPr>
        <p:spPr>
          <a:xfrm>
            <a:off x="7413955" y="5623560"/>
            <a:ext cx="19988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 do painel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641434" y="3246120"/>
            <a:ext cx="2181758" cy="2880360"/>
          </a:xfrm>
          <a:prstGeom prst="roundRect">
            <a:avLst>
              <a:gd name="adj" fmla="val 3353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751162" y="342900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732874" y="4114800"/>
            <a:ext cx="19988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1.046</a:t>
            </a:r>
            <a:endParaRPr lang="en-US" sz="4000" dirty="0"/>
          </a:p>
        </p:txBody>
      </p:sp>
      <p:sp>
        <p:nvSpPr>
          <p:cNvPr id="36" name="Text 34"/>
          <p:cNvSpPr txBox="1"/>
          <p:nvPr/>
        </p:nvSpPr>
        <p:spPr>
          <a:xfrm>
            <a:off x="9732874" y="5623560"/>
            <a:ext cx="19988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44,6% do painel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653796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2.551 profissionais cadastrados na planilha, sendo 208 sem CAT classificada (não incluídos no compilado por CAT).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2026-08-31T13:37:49Z</dcterms:created>
  <dcterms:modified xsi:type="dcterms:W3CDTF">2026-08-31T13:37:49Z</dcterms:modified>
</cp:coreProperties>
</file>