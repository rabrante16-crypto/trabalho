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475488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75488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 médicos no painel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" name="Shape 5"/>
          <p:cNvSpPr/>
          <p:nvPr/>
        </p:nvSpPr>
        <p:spPr>
          <a:xfrm>
            <a:off x="438912" y="192024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38912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044598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" name="Shape 10"/>
          <p:cNvSpPr/>
          <p:nvPr/>
        </p:nvSpPr>
        <p:spPr>
          <a:xfrm>
            <a:off x="749808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8,7% do setor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365760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" name="Shape 13"/>
          <p:cNvSpPr/>
          <p:nvPr/>
        </p:nvSpPr>
        <p:spPr>
          <a:xfrm>
            <a:off x="438912" y="248716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38912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2044598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749808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" name="Shape 18"/>
          <p:cNvSpPr/>
          <p:nvPr/>
        </p:nvSpPr>
        <p:spPr>
          <a:xfrm>
            <a:off x="749808" y="2706624"/>
            <a:ext cx="130649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6,5% do setor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365760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" name="Shape 21"/>
          <p:cNvSpPr/>
          <p:nvPr/>
        </p:nvSpPr>
        <p:spPr>
          <a:xfrm>
            <a:off x="438912" y="305409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8912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2044598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749808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" name="Shape 26"/>
          <p:cNvSpPr/>
          <p:nvPr/>
        </p:nvSpPr>
        <p:spPr>
          <a:xfrm>
            <a:off x="749808" y="3273552"/>
            <a:ext cx="1175845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749808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6,3% do setor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365760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" name="Shape 29"/>
          <p:cNvSpPr/>
          <p:nvPr/>
        </p:nvSpPr>
        <p:spPr>
          <a:xfrm>
            <a:off x="438912" y="3621024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38912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749808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2044598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49808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9808" y="3840480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9808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4,0% do setor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365760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9" name="Shape 37"/>
          <p:cNvSpPr/>
          <p:nvPr/>
        </p:nvSpPr>
        <p:spPr>
          <a:xfrm>
            <a:off x="438912" y="4187952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38912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749808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2044598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749808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44" name="Shape 42"/>
          <p:cNvSpPr/>
          <p:nvPr/>
        </p:nvSpPr>
        <p:spPr>
          <a:xfrm>
            <a:off x="749808" y="4407408"/>
            <a:ext cx="783897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749808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365760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47" name="Shape 45"/>
          <p:cNvSpPr/>
          <p:nvPr/>
        </p:nvSpPr>
        <p:spPr>
          <a:xfrm>
            <a:off x="438912" y="4754880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38912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749808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50" name="Text 48"/>
          <p:cNvSpPr txBox="1"/>
          <p:nvPr/>
        </p:nvSpPr>
        <p:spPr>
          <a:xfrm>
            <a:off x="2044598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749808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52" name="Shape 50"/>
          <p:cNvSpPr/>
          <p:nvPr/>
        </p:nvSpPr>
        <p:spPr>
          <a:xfrm>
            <a:off x="749808" y="4974336"/>
            <a:ext cx="457273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49808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2,3% do setor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912" y="5321808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438912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7" name="Text 55"/>
          <p:cNvSpPr txBox="1"/>
          <p:nvPr/>
        </p:nvSpPr>
        <p:spPr>
          <a:xfrm>
            <a:off x="749808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58" name="Text 56"/>
          <p:cNvSpPr txBox="1"/>
          <p:nvPr/>
        </p:nvSpPr>
        <p:spPr>
          <a:xfrm>
            <a:off x="2044598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749808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0" name="Shape 58"/>
          <p:cNvSpPr/>
          <p:nvPr/>
        </p:nvSpPr>
        <p:spPr>
          <a:xfrm>
            <a:off x="749808" y="5541264"/>
            <a:ext cx="391948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49808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2,1% do setor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365760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63" name="Shape 61"/>
          <p:cNvSpPr/>
          <p:nvPr/>
        </p:nvSpPr>
        <p:spPr>
          <a:xfrm>
            <a:off x="438912" y="5888736"/>
            <a:ext cx="256032" cy="256032"/>
          </a:xfrm>
          <a:prstGeom prst="ellipse">
            <a:avLst/>
          </a:prstGeom>
          <a:solidFill>
            <a:srgbClr val="D62839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438912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749808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66" name="Text 64"/>
          <p:cNvSpPr txBox="1"/>
          <p:nvPr/>
        </p:nvSpPr>
        <p:spPr>
          <a:xfrm>
            <a:off x="2044598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628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749808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68" name="Shape 66"/>
          <p:cNvSpPr/>
          <p:nvPr/>
        </p:nvSpPr>
        <p:spPr>
          <a:xfrm>
            <a:off x="749808" y="6108192"/>
            <a:ext cx="326624" cy="82296"/>
          </a:xfrm>
          <a:prstGeom prst="roundRect">
            <a:avLst>
              <a:gd name="adj" fmla="val 22222"/>
            </a:avLst>
          </a:prstGeom>
          <a:solidFill>
            <a:srgbClr val="D62839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749808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1,7% do setor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2684678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2794406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800" dirty="0"/>
          </a:p>
        </p:txBody>
      </p:sp>
      <p:sp>
        <p:nvSpPr>
          <p:cNvPr id="72" name="Text 70"/>
          <p:cNvSpPr txBox="1"/>
          <p:nvPr/>
        </p:nvSpPr>
        <p:spPr>
          <a:xfrm>
            <a:off x="2794406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 médicos no painel</a:t>
            </a:r>
            <a:endParaRPr lang="en-US" sz="1050" dirty="0"/>
          </a:p>
        </p:txBody>
      </p:sp>
      <p:sp>
        <p:nvSpPr>
          <p:cNvPr id="73" name="Shape 71"/>
          <p:cNvSpPr/>
          <p:nvPr/>
        </p:nvSpPr>
        <p:spPr>
          <a:xfrm>
            <a:off x="2684678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74" name="Shape 72"/>
          <p:cNvSpPr/>
          <p:nvPr/>
        </p:nvSpPr>
        <p:spPr>
          <a:xfrm>
            <a:off x="2757830" y="192024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2757830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6" name="Text 74"/>
          <p:cNvSpPr txBox="1"/>
          <p:nvPr/>
        </p:nvSpPr>
        <p:spPr>
          <a:xfrm>
            <a:off x="3068726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77" name="Text 75"/>
          <p:cNvSpPr txBox="1"/>
          <p:nvPr/>
        </p:nvSpPr>
        <p:spPr>
          <a:xfrm>
            <a:off x="4363517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400" dirty="0"/>
          </a:p>
        </p:txBody>
      </p:sp>
      <p:sp>
        <p:nvSpPr>
          <p:cNvPr id="78" name="Shape 76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79" name="Shape 77"/>
          <p:cNvSpPr/>
          <p:nvPr/>
        </p:nvSpPr>
        <p:spPr>
          <a:xfrm>
            <a:off x="3068726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068726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17,8% do setor</a:t>
            </a:r>
            <a:endParaRPr lang="en-US" sz="750" dirty="0"/>
          </a:p>
        </p:txBody>
      </p:sp>
      <p:sp>
        <p:nvSpPr>
          <p:cNvPr id="81" name="Shape 79"/>
          <p:cNvSpPr/>
          <p:nvPr/>
        </p:nvSpPr>
        <p:spPr>
          <a:xfrm>
            <a:off x="2684678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82" name="Shape 80"/>
          <p:cNvSpPr/>
          <p:nvPr/>
        </p:nvSpPr>
        <p:spPr>
          <a:xfrm>
            <a:off x="2757830" y="248716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2757830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84" name="Text 82"/>
          <p:cNvSpPr txBox="1"/>
          <p:nvPr/>
        </p:nvSpPr>
        <p:spPr>
          <a:xfrm>
            <a:off x="3068726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85" name="Text 83"/>
          <p:cNvSpPr txBox="1"/>
          <p:nvPr/>
        </p:nvSpPr>
        <p:spPr>
          <a:xfrm>
            <a:off x="4363517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86" name="Shape 84"/>
          <p:cNvSpPr/>
          <p:nvPr/>
        </p:nvSpPr>
        <p:spPr>
          <a:xfrm>
            <a:off x="3068726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87" name="Shape 85"/>
          <p:cNvSpPr/>
          <p:nvPr/>
        </p:nvSpPr>
        <p:spPr>
          <a:xfrm>
            <a:off x="3068726" y="2706624"/>
            <a:ext cx="1440987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3068726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15,7% do setor</a:t>
            </a:r>
            <a:endParaRPr lang="en-US" sz="750" dirty="0"/>
          </a:p>
        </p:txBody>
      </p:sp>
      <p:sp>
        <p:nvSpPr>
          <p:cNvPr id="89" name="Shape 87"/>
          <p:cNvSpPr/>
          <p:nvPr/>
        </p:nvSpPr>
        <p:spPr>
          <a:xfrm>
            <a:off x="2684678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0" name="Shape 88"/>
          <p:cNvSpPr/>
          <p:nvPr/>
        </p:nvSpPr>
        <p:spPr>
          <a:xfrm>
            <a:off x="2757830" y="305409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2757830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92" name="Text 90"/>
          <p:cNvSpPr txBox="1"/>
          <p:nvPr/>
        </p:nvSpPr>
        <p:spPr>
          <a:xfrm>
            <a:off x="3068726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93" name="Text 91"/>
          <p:cNvSpPr txBox="1"/>
          <p:nvPr/>
        </p:nvSpPr>
        <p:spPr>
          <a:xfrm>
            <a:off x="4363517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400" dirty="0"/>
          </a:p>
        </p:txBody>
      </p:sp>
      <p:sp>
        <p:nvSpPr>
          <p:cNvPr id="94" name="Shape 92"/>
          <p:cNvSpPr/>
          <p:nvPr/>
        </p:nvSpPr>
        <p:spPr>
          <a:xfrm>
            <a:off x="3068726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95" name="Shape 93"/>
          <p:cNvSpPr/>
          <p:nvPr/>
        </p:nvSpPr>
        <p:spPr>
          <a:xfrm>
            <a:off x="3068726" y="3273552"/>
            <a:ext cx="89661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068726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9,0% do setor</a:t>
            </a:r>
            <a:endParaRPr lang="en-US" sz="750" dirty="0"/>
          </a:p>
        </p:txBody>
      </p:sp>
      <p:sp>
        <p:nvSpPr>
          <p:cNvPr id="97" name="Shape 95"/>
          <p:cNvSpPr/>
          <p:nvPr/>
        </p:nvSpPr>
        <p:spPr>
          <a:xfrm>
            <a:off x="2684678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98" name="Shape 96"/>
          <p:cNvSpPr/>
          <p:nvPr/>
        </p:nvSpPr>
        <p:spPr>
          <a:xfrm>
            <a:off x="2757830" y="3621024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2757830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00" name="Text 98"/>
          <p:cNvSpPr txBox="1"/>
          <p:nvPr/>
        </p:nvSpPr>
        <p:spPr>
          <a:xfrm>
            <a:off x="3068726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101" name="Text 99"/>
          <p:cNvSpPr txBox="1"/>
          <p:nvPr/>
        </p:nvSpPr>
        <p:spPr>
          <a:xfrm>
            <a:off x="4363517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400" dirty="0"/>
          </a:p>
        </p:txBody>
      </p:sp>
      <p:sp>
        <p:nvSpPr>
          <p:cNvPr id="102" name="Shape 100"/>
          <p:cNvSpPr/>
          <p:nvPr/>
        </p:nvSpPr>
        <p:spPr>
          <a:xfrm>
            <a:off x="3068726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068726" y="3840480"/>
            <a:ext cx="768526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068726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8,3% do setor</a:t>
            </a:r>
            <a:endParaRPr lang="en-US" sz="750" dirty="0"/>
          </a:p>
        </p:txBody>
      </p:sp>
      <p:sp>
        <p:nvSpPr>
          <p:cNvPr id="105" name="Shape 103"/>
          <p:cNvSpPr/>
          <p:nvPr/>
        </p:nvSpPr>
        <p:spPr>
          <a:xfrm>
            <a:off x="2684678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06" name="Shape 104"/>
          <p:cNvSpPr/>
          <p:nvPr/>
        </p:nvSpPr>
        <p:spPr>
          <a:xfrm>
            <a:off x="2757830" y="4187952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2757830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08" name="Text 106"/>
          <p:cNvSpPr txBox="1"/>
          <p:nvPr/>
        </p:nvSpPr>
        <p:spPr>
          <a:xfrm>
            <a:off x="3068726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109" name="Text 107"/>
          <p:cNvSpPr txBox="1"/>
          <p:nvPr/>
        </p:nvSpPr>
        <p:spPr>
          <a:xfrm>
            <a:off x="4363517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110" name="Shape 108"/>
          <p:cNvSpPr/>
          <p:nvPr/>
        </p:nvSpPr>
        <p:spPr>
          <a:xfrm>
            <a:off x="3068726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068726" y="4407408"/>
            <a:ext cx="736504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3068726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 do setor</a:t>
            </a:r>
            <a:endParaRPr lang="en-US" sz="750" dirty="0"/>
          </a:p>
        </p:txBody>
      </p:sp>
      <p:sp>
        <p:nvSpPr>
          <p:cNvPr id="113" name="Shape 111"/>
          <p:cNvSpPr/>
          <p:nvPr/>
        </p:nvSpPr>
        <p:spPr>
          <a:xfrm>
            <a:off x="2684678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14" name="Shape 112"/>
          <p:cNvSpPr/>
          <p:nvPr/>
        </p:nvSpPr>
        <p:spPr>
          <a:xfrm>
            <a:off x="2757830" y="4754880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2757830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16" name="Text 114"/>
          <p:cNvSpPr txBox="1"/>
          <p:nvPr/>
        </p:nvSpPr>
        <p:spPr>
          <a:xfrm>
            <a:off x="3068726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117" name="Text 115"/>
          <p:cNvSpPr txBox="1"/>
          <p:nvPr/>
        </p:nvSpPr>
        <p:spPr>
          <a:xfrm>
            <a:off x="4363517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400" dirty="0"/>
          </a:p>
        </p:txBody>
      </p:sp>
      <p:sp>
        <p:nvSpPr>
          <p:cNvPr id="118" name="Shape 116"/>
          <p:cNvSpPr/>
          <p:nvPr/>
        </p:nvSpPr>
        <p:spPr>
          <a:xfrm>
            <a:off x="3068726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068726" y="4974336"/>
            <a:ext cx="704482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3068726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7,7% do setor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2684678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22" name="Shape 120"/>
          <p:cNvSpPr/>
          <p:nvPr/>
        </p:nvSpPr>
        <p:spPr>
          <a:xfrm>
            <a:off x="2757830" y="5321808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2757830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24" name="Text 122"/>
          <p:cNvSpPr txBox="1"/>
          <p:nvPr/>
        </p:nvSpPr>
        <p:spPr>
          <a:xfrm>
            <a:off x="3068726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125" name="Text 123"/>
          <p:cNvSpPr txBox="1"/>
          <p:nvPr/>
        </p:nvSpPr>
        <p:spPr>
          <a:xfrm>
            <a:off x="4363517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400" dirty="0"/>
          </a:p>
        </p:txBody>
      </p:sp>
      <p:sp>
        <p:nvSpPr>
          <p:cNvPr id="126" name="Shape 124"/>
          <p:cNvSpPr/>
          <p:nvPr/>
        </p:nvSpPr>
        <p:spPr>
          <a:xfrm>
            <a:off x="3068726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068726" y="5541264"/>
            <a:ext cx="57639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068726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6,1% do setor</a:t>
            </a:r>
            <a:endParaRPr lang="en-US" sz="750" dirty="0"/>
          </a:p>
        </p:txBody>
      </p:sp>
      <p:sp>
        <p:nvSpPr>
          <p:cNvPr id="129" name="Shape 127"/>
          <p:cNvSpPr/>
          <p:nvPr/>
        </p:nvSpPr>
        <p:spPr>
          <a:xfrm>
            <a:off x="2684678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30" name="Shape 128"/>
          <p:cNvSpPr/>
          <p:nvPr/>
        </p:nvSpPr>
        <p:spPr>
          <a:xfrm>
            <a:off x="2757830" y="5888736"/>
            <a:ext cx="256032" cy="256032"/>
          </a:xfrm>
          <a:prstGeom prst="ellipse">
            <a:avLst/>
          </a:prstGeom>
          <a:solidFill>
            <a:srgbClr val="F3A712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2757830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32" name="Text 130"/>
          <p:cNvSpPr txBox="1"/>
          <p:nvPr/>
        </p:nvSpPr>
        <p:spPr>
          <a:xfrm>
            <a:off x="3068726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133" name="Text 131"/>
          <p:cNvSpPr txBox="1"/>
          <p:nvPr/>
        </p:nvSpPr>
        <p:spPr>
          <a:xfrm>
            <a:off x="4363517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3A7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400" dirty="0"/>
          </a:p>
        </p:txBody>
      </p:sp>
      <p:sp>
        <p:nvSpPr>
          <p:cNvPr id="134" name="Shape 132"/>
          <p:cNvSpPr/>
          <p:nvPr/>
        </p:nvSpPr>
        <p:spPr>
          <a:xfrm>
            <a:off x="3068726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35" name="Shape 133"/>
          <p:cNvSpPr/>
          <p:nvPr/>
        </p:nvSpPr>
        <p:spPr>
          <a:xfrm>
            <a:off x="3068726" y="6108192"/>
            <a:ext cx="416285" cy="82296"/>
          </a:xfrm>
          <a:prstGeom prst="roundRect">
            <a:avLst>
              <a:gd name="adj" fmla="val 22222"/>
            </a:avLst>
          </a:prstGeom>
          <a:solidFill>
            <a:srgbClr val="F3A712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3068726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4,2% do setor</a:t>
            </a:r>
            <a:endParaRPr lang="en-US" sz="750" dirty="0"/>
          </a:p>
        </p:txBody>
      </p:sp>
      <p:sp>
        <p:nvSpPr>
          <p:cNvPr id="137" name="Shape 135"/>
          <p:cNvSpPr/>
          <p:nvPr/>
        </p:nvSpPr>
        <p:spPr>
          <a:xfrm>
            <a:off x="5003597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8" name="Text 136"/>
          <p:cNvSpPr txBox="1"/>
          <p:nvPr/>
        </p:nvSpPr>
        <p:spPr>
          <a:xfrm>
            <a:off x="5113325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800" dirty="0"/>
          </a:p>
        </p:txBody>
      </p:sp>
      <p:sp>
        <p:nvSpPr>
          <p:cNvPr id="139" name="Text 137"/>
          <p:cNvSpPr txBox="1"/>
          <p:nvPr/>
        </p:nvSpPr>
        <p:spPr>
          <a:xfrm>
            <a:off x="5113325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 médicos no painel</a:t>
            </a:r>
            <a:endParaRPr lang="en-US" sz="1050" dirty="0"/>
          </a:p>
        </p:txBody>
      </p:sp>
      <p:sp>
        <p:nvSpPr>
          <p:cNvPr id="140" name="Shape 138"/>
          <p:cNvSpPr/>
          <p:nvPr/>
        </p:nvSpPr>
        <p:spPr>
          <a:xfrm>
            <a:off x="5003597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1" name="Shape 139"/>
          <p:cNvSpPr/>
          <p:nvPr/>
        </p:nvSpPr>
        <p:spPr>
          <a:xfrm>
            <a:off x="5076749" y="192024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076749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43" name="Text 141"/>
          <p:cNvSpPr txBox="1"/>
          <p:nvPr/>
        </p:nvSpPr>
        <p:spPr>
          <a:xfrm>
            <a:off x="5387645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144" name="Text 142"/>
          <p:cNvSpPr txBox="1"/>
          <p:nvPr/>
        </p:nvSpPr>
        <p:spPr>
          <a:xfrm>
            <a:off x="6682435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400" dirty="0"/>
          </a:p>
        </p:txBody>
      </p:sp>
      <p:sp>
        <p:nvSpPr>
          <p:cNvPr id="145" name="Shape 143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387645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5387645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750" dirty="0"/>
          </a:p>
        </p:txBody>
      </p:sp>
      <p:sp>
        <p:nvSpPr>
          <p:cNvPr id="148" name="Shape 146"/>
          <p:cNvSpPr/>
          <p:nvPr/>
        </p:nvSpPr>
        <p:spPr>
          <a:xfrm>
            <a:off x="5003597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076749" y="248716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0" name="Text 148"/>
          <p:cNvSpPr txBox="1"/>
          <p:nvPr/>
        </p:nvSpPr>
        <p:spPr>
          <a:xfrm>
            <a:off x="5076749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1" name="Text 149"/>
          <p:cNvSpPr txBox="1"/>
          <p:nvPr/>
        </p:nvSpPr>
        <p:spPr>
          <a:xfrm>
            <a:off x="5387645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152" name="Text 150"/>
          <p:cNvSpPr txBox="1"/>
          <p:nvPr/>
        </p:nvSpPr>
        <p:spPr>
          <a:xfrm>
            <a:off x="6682435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400" dirty="0"/>
          </a:p>
        </p:txBody>
      </p:sp>
      <p:sp>
        <p:nvSpPr>
          <p:cNvPr id="153" name="Shape 151"/>
          <p:cNvSpPr/>
          <p:nvPr/>
        </p:nvSpPr>
        <p:spPr>
          <a:xfrm>
            <a:off x="5387645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387645" y="2706624"/>
            <a:ext cx="129288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5387645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19,9% do setor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5003597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076749" y="305409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58" name="Text 156"/>
          <p:cNvSpPr txBox="1"/>
          <p:nvPr/>
        </p:nvSpPr>
        <p:spPr>
          <a:xfrm>
            <a:off x="5076749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59" name="Text 157"/>
          <p:cNvSpPr txBox="1"/>
          <p:nvPr/>
        </p:nvSpPr>
        <p:spPr>
          <a:xfrm>
            <a:off x="5387645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160" name="Text 158"/>
          <p:cNvSpPr txBox="1"/>
          <p:nvPr/>
        </p:nvSpPr>
        <p:spPr>
          <a:xfrm>
            <a:off x="6682435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161" name="Shape 159"/>
          <p:cNvSpPr/>
          <p:nvPr/>
        </p:nvSpPr>
        <p:spPr>
          <a:xfrm>
            <a:off x="5387645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387645" y="3273552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5387645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14,5% do setor</a:t>
            </a:r>
            <a:endParaRPr lang="en-US" sz="750" dirty="0"/>
          </a:p>
        </p:txBody>
      </p:sp>
      <p:sp>
        <p:nvSpPr>
          <p:cNvPr id="164" name="Shape 162"/>
          <p:cNvSpPr/>
          <p:nvPr/>
        </p:nvSpPr>
        <p:spPr>
          <a:xfrm>
            <a:off x="5003597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65" name="Shape 163"/>
          <p:cNvSpPr/>
          <p:nvPr/>
        </p:nvSpPr>
        <p:spPr>
          <a:xfrm>
            <a:off x="5076749" y="3621024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5076749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67" name="Text 165"/>
          <p:cNvSpPr txBox="1"/>
          <p:nvPr/>
        </p:nvSpPr>
        <p:spPr>
          <a:xfrm>
            <a:off x="5387645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168" name="Text 166"/>
          <p:cNvSpPr txBox="1"/>
          <p:nvPr/>
        </p:nvSpPr>
        <p:spPr>
          <a:xfrm>
            <a:off x="6682435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400" dirty="0"/>
          </a:p>
        </p:txBody>
      </p:sp>
      <p:sp>
        <p:nvSpPr>
          <p:cNvPr id="169" name="Shape 167"/>
          <p:cNvSpPr/>
          <p:nvPr/>
        </p:nvSpPr>
        <p:spPr>
          <a:xfrm>
            <a:off x="5387645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0" name="Shape 168"/>
          <p:cNvSpPr/>
          <p:nvPr/>
        </p:nvSpPr>
        <p:spPr>
          <a:xfrm>
            <a:off x="5387645" y="3840480"/>
            <a:ext cx="1020699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5387645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14,6% do setor</a:t>
            </a:r>
            <a:endParaRPr lang="en-US" sz="750" dirty="0"/>
          </a:p>
        </p:txBody>
      </p:sp>
      <p:sp>
        <p:nvSpPr>
          <p:cNvPr id="172" name="Shape 170"/>
          <p:cNvSpPr/>
          <p:nvPr/>
        </p:nvSpPr>
        <p:spPr>
          <a:xfrm>
            <a:off x="5003597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076749" y="4187952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5076749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75" name="Text 173"/>
          <p:cNvSpPr txBox="1"/>
          <p:nvPr/>
        </p:nvSpPr>
        <p:spPr>
          <a:xfrm>
            <a:off x="5387645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176" name="Text 174"/>
          <p:cNvSpPr txBox="1"/>
          <p:nvPr/>
        </p:nvSpPr>
        <p:spPr>
          <a:xfrm>
            <a:off x="6682435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400" dirty="0"/>
          </a:p>
        </p:txBody>
      </p:sp>
      <p:sp>
        <p:nvSpPr>
          <p:cNvPr id="177" name="Shape 175"/>
          <p:cNvSpPr/>
          <p:nvPr/>
        </p:nvSpPr>
        <p:spPr>
          <a:xfrm>
            <a:off x="5387645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78" name="Shape 176"/>
          <p:cNvSpPr/>
          <p:nvPr/>
        </p:nvSpPr>
        <p:spPr>
          <a:xfrm>
            <a:off x="5387645" y="4407408"/>
            <a:ext cx="97533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5387645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15,1% do setor</a:t>
            </a:r>
            <a:endParaRPr lang="en-US" sz="750" dirty="0"/>
          </a:p>
        </p:txBody>
      </p:sp>
      <p:sp>
        <p:nvSpPr>
          <p:cNvPr id="180" name="Shape 178"/>
          <p:cNvSpPr/>
          <p:nvPr/>
        </p:nvSpPr>
        <p:spPr>
          <a:xfrm>
            <a:off x="5003597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1" name="Shape 179"/>
          <p:cNvSpPr/>
          <p:nvPr/>
        </p:nvSpPr>
        <p:spPr>
          <a:xfrm>
            <a:off x="5076749" y="4754880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5076749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183" name="Text 181"/>
          <p:cNvSpPr txBox="1"/>
          <p:nvPr/>
        </p:nvSpPr>
        <p:spPr>
          <a:xfrm>
            <a:off x="5387645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184" name="Text 182"/>
          <p:cNvSpPr txBox="1"/>
          <p:nvPr/>
        </p:nvSpPr>
        <p:spPr>
          <a:xfrm>
            <a:off x="6682435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400" dirty="0"/>
          </a:p>
        </p:txBody>
      </p:sp>
      <p:sp>
        <p:nvSpPr>
          <p:cNvPr id="185" name="Shape 183"/>
          <p:cNvSpPr/>
          <p:nvPr/>
        </p:nvSpPr>
        <p:spPr>
          <a:xfrm>
            <a:off x="5387645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86" name="Shape 184"/>
          <p:cNvSpPr/>
          <p:nvPr/>
        </p:nvSpPr>
        <p:spPr>
          <a:xfrm>
            <a:off x="5387645" y="4974336"/>
            <a:ext cx="771195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87" name="Text 185"/>
          <p:cNvSpPr txBox="1"/>
          <p:nvPr/>
        </p:nvSpPr>
        <p:spPr>
          <a:xfrm>
            <a:off x="5387645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750" dirty="0"/>
          </a:p>
        </p:txBody>
      </p:sp>
      <p:sp>
        <p:nvSpPr>
          <p:cNvPr id="188" name="Shape 186"/>
          <p:cNvSpPr/>
          <p:nvPr/>
        </p:nvSpPr>
        <p:spPr>
          <a:xfrm>
            <a:off x="5003597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89" name="Shape 187"/>
          <p:cNvSpPr/>
          <p:nvPr/>
        </p:nvSpPr>
        <p:spPr>
          <a:xfrm>
            <a:off x="5076749" y="5321808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0" name="Text 188"/>
          <p:cNvSpPr txBox="1"/>
          <p:nvPr/>
        </p:nvSpPr>
        <p:spPr>
          <a:xfrm>
            <a:off x="5076749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191" name="Text 189"/>
          <p:cNvSpPr txBox="1"/>
          <p:nvPr/>
        </p:nvSpPr>
        <p:spPr>
          <a:xfrm>
            <a:off x="5387645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192" name="Text 190"/>
          <p:cNvSpPr txBox="1"/>
          <p:nvPr/>
        </p:nvSpPr>
        <p:spPr>
          <a:xfrm>
            <a:off x="6682435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400" dirty="0"/>
          </a:p>
        </p:txBody>
      </p:sp>
      <p:sp>
        <p:nvSpPr>
          <p:cNvPr id="193" name="Shape 191"/>
          <p:cNvSpPr/>
          <p:nvPr/>
        </p:nvSpPr>
        <p:spPr>
          <a:xfrm>
            <a:off x="5387645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194" name="Shape 192"/>
          <p:cNvSpPr/>
          <p:nvPr/>
        </p:nvSpPr>
        <p:spPr>
          <a:xfrm>
            <a:off x="5387645" y="5541264"/>
            <a:ext cx="725830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5387645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11,4% do setor</a:t>
            </a:r>
            <a:endParaRPr lang="en-US" sz="750" dirty="0"/>
          </a:p>
        </p:txBody>
      </p:sp>
      <p:sp>
        <p:nvSpPr>
          <p:cNvPr id="196" name="Shape 194"/>
          <p:cNvSpPr/>
          <p:nvPr/>
        </p:nvSpPr>
        <p:spPr>
          <a:xfrm>
            <a:off x="5003597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076749" y="5888736"/>
            <a:ext cx="256032" cy="256032"/>
          </a:xfrm>
          <a:prstGeom prst="ellipse">
            <a:avLst/>
          </a:prstGeom>
          <a:solidFill>
            <a:srgbClr val="2A9D8F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076749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199" name="Text 197"/>
          <p:cNvSpPr txBox="1"/>
          <p:nvPr/>
        </p:nvSpPr>
        <p:spPr>
          <a:xfrm>
            <a:off x="5387645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00" name="Text 198"/>
          <p:cNvSpPr txBox="1"/>
          <p:nvPr/>
        </p:nvSpPr>
        <p:spPr>
          <a:xfrm>
            <a:off x="6682435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400" dirty="0"/>
          </a:p>
        </p:txBody>
      </p:sp>
      <p:sp>
        <p:nvSpPr>
          <p:cNvPr id="201" name="Shape 199"/>
          <p:cNvSpPr/>
          <p:nvPr/>
        </p:nvSpPr>
        <p:spPr>
          <a:xfrm>
            <a:off x="5387645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387645" y="6108192"/>
            <a:ext cx="521691" cy="82296"/>
          </a:xfrm>
          <a:prstGeom prst="roundRect">
            <a:avLst>
              <a:gd name="adj" fmla="val 22222"/>
            </a:avLst>
          </a:prstGeom>
          <a:solidFill>
            <a:srgbClr val="2A9D8F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5387645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8,0% do setor</a:t>
            </a:r>
            <a:endParaRPr lang="en-US" sz="750" dirty="0"/>
          </a:p>
        </p:txBody>
      </p:sp>
      <p:sp>
        <p:nvSpPr>
          <p:cNvPr id="204" name="Shape 202"/>
          <p:cNvSpPr/>
          <p:nvPr/>
        </p:nvSpPr>
        <p:spPr>
          <a:xfrm>
            <a:off x="7322515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05" name="Text 203"/>
          <p:cNvSpPr txBox="1"/>
          <p:nvPr/>
        </p:nvSpPr>
        <p:spPr>
          <a:xfrm>
            <a:off x="7432243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800" dirty="0"/>
          </a:p>
        </p:txBody>
      </p:sp>
      <p:sp>
        <p:nvSpPr>
          <p:cNvPr id="206" name="Text 204"/>
          <p:cNvSpPr txBox="1"/>
          <p:nvPr/>
        </p:nvSpPr>
        <p:spPr>
          <a:xfrm>
            <a:off x="7432243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 médicos no painel</a:t>
            </a:r>
            <a:endParaRPr lang="en-US" sz="1050" dirty="0"/>
          </a:p>
        </p:txBody>
      </p:sp>
      <p:sp>
        <p:nvSpPr>
          <p:cNvPr id="207" name="Shape 205"/>
          <p:cNvSpPr/>
          <p:nvPr/>
        </p:nvSpPr>
        <p:spPr>
          <a:xfrm>
            <a:off x="7322515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08" name="Shape 206"/>
          <p:cNvSpPr/>
          <p:nvPr/>
        </p:nvSpPr>
        <p:spPr>
          <a:xfrm>
            <a:off x="7395667" y="192024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09" name="Text 207"/>
          <p:cNvSpPr txBox="1"/>
          <p:nvPr/>
        </p:nvSpPr>
        <p:spPr>
          <a:xfrm>
            <a:off x="7395667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10" name="Text 208"/>
          <p:cNvSpPr txBox="1"/>
          <p:nvPr/>
        </p:nvSpPr>
        <p:spPr>
          <a:xfrm>
            <a:off x="7706563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211" name="Text 209"/>
          <p:cNvSpPr txBox="1"/>
          <p:nvPr/>
        </p:nvSpPr>
        <p:spPr>
          <a:xfrm>
            <a:off x="9001354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400" dirty="0"/>
          </a:p>
        </p:txBody>
      </p:sp>
      <p:sp>
        <p:nvSpPr>
          <p:cNvPr id="212" name="Shape 210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06563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14" name="Text 212"/>
          <p:cNvSpPr txBox="1"/>
          <p:nvPr/>
        </p:nvSpPr>
        <p:spPr>
          <a:xfrm>
            <a:off x="7706563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29,8% do setor</a:t>
            </a:r>
            <a:endParaRPr lang="en-US" sz="750" dirty="0"/>
          </a:p>
        </p:txBody>
      </p:sp>
      <p:sp>
        <p:nvSpPr>
          <p:cNvPr id="215" name="Shape 213"/>
          <p:cNvSpPr/>
          <p:nvPr/>
        </p:nvSpPr>
        <p:spPr>
          <a:xfrm>
            <a:off x="7322515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16" name="Shape 214"/>
          <p:cNvSpPr/>
          <p:nvPr/>
        </p:nvSpPr>
        <p:spPr>
          <a:xfrm>
            <a:off x="7395667" y="248716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7395667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18" name="Text 216"/>
          <p:cNvSpPr txBox="1"/>
          <p:nvPr/>
        </p:nvSpPr>
        <p:spPr>
          <a:xfrm>
            <a:off x="7706563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219" name="Text 217"/>
          <p:cNvSpPr txBox="1"/>
          <p:nvPr/>
        </p:nvSpPr>
        <p:spPr>
          <a:xfrm>
            <a:off x="9001354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400" dirty="0"/>
          </a:p>
        </p:txBody>
      </p:sp>
      <p:sp>
        <p:nvSpPr>
          <p:cNvPr id="220" name="Shape 218"/>
          <p:cNvSpPr/>
          <p:nvPr/>
        </p:nvSpPr>
        <p:spPr>
          <a:xfrm>
            <a:off x="7706563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1" name="Shape 219"/>
          <p:cNvSpPr/>
          <p:nvPr/>
        </p:nvSpPr>
        <p:spPr>
          <a:xfrm>
            <a:off x="7706563" y="2706624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22" name="Text 220"/>
          <p:cNvSpPr txBox="1"/>
          <p:nvPr/>
        </p:nvSpPr>
        <p:spPr>
          <a:xfrm>
            <a:off x="7706563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29,6% do setor</a:t>
            </a:r>
            <a:endParaRPr lang="en-US" sz="750" dirty="0"/>
          </a:p>
        </p:txBody>
      </p:sp>
      <p:sp>
        <p:nvSpPr>
          <p:cNvPr id="223" name="Shape 221"/>
          <p:cNvSpPr/>
          <p:nvPr/>
        </p:nvSpPr>
        <p:spPr>
          <a:xfrm>
            <a:off x="7322515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24" name="Shape 222"/>
          <p:cNvSpPr/>
          <p:nvPr/>
        </p:nvSpPr>
        <p:spPr>
          <a:xfrm>
            <a:off x="7395667" y="305409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25" name="Text 223"/>
          <p:cNvSpPr txBox="1"/>
          <p:nvPr/>
        </p:nvSpPr>
        <p:spPr>
          <a:xfrm>
            <a:off x="7395667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26" name="Text 224"/>
          <p:cNvSpPr txBox="1"/>
          <p:nvPr/>
        </p:nvSpPr>
        <p:spPr>
          <a:xfrm>
            <a:off x="7706563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227" name="Text 225"/>
          <p:cNvSpPr txBox="1"/>
          <p:nvPr/>
        </p:nvSpPr>
        <p:spPr>
          <a:xfrm>
            <a:off x="9001354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400" dirty="0"/>
          </a:p>
        </p:txBody>
      </p:sp>
      <p:sp>
        <p:nvSpPr>
          <p:cNvPr id="228" name="Shape 226"/>
          <p:cNvSpPr/>
          <p:nvPr/>
        </p:nvSpPr>
        <p:spPr>
          <a:xfrm>
            <a:off x="7706563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29" name="Shape 227"/>
          <p:cNvSpPr/>
          <p:nvPr/>
        </p:nvSpPr>
        <p:spPr>
          <a:xfrm>
            <a:off x="7706563" y="3273552"/>
            <a:ext cx="1508859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0" name="Text 228"/>
          <p:cNvSpPr txBox="1"/>
          <p:nvPr/>
        </p:nvSpPr>
        <p:spPr>
          <a:xfrm>
            <a:off x="7706563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29,9% do setor</a:t>
            </a:r>
            <a:endParaRPr lang="en-US" sz="750" dirty="0"/>
          </a:p>
        </p:txBody>
      </p:sp>
      <p:sp>
        <p:nvSpPr>
          <p:cNvPr id="231" name="Shape 229"/>
          <p:cNvSpPr/>
          <p:nvPr/>
        </p:nvSpPr>
        <p:spPr>
          <a:xfrm>
            <a:off x="7322515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395667" y="3621024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33" name="Text 231"/>
          <p:cNvSpPr txBox="1"/>
          <p:nvPr/>
        </p:nvSpPr>
        <p:spPr>
          <a:xfrm>
            <a:off x="7395667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34" name="Text 232"/>
          <p:cNvSpPr txBox="1"/>
          <p:nvPr/>
        </p:nvSpPr>
        <p:spPr>
          <a:xfrm>
            <a:off x="7706563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235" name="Text 233"/>
          <p:cNvSpPr txBox="1"/>
          <p:nvPr/>
        </p:nvSpPr>
        <p:spPr>
          <a:xfrm>
            <a:off x="9001354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400" dirty="0"/>
          </a:p>
        </p:txBody>
      </p:sp>
      <p:sp>
        <p:nvSpPr>
          <p:cNvPr id="236" name="Shape 234"/>
          <p:cNvSpPr/>
          <p:nvPr/>
        </p:nvSpPr>
        <p:spPr>
          <a:xfrm>
            <a:off x="7706563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37" name="Shape 235"/>
          <p:cNvSpPr/>
          <p:nvPr/>
        </p:nvSpPr>
        <p:spPr>
          <a:xfrm>
            <a:off x="7706563" y="3840480"/>
            <a:ext cx="1491108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7706563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28,3% do setor</a:t>
            </a:r>
            <a:endParaRPr lang="en-US" sz="750" dirty="0"/>
          </a:p>
        </p:txBody>
      </p:sp>
      <p:sp>
        <p:nvSpPr>
          <p:cNvPr id="239" name="Shape 237"/>
          <p:cNvSpPr/>
          <p:nvPr/>
        </p:nvSpPr>
        <p:spPr>
          <a:xfrm>
            <a:off x="7322515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0" name="Shape 238"/>
          <p:cNvSpPr/>
          <p:nvPr/>
        </p:nvSpPr>
        <p:spPr>
          <a:xfrm>
            <a:off x="7395667" y="4187952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1" name="Text 239"/>
          <p:cNvSpPr txBox="1"/>
          <p:nvPr/>
        </p:nvSpPr>
        <p:spPr>
          <a:xfrm>
            <a:off x="7395667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242" name="Text 240"/>
          <p:cNvSpPr txBox="1"/>
          <p:nvPr/>
        </p:nvSpPr>
        <p:spPr>
          <a:xfrm>
            <a:off x="7706563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243" name="Text 241"/>
          <p:cNvSpPr txBox="1"/>
          <p:nvPr/>
        </p:nvSpPr>
        <p:spPr>
          <a:xfrm>
            <a:off x="9001354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400" dirty="0"/>
          </a:p>
        </p:txBody>
      </p:sp>
      <p:sp>
        <p:nvSpPr>
          <p:cNvPr id="244" name="Shape 242"/>
          <p:cNvSpPr/>
          <p:nvPr/>
        </p:nvSpPr>
        <p:spPr>
          <a:xfrm>
            <a:off x="7706563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45" name="Shape 243"/>
          <p:cNvSpPr/>
          <p:nvPr/>
        </p:nvSpPr>
        <p:spPr>
          <a:xfrm>
            <a:off x="7706563" y="4407408"/>
            <a:ext cx="1278093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7706563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25,2% do setor</a:t>
            </a:r>
            <a:endParaRPr lang="en-US" sz="750" dirty="0"/>
          </a:p>
        </p:txBody>
      </p:sp>
      <p:sp>
        <p:nvSpPr>
          <p:cNvPr id="247" name="Shape 245"/>
          <p:cNvSpPr/>
          <p:nvPr/>
        </p:nvSpPr>
        <p:spPr>
          <a:xfrm>
            <a:off x="7322515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48" name="Shape 246"/>
          <p:cNvSpPr/>
          <p:nvPr/>
        </p:nvSpPr>
        <p:spPr>
          <a:xfrm>
            <a:off x="7395667" y="4754880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49" name="Text 247"/>
          <p:cNvSpPr txBox="1"/>
          <p:nvPr/>
        </p:nvSpPr>
        <p:spPr>
          <a:xfrm>
            <a:off x="7395667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250" name="Text 248"/>
          <p:cNvSpPr txBox="1"/>
          <p:nvPr/>
        </p:nvSpPr>
        <p:spPr>
          <a:xfrm>
            <a:off x="7706563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251" name="Text 249"/>
          <p:cNvSpPr txBox="1"/>
          <p:nvPr/>
        </p:nvSpPr>
        <p:spPr>
          <a:xfrm>
            <a:off x="9001354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400" dirty="0"/>
          </a:p>
        </p:txBody>
      </p:sp>
      <p:sp>
        <p:nvSpPr>
          <p:cNvPr id="252" name="Shape 250"/>
          <p:cNvSpPr/>
          <p:nvPr/>
        </p:nvSpPr>
        <p:spPr>
          <a:xfrm>
            <a:off x="7706563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53" name="Shape 251"/>
          <p:cNvSpPr/>
          <p:nvPr/>
        </p:nvSpPr>
        <p:spPr>
          <a:xfrm>
            <a:off x="7706563" y="4974336"/>
            <a:ext cx="1260341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54" name="Text 252"/>
          <p:cNvSpPr txBox="1"/>
          <p:nvPr/>
        </p:nvSpPr>
        <p:spPr>
          <a:xfrm>
            <a:off x="7706563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22,9% do setor</a:t>
            </a:r>
            <a:endParaRPr lang="en-US" sz="750" dirty="0"/>
          </a:p>
        </p:txBody>
      </p:sp>
      <p:sp>
        <p:nvSpPr>
          <p:cNvPr id="255" name="Shape 253"/>
          <p:cNvSpPr/>
          <p:nvPr/>
        </p:nvSpPr>
        <p:spPr>
          <a:xfrm>
            <a:off x="7322515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56" name="Shape 254"/>
          <p:cNvSpPr/>
          <p:nvPr/>
        </p:nvSpPr>
        <p:spPr>
          <a:xfrm>
            <a:off x="7395667" y="5321808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7395667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258" name="Text 256"/>
          <p:cNvSpPr txBox="1"/>
          <p:nvPr/>
        </p:nvSpPr>
        <p:spPr>
          <a:xfrm>
            <a:off x="7706563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259" name="Text 257"/>
          <p:cNvSpPr txBox="1"/>
          <p:nvPr/>
        </p:nvSpPr>
        <p:spPr>
          <a:xfrm>
            <a:off x="9001354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400" dirty="0"/>
          </a:p>
        </p:txBody>
      </p:sp>
      <p:sp>
        <p:nvSpPr>
          <p:cNvPr id="260" name="Shape 258"/>
          <p:cNvSpPr/>
          <p:nvPr/>
        </p:nvSpPr>
        <p:spPr>
          <a:xfrm>
            <a:off x="7706563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06563" y="5541264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62" name="Text 260"/>
          <p:cNvSpPr txBox="1"/>
          <p:nvPr/>
        </p:nvSpPr>
        <p:spPr>
          <a:xfrm>
            <a:off x="7706563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22,8% do setor</a:t>
            </a:r>
            <a:endParaRPr lang="en-US" sz="750" dirty="0"/>
          </a:p>
        </p:txBody>
      </p:sp>
      <p:sp>
        <p:nvSpPr>
          <p:cNvPr id="263" name="Shape 261"/>
          <p:cNvSpPr/>
          <p:nvPr/>
        </p:nvSpPr>
        <p:spPr>
          <a:xfrm>
            <a:off x="7322515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64" name="Shape 262"/>
          <p:cNvSpPr/>
          <p:nvPr/>
        </p:nvSpPr>
        <p:spPr>
          <a:xfrm>
            <a:off x="7395667" y="5888736"/>
            <a:ext cx="256032" cy="256032"/>
          </a:xfrm>
          <a:prstGeom prst="ellipse">
            <a:avLst/>
          </a:prstGeom>
          <a:solidFill>
            <a:srgbClr val="6A4C93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7395667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266" name="Text 264"/>
          <p:cNvSpPr txBox="1"/>
          <p:nvPr/>
        </p:nvSpPr>
        <p:spPr>
          <a:xfrm>
            <a:off x="7706563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67" name="Text 265"/>
          <p:cNvSpPr txBox="1"/>
          <p:nvPr/>
        </p:nvSpPr>
        <p:spPr>
          <a:xfrm>
            <a:off x="9001354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400" dirty="0"/>
          </a:p>
        </p:txBody>
      </p:sp>
      <p:sp>
        <p:nvSpPr>
          <p:cNvPr id="268" name="Shape 266"/>
          <p:cNvSpPr/>
          <p:nvPr/>
        </p:nvSpPr>
        <p:spPr>
          <a:xfrm>
            <a:off x="7706563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69" name="Shape 267"/>
          <p:cNvSpPr/>
          <p:nvPr/>
        </p:nvSpPr>
        <p:spPr>
          <a:xfrm>
            <a:off x="7706563" y="6108192"/>
            <a:ext cx="1136082" cy="82296"/>
          </a:xfrm>
          <a:prstGeom prst="roundRect">
            <a:avLst>
              <a:gd name="adj" fmla="val 22222"/>
            </a:avLst>
          </a:prstGeom>
          <a:solidFill>
            <a:srgbClr val="6A4C93"/>
          </a:solidFill>
          <a:ln/>
        </p:spPr>
      </p:sp>
      <p:sp>
        <p:nvSpPr>
          <p:cNvPr id="270" name="Text 268"/>
          <p:cNvSpPr txBox="1"/>
          <p:nvPr/>
        </p:nvSpPr>
        <p:spPr>
          <a:xfrm>
            <a:off x="7706563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22,1% do setor</a:t>
            </a:r>
            <a:endParaRPr lang="en-US" sz="750" dirty="0"/>
          </a:p>
        </p:txBody>
      </p:sp>
      <p:sp>
        <p:nvSpPr>
          <p:cNvPr id="271" name="Shape 269"/>
          <p:cNvSpPr/>
          <p:nvPr/>
        </p:nvSpPr>
        <p:spPr>
          <a:xfrm>
            <a:off x="9641434" y="960120"/>
            <a:ext cx="2181758" cy="777240"/>
          </a:xfrm>
          <a:prstGeom prst="roundRect">
            <a:avLst>
              <a:gd name="adj" fmla="val 9412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2" name="Text 270"/>
          <p:cNvSpPr txBox="1"/>
          <p:nvPr/>
        </p:nvSpPr>
        <p:spPr>
          <a:xfrm>
            <a:off x="9751162" y="1051560"/>
            <a:ext cx="196230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800" dirty="0"/>
          </a:p>
        </p:txBody>
      </p:sp>
      <p:sp>
        <p:nvSpPr>
          <p:cNvPr id="273" name="Text 271"/>
          <p:cNvSpPr txBox="1"/>
          <p:nvPr/>
        </p:nvSpPr>
        <p:spPr>
          <a:xfrm>
            <a:off x="9751162" y="1399032"/>
            <a:ext cx="196230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1046 médicos no painel</a:t>
            </a:r>
            <a:endParaRPr lang="en-US" sz="1050" dirty="0"/>
          </a:p>
        </p:txBody>
      </p:sp>
      <p:sp>
        <p:nvSpPr>
          <p:cNvPr id="274" name="Shape 272"/>
          <p:cNvSpPr/>
          <p:nvPr/>
        </p:nvSpPr>
        <p:spPr>
          <a:xfrm>
            <a:off x="9641434" y="184708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75" name="Shape 273"/>
          <p:cNvSpPr/>
          <p:nvPr/>
        </p:nvSpPr>
        <p:spPr>
          <a:xfrm>
            <a:off x="9714586" y="192024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9714586" y="19202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77" name="Text 275"/>
          <p:cNvSpPr txBox="1"/>
          <p:nvPr/>
        </p:nvSpPr>
        <p:spPr>
          <a:xfrm>
            <a:off x="10025482" y="187452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7748</a:t>
            </a:r>
            <a:endParaRPr lang="en-US" sz="1150" dirty="0"/>
          </a:p>
        </p:txBody>
      </p:sp>
      <p:sp>
        <p:nvSpPr>
          <p:cNvPr id="278" name="Text 276"/>
          <p:cNvSpPr txBox="1"/>
          <p:nvPr/>
        </p:nvSpPr>
        <p:spPr>
          <a:xfrm>
            <a:off x="11320272" y="1847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173</a:t>
            </a:r>
            <a:endParaRPr lang="en-US" sz="1400" dirty="0"/>
          </a:p>
        </p:txBody>
      </p:sp>
      <p:sp>
        <p:nvSpPr>
          <p:cNvPr id="279" name="Shape 277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0" name="Shape 278"/>
          <p:cNvSpPr/>
          <p:nvPr/>
        </p:nvSpPr>
        <p:spPr>
          <a:xfrm>
            <a:off x="10025482" y="213969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1" name="Text 279"/>
          <p:cNvSpPr txBox="1"/>
          <p:nvPr/>
        </p:nvSpPr>
        <p:spPr>
          <a:xfrm>
            <a:off x="10025482" y="223113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59,9% do setor</a:t>
            </a:r>
            <a:endParaRPr lang="en-US" sz="750" dirty="0"/>
          </a:p>
        </p:txBody>
      </p:sp>
      <p:sp>
        <p:nvSpPr>
          <p:cNvPr id="282" name="Shape 280"/>
          <p:cNvSpPr/>
          <p:nvPr/>
        </p:nvSpPr>
        <p:spPr>
          <a:xfrm>
            <a:off x="9641434" y="241401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83" name="Shape 281"/>
          <p:cNvSpPr/>
          <p:nvPr/>
        </p:nvSpPr>
        <p:spPr>
          <a:xfrm>
            <a:off x="9714586" y="248716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9714586" y="248716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85" name="Text 283"/>
          <p:cNvSpPr txBox="1"/>
          <p:nvPr/>
        </p:nvSpPr>
        <p:spPr>
          <a:xfrm>
            <a:off x="10025482" y="244144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5613</a:t>
            </a:r>
            <a:endParaRPr lang="en-US" sz="1150" dirty="0"/>
          </a:p>
        </p:txBody>
      </p:sp>
      <p:sp>
        <p:nvSpPr>
          <p:cNvPr id="286" name="Text 284"/>
          <p:cNvSpPr txBox="1"/>
          <p:nvPr/>
        </p:nvSpPr>
        <p:spPr>
          <a:xfrm>
            <a:off x="11320272" y="241401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156</a:t>
            </a:r>
            <a:endParaRPr lang="en-US" sz="1400" dirty="0"/>
          </a:p>
        </p:txBody>
      </p:sp>
      <p:sp>
        <p:nvSpPr>
          <p:cNvPr id="287" name="Shape 285"/>
          <p:cNvSpPr/>
          <p:nvPr/>
        </p:nvSpPr>
        <p:spPr>
          <a:xfrm>
            <a:off x="10025482" y="270662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88" name="Shape 286"/>
          <p:cNvSpPr/>
          <p:nvPr/>
        </p:nvSpPr>
        <p:spPr>
          <a:xfrm>
            <a:off x="10025482" y="2706624"/>
            <a:ext cx="14726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89" name="Text 287"/>
          <p:cNvSpPr txBox="1"/>
          <p:nvPr/>
        </p:nvSpPr>
        <p:spPr>
          <a:xfrm>
            <a:off x="10025482" y="279806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55,5% do setor</a:t>
            </a:r>
            <a:endParaRPr lang="en-US" sz="750" dirty="0"/>
          </a:p>
        </p:txBody>
      </p:sp>
      <p:sp>
        <p:nvSpPr>
          <p:cNvPr id="290" name="Shape 288"/>
          <p:cNvSpPr/>
          <p:nvPr/>
        </p:nvSpPr>
        <p:spPr>
          <a:xfrm>
            <a:off x="9641434" y="298094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1" name="Shape 289"/>
          <p:cNvSpPr/>
          <p:nvPr/>
        </p:nvSpPr>
        <p:spPr>
          <a:xfrm>
            <a:off x="9714586" y="305409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292" name="Text 290"/>
          <p:cNvSpPr txBox="1"/>
          <p:nvPr/>
        </p:nvSpPr>
        <p:spPr>
          <a:xfrm>
            <a:off x="9714586" y="305409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3" name="Text 291"/>
          <p:cNvSpPr txBox="1"/>
          <p:nvPr/>
        </p:nvSpPr>
        <p:spPr>
          <a:xfrm>
            <a:off x="10025482" y="300837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7742</a:t>
            </a:r>
            <a:endParaRPr lang="en-US" sz="1150" dirty="0"/>
          </a:p>
        </p:txBody>
      </p:sp>
      <p:sp>
        <p:nvSpPr>
          <p:cNvPr id="294" name="Text 292"/>
          <p:cNvSpPr txBox="1"/>
          <p:nvPr/>
        </p:nvSpPr>
        <p:spPr>
          <a:xfrm>
            <a:off x="11320272" y="29809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</a:t>
            </a:r>
            <a:endParaRPr lang="en-US" sz="1400" dirty="0"/>
          </a:p>
        </p:txBody>
      </p:sp>
      <p:sp>
        <p:nvSpPr>
          <p:cNvPr id="295" name="Shape 293"/>
          <p:cNvSpPr/>
          <p:nvPr/>
        </p:nvSpPr>
        <p:spPr>
          <a:xfrm>
            <a:off x="10025482" y="327355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296" name="Shape 294"/>
          <p:cNvSpPr/>
          <p:nvPr/>
        </p:nvSpPr>
        <p:spPr>
          <a:xfrm>
            <a:off x="10025482" y="3273552"/>
            <a:ext cx="14348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297" name="Text 295"/>
          <p:cNvSpPr txBox="1"/>
          <p:nvPr/>
        </p:nvSpPr>
        <p:spPr>
          <a:xfrm>
            <a:off x="10025482" y="336499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49,2% do setor</a:t>
            </a:r>
            <a:endParaRPr lang="en-US" sz="750" dirty="0"/>
          </a:p>
        </p:txBody>
      </p:sp>
      <p:sp>
        <p:nvSpPr>
          <p:cNvPr id="298" name="Shape 296"/>
          <p:cNvSpPr/>
          <p:nvPr/>
        </p:nvSpPr>
        <p:spPr>
          <a:xfrm>
            <a:off x="9641434" y="3547872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299" name="Shape 297"/>
          <p:cNvSpPr/>
          <p:nvPr/>
        </p:nvSpPr>
        <p:spPr>
          <a:xfrm>
            <a:off x="9714586" y="3621024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0" name="Text 298"/>
          <p:cNvSpPr txBox="1"/>
          <p:nvPr/>
        </p:nvSpPr>
        <p:spPr>
          <a:xfrm>
            <a:off x="9714586" y="36210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01" name="Text 299"/>
          <p:cNvSpPr txBox="1"/>
          <p:nvPr/>
        </p:nvSpPr>
        <p:spPr>
          <a:xfrm>
            <a:off x="10025482" y="3575304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5152</a:t>
            </a:r>
            <a:endParaRPr lang="en-US" sz="1150" dirty="0"/>
          </a:p>
        </p:txBody>
      </p:sp>
      <p:sp>
        <p:nvSpPr>
          <p:cNvPr id="302" name="Text 300"/>
          <p:cNvSpPr txBox="1"/>
          <p:nvPr/>
        </p:nvSpPr>
        <p:spPr>
          <a:xfrm>
            <a:off x="11320272" y="35478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149</a:t>
            </a:r>
            <a:endParaRPr lang="en-US" sz="1400" dirty="0"/>
          </a:p>
        </p:txBody>
      </p:sp>
      <p:sp>
        <p:nvSpPr>
          <p:cNvPr id="303" name="Shape 301"/>
          <p:cNvSpPr/>
          <p:nvPr/>
        </p:nvSpPr>
        <p:spPr>
          <a:xfrm>
            <a:off x="10025482" y="3840480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04" name="Shape 302"/>
          <p:cNvSpPr/>
          <p:nvPr/>
        </p:nvSpPr>
        <p:spPr>
          <a:xfrm>
            <a:off x="10025482" y="3840480"/>
            <a:ext cx="140655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05" name="Text 303"/>
          <p:cNvSpPr txBox="1"/>
          <p:nvPr/>
        </p:nvSpPr>
        <p:spPr>
          <a:xfrm>
            <a:off x="10025482" y="3931920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50,2% do setor</a:t>
            </a:r>
            <a:endParaRPr lang="en-US" sz="750" dirty="0"/>
          </a:p>
        </p:txBody>
      </p:sp>
      <p:sp>
        <p:nvSpPr>
          <p:cNvPr id="306" name="Shape 304"/>
          <p:cNvSpPr/>
          <p:nvPr/>
        </p:nvSpPr>
        <p:spPr>
          <a:xfrm>
            <a:off x="9641434" y="4114800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07" name="Shape 305"/>
          <p:cNvSpPr/>
          <p:nvPr/>
        </p:nvSpPr>
        <p:spPr>
          <a:xfrm>
            <a:off x="9714586" y="4187952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08" name="Text 306"/>
          <p:cNvSpPr txBox="1"/>
          <p:nvPr/>
        </p:nvSpPr>
        <p:spPr>
          <a:xfrm>
            <a:off x="9714586" y="4187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9" name="Text 307"/>
          <p:cNvSpPr txBox="1"/>
          <p:nvPr/>
        </p:nvSpPr>
        <p:spPr>
          <a:xfrm>
            <a:off x="10025482" y="4142232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5149</a:t>
            </a:r>
            <a:endParaRPr lang="en-US" sz="1150" dirty="0"/>
          </a:p>
        </p:txBody>
      </p:sp>
      <p:sp>
        <p:nvSpPr>
          <p:cNvPr id="310" name="Text 308"/>
          <p:cNvSpPr txBox="1"/>
          <p:nvPr/>
        </p:nvSpPr>
        <p:spPr>
          <a:xfrm>
            <a:off x="11320272" y="4114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146</a:t>
            </a:r>
            <a:endParaRPr lang="en-US" sz="1400" dirty="0"/>
          </a:p>
        </p:txBody>
      </p:sp>
      <p:sp>
        <p:nvSpPr>
          <p:cNvPr id="311" name="Shape 309"/>
          <p:cNvSpPr/>
          <p:nvPr/>
        </p:nvSpPr>
        <p:spPr>
          <a:xfrm>
            <a:off x="10025482" y="4407408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12" name="Shape 310"/>
          <p:cNvSpPr/>
          <p:nvPr/>
        </p:nvSpPr>
        <p:spPr>
          <a:xfrm>
            <a:off x="10025482" y="4407408"/>
            <a:ext cx="137823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13" name="Text 311"/>
          <p:cNvSpPr txBox="1"/>
          <p:nvPr/>
        </p:nvSpPr>
        <p:spPr>
          <a:xfrm>
            <a:off x="10025482" y="4498848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47,1% do setor</a:t>
            </a:r>
            <a:endParaRPr lang="en-US" sz="750" dirty="0"/>
          </a:p>
        </p:txBody>
      </p:sp>
      <p:sp>
        <p:nvSpPr>
          <p:cNvPr id="314" name="Shape 312"/>
          <p:cNvSpPr/>
          <p:nvPr/>
        </p:nvSpPr>
        <p:spPr>
          <a:xfrm>
            <a:off x="9641434" y="4681728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15" name="Shape 313"/>
          <p:cNvSpPr/>
          <p:nvPr/>
        </p:nvSpPr>
        <p:spPr>
          <a:xfrm>
            <a:off x="9714586" y="4754880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16" name="Text 314"/>
          <p:cNvSpPr txBox="1"/>
          <p:nvPr/>
        </p:nvSpPr>
        <p:spPr>
          <a:xfrm>
            <a:off x="9714586" y="475488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17" name="Text 315"/>
          <p:cNvSpPr txBox="1"/>
          <p:nvPr/>
        </p:nvSpPr>
        <p:spPr>
          <a:xfrm>
            <a:off x="10025482" y="4709160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7741</a:t>
            </a:r>
            <a:endParaRPr lang="en-US" sz="1150" dirty="0"/>
          </a:p>
        </p:txBody>
      </p:sp>
      <p:sp>
        <p:nvSpPr>
          <p:cNvPr id="318" name="Text 316"/>
          <p:cNvSpPr txBox="1"/>
          <p:nvPr/>
        </p:nvSpPr>
        <p:spPr>
          <a:xfrm>
            <a:off x="11320272" y="46817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400" dirty="0"/>
          </a:p>
        </p:txBody>
      </p:sp>
      <p:sp>
        <p:nvSpPr>
          <p:cNvPr id="319" name="Shape 317"/>
          <p:cNvSpPr/>
          <p:nvPr/>
        </p:nvSpPr>
        <p:spPr>
          <a:xfrm>
            <a:off x="10025482" y="4974336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0" name="Shape 318"/>
          <p:cNvSpPr/>
          <p:nvPr/>
        </p:nvSpPr>
        <p:spPr>
          <a:xfrm>
            <a:off x="10025482" y="4974336"/>
            <a:ext cx="115167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1" name="Text 319"/>
          <p:cNvSpPr txBox="1"/>
          <p:nvPr/>
        </p:nvSpPr>
        <p:spPr>
          <a:xfrm>
            <a:off x="10025482" y="5065776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43,0% do setor</a:t>
            </a:r>
            <a:endParaRPr lang="en-US" sz="750" dirty="0"/>
          </a:p>
        </p:txBody>
      </p:sp>
      <p:sp>
        <p:nvSpPr>
          <p:cNvPr id="322" name="Shape 320"/>
          <p:cNvSpPr/>
          <p:nvPr/>
        </p:nvSpPr>
        <p:spPr>
          <a:xfrm>
            <a:off x="9641434" y="5248656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23" name="Shape 321"/>
          <p:cNvSpPr/>
          <p:nvPr/>
        </p:nvSpPr>
        <p:spPr>
          <a:xfrm>
            <a:off x="9714586" y="5321808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24" name="Text 322"/>
          <p:cNvSpPr txBox="1"/>
          <p:nvPr/>
        </p:nvSpPr>
        <p:spPr>
          <a:xfrm>
            <a:off x="9714586" y="532180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325" name="Text 323"/>
          <p:cNvSpPr txBox="1"/>
          <p:nvPr/>
        </p:nvSpPr>
        <p:spPr>
          <a:xfrm>
            <a:off x="10025482" y="5276088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5153</a:t>
            </a:r>
            <a:endParaRPr lang="en-US" sz="1150" dirty="0"/>
          </a:p>
        </p:txBody>
      </p:sp>
      <p:sp>
        <p:nvSpPr>
          <p:cNvPr id="326" name="Text 324"/>
          <p:cNvSpPr txBox="1"/>
          <p:nvPr/>
        </p:nvSpPr>
        <p:spPr>
          <a:xfrm>
            <a:off x="11320272" y="5248656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400" dirty="0"/>
          </a:p>
        </p:txBody>
      </p:sp>
      <p:sp>
        <p:nvSpPr>
          <p:cNvPr id="327" name="Shape 325"/>
          <p:cNvSpPr/>
          <p:nvPr/>
        </p:nvSpPr>
        <p:spPr>
          <a:xfrm>
            <a:off x="10025482" y="5541264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28" name="Shape 326"/>
          <p:cNvSpPr/>
          <p:nvPr/>
        </p:nvSpPr>
        <p:spPr>
          <a:xfrm>
            <a:off x="10025482" y="5541264"/>
            <a:ext cx="70799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29" name="Text 327"/>
          <p:cNvSpPr txBox="1"/>
          <p:nvPr/>
        </p:nvSpPr>
        <p:spPr>
          <a:xfrm>
            <a:off x="10025482" y="5632704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26,1% do setor</a:t>
            </a:r>
            <a:endParaRPr lang="en-US" sz="750" dirty="0"/>
          </a:p>
        </p:txBody>
      </p:sp>
      <p:sp>
        <p:nvSpPr>
          <p:cNvPr id="330" name="Shape 328"/>
          <p:cNvSpPr/>
          <p:nvPr/>
        </p:nvSpPr>
        <p:spPr>
          <a:xfrm>
            <a:off x="9641434" y="5815584"/>
            <a:ext cx="2181758" cy="512064"/>
          </a:xfrm>
          <a:prstGeom prst="roundRect">
            <a:avLst>
              <a:gd name="adj" fmla="val 8929"/>
            </a:avLst>
          </a:prstGeom>
          <a:solidFill>
            <a:srgbClr val="F5F6F8"/>
          </a:solidFill>
          <a:ln/>
        </p:spPr>
      </p:sp>
      <p:sp>
        <p:nvSpPr>
          <p:cNvPr id="331" name="Shape 329"/>
          <p:cNvSpPr/>
          <p:nvPr/>
        </p:nvSpPr>
        <p:spPr>
          <a:xfrm>
            <a:off x="9714586" y="5888736"/>
            <a:ext cx="256032" cy="256032"/>
          </a:xfrm>
          <a:prstGeom prst="ellipse">
            <a:avLst/>
          </a:prstGeom>
          <a:solidFill>
            <a:srgbClr val="52B788"/>
          </a:solidFill>
          <a:ln/>
        </p:spPr>
      </p:sp>
      <p:sp>
        <p:nvSpPr>
          <p:cNvPr id="332" name="Text 330"/>
          <p:cNvSpPr txBox="1"/>
          <p:nvPr/>
        </p:nvSpPr>
        <p:spPr>
          <a:xfrm>
            <a:off x="9714586" y="58887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333" name="Text 331"/>
          <p:cNvSpPr txBox="1"/>
          <p:nvPr/>
        </p:nvSpPr>
        <p:spPr>
          <a:xfrm>
            <a:off x="10025482" y="5843016"/>
            <a:ext cx="12947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Setor 7745</a:t>
            </a:r>
            <a:endParaRPr lang="en-US" sz="1150" dirty="0"/>
          </a:p>
        </p:txBody>
      </p:sp>
      <p:sp>
        <p:nvSpPr>
          <p:cNvPr id="334" name="Text 332"/>
          <p:cNvSpPr txBox="1"/>
          <p:nvPr/>
        </p:nvSpPr>
        <p:spPr>
          <a:xfrm>
            <a:off x="11320272" y="581558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2B7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400" dirty="0"/>
          </a:p>
        </p:txBody>
      </p:sp>
      <p:sp>
        <p:nvSpPr>
          <p:cNvPr id="335" name="Shape 333"/>
          <p:cNvSpPr/>
          <p:nvPr/>
        </p:nvSpPr>
        <p:spPr>
          <a:xfrm>
            <a:off x="10025482" y="6108192"/>
            <a:ext cx="1633118" cy="82296"/>
          </a:xfrm>
          <a:prstGeom prst="roundRect">
            <a:avLst>
              <a:gd name="adj" fmla="val 22222"/>
            </a:avLst>
          </a:prstGeom>
          <a:solidFill>
            <a:srgbClr val="E1E4E8"/>
          </a:solidFill>
          <a:ln/>
        </p:spPr>
      </p:sp>
      <p:sp>
        <p:nvSpPr>
          <p:cNvPr id="336" name="Shape 334"/>
          <p:cNvSpPr/>
          <p:nvPr/>
        </p:nvSpPr>
        <p:spPr>
          <a:xfrm>
            <a:off x="10025482" y="6108192"/>
            <a:ext cx="689119" cy="82296"/>
          </a:xfrm>
          <a:prstGeom prst="roundRect">
            <a:avLst>
              <a:gd name="adj" fmla="val 22222"/>
            </a:avLst>
          </a:prstGeom>
          <a:solidFill>
            <a:srgbClr val="52B788"/>
          </a:solidFill>
          <a:ln/>
        </p:spPr>
      </p:sp>
      <p:sp>
        <p:nvSpPr>
          <p:cNvPr id="337" name="Text 335"/>
          <p:cNvSpPr txBox="1"/>
          <p:nvPr/>
        </p:nvSpPr>
        <p:spPr>
          <a:xfrm>
            <a:off x="10025482" y="6199632"/>
            <a:ext cx="17062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25,5% do setor</a:t>
            </a:r>
            <a:endParaRPr lang="en-US" sz="750" dirty="0"/>
          </a:p>
        </p:txBody>
      </p:sp>
      <p:sp>
        <p:nvSpPr>
          <p:cNvPr id="338" name="Text 336"/>
          <p:cNvSpPr txBox="1"/>
          <p:nvPr/>
        </p:nvSpPr>
        <p:spPr>
          <a:xfrm>
            <a:off x="365760" y="6656832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"% do setor" = participação da CAT no total de médicos classificados (CAT 1 a 5) daquele setor.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28600"/>
            <a:ext cx="114574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MÉDICO</a:t>
            </a:r>
            <a:pPr algn="l" indent="0" marL="0">
              <a:buNone/>
            </a:pPr>
            <a:r>
              <a:rPr lang="en-US" sz="3000" b="1" dirty="0">
                <a:solidFill>
                  <a:srgbClr val="6A4C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DISTRITAL 1880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65836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Compilado Geral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365760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2.343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classificados no painel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261104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261104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79,5%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398264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já prescrevem EUF (MAT)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56448" y="1051560"/>
            <a:ext cx="3666744" cy="1188720"/>
          </a:xfrm>
          <a:prstGeom prst="roundRect">
            <a:avLst>
              <a:gd name="adj" fmla="val 6154"/>
            </a:avLst>
          </a:prstGeom>
          <a:solidFill>
            <a:srgbClr val="F5F6F8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56448" y="1188720"/>
            <a:ext cx="36667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29,0%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1783080"/>
            <a:ext cx="339242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painel são CAT 1, 2 ou 3 (680 médicos)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2350008"/>
            <a:ext cx="11457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Distribuição por CAT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65760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D62839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1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3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4,5% do painel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2684678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F3A712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2794406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2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2776118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224</a:t>
            </a:r>
            <a:endParaRPr lang="en-US" sz="3200" dirty="0"/>
          </a:p>
        </p:txBody>
      </p:sp>
      <p:sp>
        <p:nvSpPr>
          <p:cNvPr id="21" name="Text 19"/>
          <p:cNvSpPr txBox="1"/>
          <p:nvPr/>
        </p:nvSpPr>
        <p:spPr>
          <a:xfrm>
            <a:off x="2776118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9,6% do painel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003597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2A9D8F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5113325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3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5095037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351</a:t>
            </a:r>
            <a:endParaRPr lang="en-US" sz="3200" dirty="0"/>
          </a:p>
        </p:txBody>
      </p:sp>
      <p:sp>
        <p:nvSpPr>
          <p:cNvPr id="25" name="Text 23"/>
          <p:cNvSpPr txBox="1"/>
          <p:nvPr/>
        </p:nvSpPr>
        <p:spPr>
          <a:xfrm>
            <a:off x="5095037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15,0% do painel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322515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6A4C93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7432243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7413955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617</a:t>
            </a:r>
            <a:endParaRPr lang="en-US" sz="3200" dirty="0"/>
          </a:p>
        </p:txBody>
      </p:sp>
      <p:sp>
        <p:nvSpPr>
          <p:cNvPr id="29" name="Text 27"/>
          <p:cNvSpPr txBox="1"/>
          <p:nvPr/>
        </p:nvSpPr>
        <p:spPr>
          <a:xfrm>
            <a:off x="7413955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26,3% do painel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641434" y="2697480"/>
            <a:ext cx="2181758" cy="2286000"/>
          </a:xfrm>
          <a:prstGeom prst="roundRect">
            <a:avLst>
              <a:gd name="adj" fmla="val 3353"/>
            </a:avLst>
          </a:prstGeom>
          <a:solidFill>
            <a:srgbClr val="52B788"/>
          </a:solidFill>
          <a:ln/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9751162" y="2843784"/>
            <a:ext cx="196230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 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9732874" y="3319272"/>
            <a:ext cx="199887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1.046</a:t>
            </a:r>
            <a:endParaRPr lang="en-US" sz="3200" dirty="0"/>
          </a:p>
        </p:txBody>
      </p:sp>
      <p:sp>
        <p:nvSpPr>
          <p:cNvPr id="33" name="Text 31"/>
          <p:cNvSpPr txBox="1"/>
          <p:nvPr/>
        </p:nvSpPr>
        <p:spPr>
          <a:xfrm>
            <a:off x="9732874" y="4572000"/>
            <a:ext cx="19988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44,6% do painel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65760" y="5257800"/>
            <a:ext cx="11457432" cy="1234440"/>
          </a:xfrm>
          <a:prstGeom prst="roundRect">
            <a:avLst>
              <a:gd name="adj" fmla="val 5926"/>
            </a:avLst>
          </a:prstGeom>
          <a:solidFill>
            <a:srgbClr val="1D3557"/>
          </a:solidFill>
          <a:ln/>
          <a:effectLst>
            <a:outerShdw sx="100000" sy="100000" kx="0" ky="0" algn="bl" rotWithShape="0" blurRad="101600" dist="38100" dir="5400000">
              <a:srgbClr val="000000">
                <a:alpha val="20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40080" y="539496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REPRESENTATIVIDADE DOS PRESCRITORES · CAT 1 + 2 + 3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40080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680</a:t>
            </a:r>
            <a:endParaRPr lang="en-US" sz="3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médicos nas CAT 1, 2 e 3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4276344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99,7%</a:t>
            </a:r>
            <a:endParaRPr lang="en-US" sz="3200" dirty="0"/>
          </a:p>
        </p:txBody>
      </p:sp>
      <p:sp>
        <p:nvSpPr>
          <p:cNvPr id="39" name="Text 37"/>
          <p:cNvSpPr txBox="1"/>
          <p:nvPr/>
        </p:nvSpPr>
        <p:spPr>
          <a:xfrm>
            <a:off x="4276344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prescrevem EUF dentro do grupo (678 médicos)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12608" y="5623560"/>
            <a:ext cx="34076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36,4%</a:t>
            </a:r>
            <a:endParaRPr lang="en-US" sz="3200" dirty="0"/>
          </a:p>
        </p:txBody>
      </p:sp>
      <p:sp>
        <p:nvSpPr>
          <p:cNvPr id="41" name="Text 39"/>
          <p:cNvSpPr txBox="1"/>
          <p:nvPr/>
        </p:nvSpPr>
        <p:spPr>
          <a:xfrm>
            <a:off x="7912608" y="6099048"/>
            <a:ext cx="3407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todos os prescritores da distrital estão nesse grupo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365760" y="6583680"/>
            <a:ext cx="114574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Base: 2.551 profissionais cadastrados na planilha, sendo 208 sem CAT classificada (não incluídos neste compilado).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2026-08-31T13:53:28Z</dcterms:created>
  <dcterms:modified xsi:type="dcterms:W3CDTF">2026-08-31T13:53:28Z</dcterms:modified>
</cp:coreProperties>
</file>