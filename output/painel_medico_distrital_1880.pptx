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3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23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7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7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23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7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7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7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23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2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7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7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80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7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80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80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80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23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2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7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80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7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80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7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80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7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80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7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80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7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80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7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80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7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80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classificados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276344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4276344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12608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36,4%</a:t>
            </a:r>
            <a:endParaRPr lang="en-US" sz="3200" dirty="0"/>
          </a:p>
        </p:txBody>
      </p:sp>
      <p:sp>
        <p:nvSpPr>
          <p:cNvPr id="41" name="Text 39"/>
          <p:cNvSpPr txBox="1"/>
          <p:nvPr/>
        </p:nvSpPr>
        <p:spPr>
          <a:xfrm>
            <a:off x="7912608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todos os prescritores da distrital estão nesse grupo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profissionais cadastrados na planilha, sendo 208 sem CAT classificada (não incluídos neste compilado).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MERCADO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mercados prioritários (maior representatividade x maior gap vs. líder)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total da distrital (YTD)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44,4%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faturamento concentrado nesses 5 mercados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R$ 13,1M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gap identificado frente aos líderes desses mercados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051560"/>
                <a:gridCol w="960120"/>
                <a:gridCol w="914400"/>
                <a:gridCol w="731520"/>
                <a:gridCol w="2331720"/>
                <a:gridCol w="14447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(YTD)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de 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(R$)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R$ 7.799.473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Mecobe  (51,5%)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R$ 3.937.523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R$ 3.096.329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Ansitec  (93,1%)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R$ 2.666.056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MELOCOX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R$ 3.501.884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Flancox  (74,4%)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R$ 2.464.684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SINOT CLAV CPR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R$ 3.346.310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Clavulin Bd  (75,6%)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R$ 2.160.246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EBASTEL XAROPE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R$ 3.477.589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Allegra  (61,9%)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R$ 1.883.228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5486400"/>
            <a:ext cx="11457432" cy="868680"/>
          </a:xfrm>
          <a:prstGeom prst="roundRect">
            <a:avLst>
              <a:gd name="adj" fmla="val 8421"/>
            </a:avLst>
          </a:prstGeom>
          <a:solidFill>
            <a:srgbClr val="F0F7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5961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onde a Eurofarma já é líder: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 XR (89,9%, +6,6%), PONDERA (55,8%, -13,4%), AMATO (72,1%, -11,7%), TAMIRAM (64,8%, -23,8%). Vários estão em queda de mercado — priorizar defesa de share além da conquista nos 5 mercados acima.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vs. líder = tamanho do mercado (YTD) × diferença de share entre o líder e a Eurofarma. Fonte: DETALHE_92 (mercado montado, ordenado do maior para o menor).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SETORES PRIORITÁRIOS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DISTRITAL 1880  ·  3º quadrimestre (setembro a dezembro/2026)  ·  mapa resumo por setor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D628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D62839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81328"/>
            <a:ext cx="3666744" cy="393192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 — MILLER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R$ 3.255.523   ·   61 médicos CAT 1-3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gap de mercado da distrital nos 5 mercados-foco: R$ 3,26M não capturados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EUF médio de apenas 3,3% nesses mercados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61 médicos CAT 1-3 mapeados — o setor com MENOS potencial identificado no painel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classificação de potencial médico do setor (indício de potencial não mapeado)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DOZI, STIMA e EBASTEL XAROPE no ciclo de visitas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Reforçar amostras/material clínico junto à base já prescritora, para fidelização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61104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6A4C9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6A4C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261104" y="1481328"/>
            <a:ext cx="3666744" cy="393192"/>
          </a:xfrm>
          <a:prstGeom prst="rect">
            <a:avLst/>
          </a:prstGeom>
          <a:solidFill>
            <a:srgbClr val="6A4C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25696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 — MARCELLE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25696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R$ 3.070.172   ·   127 médicos CAT 1-3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25696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maior gap (R$ 3,07M) e 2º maior nº de médicos CAT 1-3 (127) — prioridade dupla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concentração de gap em DOZI e SINOT CLAV CPR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é o setor com maior representatividade de médicos de alto potencial no painel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25696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25696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25696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total em DOZI e SINOT CLAV CPR nas visitas aos 127 médicos CAT 1-3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Argumentário comparativo vs. líderes (Mecobe/Clavulin BD) para conversão de share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quinzenal da evolução de share nesses 2 mercados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56448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2A9D8F"/>
          </a:solidFill>
          <a:ln/>
        </p:spPr>
      </p:sp>
      <p:sp>
        <p:nvSpPr>
          <p:cNvPr id="26" name="Shape 24"/>
          <p:cNvSpPr/>
          <p:nvPr/>
        </p:nvSpPr>
        <p:spPr>
          <a:xfrm>
            <a:off x="8156448" y="1481328"/>
            <a:ext cx="3666744" cy="3931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 — EDUARDO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R$ 2.783.681   ·   65 médicos CAT 1-3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maior gap (R$ 2,78M), concentrado em MELOCOX e STIMA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ainda baixo (3,2%) apesar do crescimento de MELOCOX (+89% no período)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médicos CAT 1-3 mapeados no painel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21040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 dirigido de MELOCOX (maior momentum de crescimento) e STIMA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visitas focado em médicos que já prescrevem outras linhas EUF (cross-sell)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concorrente líder ANSITEC (93% de share em STIMA) para argumentação diferenciada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662940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combina o gap de mercado (DETALHE_92) nos 5 mercados-foco com a densidade de médicos CAT 1-3 do painel (painel_distrital).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SMART</a:t>
            </a:r>
            <a:pPr algn="l" indent="0" marL="0">
              <a:buNone/>
            </a:pPr>
            <a:r>
              <a:rPr lang="en-US" sz="2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SÍNTESE DISTRITAL 1880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94360"/>
            <a:ext cx="11457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quadrimestre 2026 (setembro a dezembro)  ·  base: painel_distrital + DETALHE_92 (mercado montado)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1D35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ATUAL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53312"/>
            <a:ext cx="55001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 em faturamento (YTD), 41 mercados DDD monitorados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 médicos classificados; 680 (29,0%) nas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EUF: 79,5% geral e 99,7% entre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mercados = 44,4% do faturamento e R$ 13,1M de gap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2A9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68796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IDENTIFICADA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1636" y="1353312"/>
            <a:ext cx="5591556" cy="1069848"/>
          </a:xfrm>
          <a:prstGeom prst="roundRect">
            <a:avLst>
              <a:gd name="adj" fmla="val 5128"/>
            </a:avLst>
          </a:prstGeom>
          <a:solidFill>
            <a:srgbClr val="F5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96228" y="1463040"/>
            <a:ext cx="52623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penetração de 99,7% entre CAT 1-3 mostra que a barreira não é confiança na marca — é participação por SKU. Nos 5 mercados-foco a Eurofarma tem share de 1,0% a 11,1%. Os setores 5613, 5153 e 7742 concentram R$ 9,1M desse gap.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F3A7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2532888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PROPOSTAS PARA O 3º QUADRIMESTRE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9864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394960"/>
                <a:gridCol w="3593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de sucesso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DOZI / SINOT CLAV / STIMA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as 3 marcas nas visitas aos setores 5613, 5153 e 7742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de share mensal por mercado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na base fiel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Detalhar novas linhas EUF para médicos que já prescrevem a marca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médicos com 2+ marcas EUF prescritas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de potencial — Setor 5613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Reclassificar médicos com maior gap e menor densidade CAT 1-3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médicos CAT 1-3 identificados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Defesa dos mercados líderes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PONDERA XR, AMATO e TAMIRAM — líderes em mercados que encolhem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do share líder (&gt; 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4599432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D6283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45994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 (META DO 3º QUADRIMESTRE)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R$ 0,9M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captura (10% do gap nos 3 setores foco)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3275838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275838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348990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prioritários (5613, 5153, 7742)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185916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85916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mercados-foco (DOZI, STIMA, MELOCOX, SINOT CLAV CPR, EBASTEL XPE)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9095994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95994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169146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CAT 1-3 endereçados nos setores foco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65760" y="5669280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52B78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5669280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PARA EXECUÇÃO E ACOMPANHAMENTO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65760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200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SET/26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+ revisão de potencial (setor 5613)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264408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55848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OUT/26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355848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1 — foco DOZI, SINOT CLAV e STIMA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163056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254496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NOV/26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254496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intermediária de share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9061704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153144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DEZ/26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9153144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e consolidado de resultados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365760" y="653796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ilustrativa (10% do gap identificado) — referência para acompanhamento, a validar com a gestão comercial.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2026-08-31T16:09:41Z</dcterms:created>
  <dcterms:modified xsi:type="dcterms:W3CDTF">2026-08-31T16:09:41Z</dcterms:modified>
</cp:coreProperties>
</file>