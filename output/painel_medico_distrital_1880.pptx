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Médicos</c:v>
                </c:pt>
              </c:strCache>
            </c:strRef>
          </c:tx>
          <c:spPr>
            <a:solidFill>
              <a:srgbClr val="1D35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355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Setor 7745</c:v>
                  </c:pt>
                  <c:pt idx="1">
                    <c:v>Setor 7741</c:v>
                  </c:pt>
                  <c:pt idx="2">
                    <c:v>Setor 5613</c:v>
                  </c:pt>
                  <c:pt idx="3">
                    <c:v>Setor 7748</c:v>
                  </c:pt>
                  <c:pt idx="4">
                    <c:v>Setor 5152</c:v>
                  </c:pt>
                  <c:pt idx="5">
                    <c:v>Setor 5153</c:v>
                  </c:pt>
                  <c:pt idx="6">
                    <c:v>Setor 5149</c:v>
                  </c:pt>
                  <c:pt idx="7">
                    <c:v>Setor 7742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303</c:v>
                </c:pt>
                <c:pt idx="1">
                  <c:v>305</c:v>
                </c:pt>
                <c:pt idx="2">
                  <c:v>311</c:v>
                </c:pt>
                <c:pt idx="3">
                  <c:v>317</c:v>
                </c:pt>
                <c:pt idx="4">
                  <c:v>318</c:v>
                </c:pt>
                <c:pt idx="5">
                  <c:v>327</c:v>
                </c:pt>
                <c:pt idx="6">
                  <c:v>333</c:v>
                </c:pt>
                <c:pt idx="7">
                  <c:v>337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D355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3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5488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médicos no painel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92024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44598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8,7% do setor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48716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044598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2706624"/>
            <a:ext cx="130649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6,5% do setor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05409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2044598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49808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" y="3273552"/>
            <a:ext cx="117584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 do setor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5760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38912" y="3621024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044598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49808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3840480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9808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4,0% do setor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5760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" y="4187952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044598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749808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44" name="Shape 42"/>
          <p:cNvSpPr/>
          <p:nvPr/>
        </p:nvSpPr>
        <p:spPr>
          <a:xfrm>
            <a:off x="749808" y="4407408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75488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38912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2044598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749808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52" name="Shape 50"/>
          <p:cNvSpPr/>
          <p:nvPr/>
        </p:nvSpPr>
        <p:spPr>
          <a:xfrm>
            <a:off x="749808" y="4974336"/>
            <a:ext cx="457273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9808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2,3% do setor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65760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912" y="532180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38912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49808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044598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749808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808" y="5541264"/>
            <a:ext cx="39194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9808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 do setor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65760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63" name="Shape 61"/>
          <p:cNvSpPr/>
          <p:nvPr/>
        </p:nvSpPr>
        <p:spPr>
          <a:xfrm>
            <a:off x="438912" y="588873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3891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2044598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749808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" y="6108192"/>
            <a:ext cx="326624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49808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1,7% do setor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684678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2794406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2300" dirty="0"/>
          </a:p>
        </p:txBody>
      </p:sp>
      <p:sp>
        <p:nvSpPr>
          <p:cNvPr id="72" name="Text 70"/>
          <p:cNvSpPr txBox="1"/>
          <p:nvPr/>
        </p:nvSpPr>
        <p:spPr>
          <a:xfrm>
            <a:off x="2794406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médicos no painel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2684678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4" name="Shape 72"/>
          <p:cNvSpPr/>
          <p:nvPr/>
        </p:nvSpPr>
        <p:spPr>
          <a:xfrm>
            <a:off x="2757830" y="192024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757830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3068726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77" name="Text 75"/>
          <p:cNvSpPr txBox="1"/>
          <p:nvPr/>
        </p:nvSpPr>
        <p:spPr>
          <a:xfrm>
            <a:off x="4363517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700" dirty="0"/>
          </a:p>
        </p:txBody>
      </p:sp>
      <p:sp>
        <p:nvSpPr>
          <p:cNvPr id="78" name="Shape 76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79" name="Shape 77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68726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17,8% do setor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2684678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82" name="Shape 80"/>
          <p:cNvSpPr/>
          <p:nvPr/>
        </p:nvSpPr>
        <p:spPr>
          <a:xfrm>
            <a:off x="2757830" y="248716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75783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3068726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85" name="Text 83"/>
          <p:cNvSpPr txBox="1"/>
          <p:nvPr/>
        </p:nvSpPr>
        <p:spPr>
          <a:xfrm>
            <a:off x="4363517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86" name="Shape 84"/>
          <p:cNvSpPr/>
          <p:nvPr/>
        </p:nvSpPr>
        <p:spPr>
          <a:xfrm>
            <a:off x="3068726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87" name="Shape 85"/>
          <p:cNvSpPr/>
          <p:nvPr/>
        </p:nvSpPr>
        <p:spPr>
          <a:xfrm>
            <a:off x="3068726" y="2706624"/>
            <a:ext cx="1440987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3068726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15,7% do setor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2684678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757830" y="305409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5783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3068726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93" name="Text 91"/>
          <p:cNvSpPr txBox="1"/>
          <p:nvPr/>
        </p:nvSpPr>
        <p:spPr>
          <a:xfrm>
            <a:off x="4363517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700" dirty="0"/>
          </a:p>
        </p:txBody>
      </p:sp>
      <p:sp>
        <p:nvSpPr>
          <p:cNvPr id="94" name="Shape 92"/>
          <p:cNvSpPr/>
          <p:nvPr/>
        </p:nvSpPr>
        <p:spPr>
          <a:xfrm>
            <a:off x="3068726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95" name="Shape 93"/>
          <p:cNvSpPr/>
          <p:nvPr/>
        </p:nvSpPr>
        <p:spPr>
          <a:xfrm>
            <a:off x="3068726" y="3273552"/>
            <a:ext cx="89661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068726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9,0% do setor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2684678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8" name="Shape 96"/>
          <p:cNvSpPr/>
          <p:nvPr/>
        </p:nvSpPr>
        <p:spPr>
          <a:xfrm>
            <a:off x="2757830" y="3621024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757830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068726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101" name="Text 99"/>
          <p:cNvSpPr txBox="1"/>
          <p:nvPr/>
        </p:nvSpPr>
        <p:spPr>
          <a:xfrm>
            <a:off x="4363517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700" dirty="0"/>
          </a:p>
        </p:txBody>
      </p:sp>
      <p:sp>
        <p:nvSpPr>
          <p:cNvPr id="102" name="Shape 100"/>
          <p:cNvSpPr/>
          <p:nvPr/>
        </p:nvSpPr>
        <p:spPr>
          <a:xfrm>
            <a:off x="3068726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068726" y="3840480"/>
            <a:ext cx="768526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068726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do setor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2684678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7830" y="4187952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75783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3068726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109" name="Text 107"/>
          <p:cNvSpPr txBox="1"/>
          <p:nvPr/>
        </p:nvSpPr>
        <p:spPr>
          <a:xfrm>
            <a:off x="4363517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110" name="Shape 108"/>
          <p:cNvSpPr/>
          <p:nvPr/>
        </p:nvSpPr>
        <p:spPr>
          <a:xfrm>
            <a:off x="3068726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68726" y="4407408"/>
            <a:ext cx="73650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068726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 do setor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2684678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57830" y="475488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75783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3068726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117" name="Text 115"/>
          <p:cNvSpPr txBox="1"/>
          <p:nvPr/>
        </p:nvSpPr>
        <p:spPr>
          <a:xfrm>
            <a:off x="4363517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700" dirty="0"/>
          </a:p>
        </p:txBody>
      </p:sp>
      <p:sp>
        <p:nvSpPr>
          <p:cNvPr id="118" name="Shape 116"/>
          <p:cNvSpPr/>
          <p:nvPr/>
        </p:nvSpPr>
        <p:spPr>
          <a:xfrm>
            <a:off x="3068726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68726" y="4974336"/>
            <a:ext cx="704482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068726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7,7% do setor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2684678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7830" y="532180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757830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3068726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125" name="Text 123"/>
          <p:cNvSpPr txBox="1"/>
          <p:nvPr/>
        </p:nvSpPr>
        <p:spPr>
          <a:xfrm>
            <a:off x="4363517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126" name="Shape 124"/>
          <p:cNvSpPr/>
          <p:nvPr/>
        </p:nvSpPr>
        <p:spPr>
          <a:xfrm>
            <a:off x="3068726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68726" y="5541264"/>
            <a:ext cx="57639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068726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6,1% do setor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2684678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57830" y="588873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2757830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3068726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133" name="Text 131"/>
          <p:cNvSpPr txBox="1"/>
          <p:nvPr/>
        </p:nvSpPr>
        <p:spPr>
          <a:xfrm>
            <a:off x="4363517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700" dirty="0"/>
          </a:p>
        </p:txBody>
      </p:sp>
      <p:sp>
        <p:nvSpPr>
          <p:cNvPr id="134" name="Shape 132"/>
          <p:cNvSpPr/>
          <p:nvPr/>
        </p:nvSpPr>
        <p:spPr>
          <a:xfrm>
            <a:off x="3068726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68726" y="6108192"/>
            <a:ext cx="41628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3068726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5003597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8" name="Text 136"/>
          <p:cNvSpPr txBox="1"/>
          <p:nvPr/>
        </p:nvSpPr>
        <p:spPr>
          <a:xfrm>
            <a:off x="5113325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2300" dirty="0"/>
          </a:p>
        </p:txBody>
      </p:sp>
      <p:sp>
        <p:nvSpPr>
          <p:cNvPr id="139" name="Text 137"/>
          <p:cNvSpPr txBox="1"/>
          <p:nvPr/>
        </p:nvSpPr>
        <p:spPr>
          <a:xfrm>
            <a:off x="5113325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médicos no painel</a:t>
            </a:r>
            <a:endParaRPr lang="en-US" sz="1250" dirty="0"/>
          </a:p>
        </p:txBody>
      </p:sp>
      <p:sp>
        <p:nvSpPr>
          <p:cNvPr id="140" name="Shape 138"/>
          <p:cNvSpPr/>
          <p:nvPr/>
        </p:nvSpPr>
        <p:spPr>
          <a:xfrm>
            <a:off x="5003597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076749" y="192024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076749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5387645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144" name="Text 142"/>
          <p:cNvSpPr txBox="1"/>
          <p:nvPr/>
        </p:nvSpPr>
        <p:spPr>
          <a:xfrm>
            <a:off x="6682435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145" name="Shape 143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387645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5003597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076749" y="248716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076749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5387645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152" name="Text 150"/>
          <p:cNvSpPr txBox="1"/>
          <p:nvPr/>
        </p:nvSpPr>
        <p:spPr>
          <a:xfrm>
            <a:off x="6682435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700" dirty="0"/>
          </a:p>
        </p:txBody>
      </p:sp>
      <p:sp>
        <p:nvSpPr>
          <p:cNvPr id="153" name="Shape 151"/>
          <p:cNvSpPr/>
          <p:nvPr/>
        </p:nvSpPr>
        <p:spPr>
          <a:xfrm>
            <a:off x="5387645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387645" y="2706624"/>
            <a:ext cx="129288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387645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19,9% do setor</a:t>
            </a:r>
            <a:endParaRPr lang="en-US" sz="800" dirty="0"/>
          </a:p>
        </p:txBody>
      </p:sp>
      <p:sp>
        <p:nvSpPr>
          <p:cNvPr id="156" name="Shape 154"/>
          <p:cNvSpPr/>
          <p:nvPr/>
        </p:nvSpPr>
        <p:spPr>
          <a:xfrm>
            <a:off x="5003597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076749" y="305409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076749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5387645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160" name="Text 158"/>
          <p:cNvSpPr txBox="1"/>
          <p:nvPr/>
        </p:nvSpPr>
        <p:spPr>
          <a:xfrm>
            <a:off x="6682435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1" name="Shape 159"/>
          <p:cNvSpPr/>
          <p:nvPr/>
        </p:nvSpPr>
        <p:spPr>
          <a:xfrm>
            <a:off x="5387645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387645" y="3273552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387645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14,5% do setor</a:t>
            </a:r>
            <a:endParaRPr lang="en-US" sz="800" dirty="0"/>
          </a:p>
        </p:txBody>
      </p:sp>
      <p:sp>
        <p:nvSpPr>
          <p:cNvPr id="164" name="Shape 162"/>
          <p:cNvSpPr/>
          <p:nvPr/>
        </p:nvSpPr>
        <p:spPr>
          <a:xfrm>
            <a:off x="5003597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076749" y="3621024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6749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5387645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168" name="Text 166"/>
          <p:cNvSpPr txBox="1"/>
          <p:nvPr/>
        </p:nvSpPr>
        <p:spPr>
          <a:xfrm>
            <a:off x="6682435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9" name="Shape 167"/>
          <p:cNvSpPr/>
          <p:nvPr/>
        </p:nvSpPr>
        <p:spPr>
          <a:xfrm>
            <a:off x="5387645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387645" y="3840480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387645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14,6% do setor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5003597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76749" y="4187952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076749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5387645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176" name="Text 174"/>
          <p:cNvSpPr txBox="1"/>
          <p:nvPr/>
        </p:nvSpPr>
        <p:spPr>
          <a:xfrm>
            <a:off x="6682435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700" dirty="0"/>
          </a:p>
        </p:txBody>
      </p:sp>
      <p:sp>
        <p:nvSpPr>
          <p:cNvPr id="177" name="Shape 175"/>
          <p:cNvSpPr/>
          <p:nvPr/>
        </p:nvSpPr>
        <p:spPr>
          <a:xfrm>
            <a:off x="5387645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387645" y="4407408"/>
            <a:ext cx="97533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387645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15,1% do setor</a:t>
            </a:r>
            <a:endParaRPr lang="en-US" sz="800" dirty="0"/>
          </a:p>
        </p:txBody>
      </p:sp>
      <p:sp>
        <p:nvSpPr>
          <p:cNvPr id="180" name="Shape 178"/>
          <p:cNvSpPr/>
          <p:nvPr/>
        </p:nvSpPr>
        <p:spPr>
          <a:xfrm>
            <a:off x="5003597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76749" y="475488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076749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5387645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184" name="Text 182"/>
          <p:cNvSpPr txBox="1"/>
          <p:nvPr/>
        </p:nvSpPr>
        <p:spPr>
          <a:xfrm>
            <a:off x="6682435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700" dirty="0"/>
          </a:p>
        </p:txBody>
      </p:sp>
      <p:sp>
        <p:nvSpPr>
          <p:cNvPr id="185" name="Shape 183"/>
          <p:cNvSpPr/>
          <p:nvPr/>
        </p:nvSpPr>
        <p:spPr>
          <a:xfrm>
            <a:off x="5387645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387645" y="4974336"/>
            <a:ext cx="77119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5387645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5003597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076749" y="532180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076749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5387645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192" name="Text 190"/>
          <p:cNvSpPr txBox="1"/>
          <p:nvPr/>
        </p:nvSpPr>
        <p:spPr>
          <a:xfrm>
            <a:off x="6682435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193" name="Shape 191"/>
          <p:cNvSpPr/>
          <p:nvPr/>
        </p:nvSpPr>
        <p:spPr>
          <a:xfrm>
            <a:off x="5387645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387645" y="5541264"/>
            <a:ext cx="725830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5387645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96" name="Shape 194"/>
          <p:cNvSpPr/>
          <p:nvPr/>
        </p:nvSpPr>
        <p:spPr>
          <a:xfrm>
            <a:off x="5003597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076749" y="588873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076749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5387645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00" name="Text 198"/>
          <p:cNvSpPr txBox="1"/>
          <p:nvPr/>
        </p:nvSpPr>
        <p:spPr>
          <a:xfrm>
            <a:off x="6682435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201" name="Shape 199"/>
          <p:cNvSpPr/>
          <p:nvPr/>
        </p:nvSpPr>
        <p:spPr>
          <a:xfrm>
            <a:off x="5387645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387645" y="6108192"/>
            <a:ext cx="521691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5387645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8,0% do setor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7322515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5" name="Text 203"/>
          <p:cNvSpPr txBox="1"/>
          <p:nvPr/>
        </p:nvSpPr>
        <p:spPr>
          <a:xfrm>
            <a:off x="7432243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2300" dirty="0"/>
          </a:p>
        </p:txBody>
      </p:sp>
      <p:sp>
        <p:nvSpPr>
          <p:cNvPr id="206" name="Text 204"/>
          <p:cNvSpPr txBox="1"/>
          <p:nvPr/>
        </p:nvSpPr>
        <p:spPr>
          <a:xfrm>
            <a:off x="7432243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 médicos no painel</a:t>
            </a:r>
            <a:endParaRPr lang="en-US" sz="1250" dirty="0"/>
          </a:p>
        </p:txBody>
      </p:sp>
      <p:sp>
        <p:nvSpPr>
          <p:cNvPr id="207" name="Shape 205"/>
          <p:cNvSpPr/>
          <p:nvPr/>
        </p:nvSpPr>
        <p:spPr>
          <a:xfrm>
            <a:off x="7322515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395667" y="192024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7395667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7706563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211" name="Text 209"/>
          <p:cNvSpPr txBox="1"/>
          <p:nvPr/>
        </p:nvSpPr>
        <p:spPr>
          <a:xfrm>
            <a:off x="9001354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700" dirty="0"/>
          </a:p>
        </p:txBody>
      </p:sp>
      <p:sp>
        <p:nvSpPr>
          <p:cNvPr id="212" name="Shape 210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7706563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29,8% do setor</a:t>
            </a:r>
            <a:endParaRPr lang="en-US" sz="800" dirty="0"/>
          </a:p>
        </p:txBody>
      </p:sp>
      <p:sp>
        <p:nvSpPr>
          <p:cNvPr id="215" name="Shape 213"/>
          <p:cNvSpPr/>
          <p:nvPr/>
        </p:nvSpPr>
        <p:spPr>
          <a:xfrm>
            <a:off x="7322515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95667" y="248716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7395667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7706563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219" name="Text 217"/>
          <p:cNvSpPr txBox="1"/>
          <p:nvPr/>
        </p:nvSpPr>
        <p:spPr>
          <a:xfrm>
            <a:off x="9001354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0" name="Shape 218"/>
          <p:cNvSpPr/>
          <p:nvPr/>
        </p:nvSpPr>
        <p:spPr>
          <a:xfrm>
            <a:off x="7706563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706563" y="2706624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7706563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29,6% do setor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7322515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95667" y="305409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7395667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6" name="Text 224"/>
          <p:cNvSpPr txBox="1"/>
          <p:nvPr/>
        </p:nvSpPr>
        <p:spPr>
          <a:xfrm>
            <a:off x="7706563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227" name="Text 225"/>
          <p:cNvSpPr txBox="1"/>
          <p:nvPr/>
        </p:nvSpPr>
        <p:spPr>
          <a:xfrm>
            <a:off x="9001354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8" name="Shape 226"/>
          <p:cNvSpPr/>
          <p:nvPr/>
        </p:nvSpPr>
        <p:spPr>
          <a:xfrm>
            <a:off x="7706563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06563" y="3273552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706563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29,9% do setor</a:t>
            </a:r>
            <a:endParaRPr lang="en-US" sz="800" dirty="0"/>
          </a:p>
        </p:txBody>
      </p:sp>
      <p:sp>
        <p:nvSpPr>
          <p:cNvPr id="231" name="Shape 229"/>
          <p:cNvSpPr/>
          <p:nvPr/>
        </p:nvSpPr>
        <p:spPr>
          <a:xfrm>
            <a:off x="7322515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395667" y="3621024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7395667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7706563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235" name="Text 233"/>
          <p:cNvSpPr txBox="1"/>
          <p:nvPr/>
        </p:nvSpPr>
        <p:spPr>
          <a:xfrm>
            <a:off x="9001354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700" dirty="0"/>
          </a:p>
        </p:txBody>
      </p:sp>
      <p:sp>
        <p:nvSpPr>
          <p:cNvPr id="236" name="Shape 234"/>
          <p:cNvSpPr/>
          <p:nvPr/>
        </p:nvSpPr>
        <p:spPr>
          <a:xfrm>
            <a:off x="7706563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706563" y="3840480"/>
            <a:ext cx="149110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706563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28,3% do setor</a:t>
            </a:r>
            <a:endParaRPr lang="en-US" sz="800" dirty="0"/>
          </a:p>
        </p:txBody>
      </p:sp>
      <p:sp>
        <p:nvSpPr>
          <p:cNvPr id="239" name="Shape 237"/>
          <p:cNvSpPr/>
          <p:nvPr/>
        </p:nvSpPr>
        <p:spPr>
          <a:xfrm>
            <a:off x="7322515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95667" y="418795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395667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7706563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243" name="Text 241"/>
          <p:cNvSpPr txBox="1"/>
          <p:nvPr/>
        </p:nvSpPr>
        <p:spPr>
          <a:xfrm>
            <a:off x="9001354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244" name="Shape 242"/>
          <p:cNvSpPr/>
          <p:nvPr/>
        </p:nvSpPr>
        <p:spPr>
          <a:xfrm>
            <a:off x="7706563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706563" y="4407408"/>
            <a:ext cx="1278093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7706563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247" name="Shape 245"/>
          <p:cNvSpPr/>
          <p:nvPr/>
        </p:nvSpPr>
        <p:spPr>
          <a:xfrm>
            <a:off x="7322515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7395667" y="475488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7395667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0" name="Text 248"/>
          <p:cNvSpPr txBox="1"/>
          <p:nvPr/>
        </p:nvSpPr>
        <p:spPr>
          <a:xfrm>
            <a:off x="7706563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251" name="Text 249"/>
          <p:cNvSpPr txBox="1"/>
          <p:nvPr/>
        </p:nvSpPr>
        <p:spPr>
          <a:xfrm>
            <a:off x="9001354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700" dirty="0"/>
          </a:p>
        </p:txBody>
      </p:sp>
      <p:sp>
        <p:nvSpPr>
          <p:cNvPr id="252" name="Shape 250"/>
          <p:cNvSpPr/>
          <p:nvPr/>
        </p:nvSpPr>
        <p:spPr>
          <a:xfrm>
            <a:off x="7706563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706563" y="4974336"/>
            <a:ext cx="1260341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706563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22,9% do setor</a:t>
            </a:r>
            <a:endParaRPr lang="en-US" sz="800" dirty="0"/>
          </a:p>
        </p:txBody>
      </p:sp>
      <p:sp>
        <p:nvSpPr>
          <p:cNvPr id="255" name="Shape 253"/>
          <p:cNvSpPr/>
          <p:nvPr/>
        </p:nvSpPr>
        <p:spPr>
          <a:xfrm>
            <a:off x="7322515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7395667" y="53218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7395667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8" name="Text 256"/>
          <p:cNvSpPr txBox="1"/>
          <p:nvPr/>
        </p:nvSpPr>
        <p:spPr>
          <a:xfrm>
            <a:off x="7706563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259" name="Text 257"/>
          <p:cNvSpPr txBox="1"/>
          <p:nvPr/>
        </p:nvSpPr>
        <p:spPr>
          <a:xfrm>
            <a:off x="9001354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0" name="Shape 258"/>
          <p:cNvSpPr/>
          <p:nvPr/>
        </p:nvSpPr>
        <p:spPr>
          <a:xfrm>
            <a:off x="7706563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06563" y="5541264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62" name="Text 260"/>
          <p:cNvSpPr txBox="1"/>
          <p:nvPr/>
        </p:nvSpPr>
        <p:spPr>
          <a:xfrm>
            <a:off x="7706563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22,8% do setor</a:t>
            </a:r>
            <a:endParaRPr lang="en-US" sz="800" dirty="0"/>
          </a:p>
        </p:txBody>
      </p:sp>
      <p:sp>
        <p:nvSpPr>
          <p:cNvPr id="263" name="Shape 261"/>
          <p:cNvSpPr/>
          <p:nvPr/>
        </p:nvSpPr>
        <p:spPr>
          <a:xfrm>
            <a:off x="7322515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95667" y="588873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7395667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6" name="Text 264"/>
          <p:cNvSpPr txBox="1"/>
          <p:nvPr/>
        </p:nvSpPr>
        <p:spPr>
          <a:xfrm>
            <a:off x="7706563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67" name="Text 265"/>
          <p:cNvSpPr txBox="1"/>
          <p:nvPr/>
        </p:nvSpPr>
        <p:spPr>
          <a:xfrm>
            <a:off x="9001354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8" name="Shape 266"/>
          <p:cNvSpPr/>
          <p:nvPr/>
        </p:nvSpPr>
        <p:spPr>
          <a:xfrm>
            <a:off x="7706563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706563" y="6108192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70" name="Text 268"/>
          <p:cNvSpPr txBox="1"/>
          <p:nvPr/>
        </p:nvSpPr>
        <p:spPr>
          <a:xfrm>
            <a:off x="7706563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 do setor</a:t>
            </a:r>
            <a:endParaRPr lang="en-US" sz="800" dirty="0"/>
          </a:p>
        </p:txBody>
      </p:sp>
      <p:sp>
        <p:nvSpPr>
          <p:cNvPr id="271" name="Shape 269"/>
          <p:cNvSpPr/>
          <p:nvPr/>
        </p:nvSpPr>
        <p:spPr>
          <a:xfrm>
            <a:off x="9641434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2" name="Text 270"/>
          <p:cNvSpPr txBox="1"/>
          <p:nvPr/>
        </p:nvSpPr>
        <p:spPr>
          <a:xfrm>
            <a:off x="9751162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2300" dirty="0"/>
          </a:p>
        </p:txBody>
      </p:sp>
      <p:sp>
        <p:nvSpPr>
          <p:cNvPr id="273" name="Text 271"/>
          <p:cNvSpPr txBox="1"/>
          <p:nvPr/>
        </p:nvSpPr>
        <p:spPr>
          <a:xfrm>
            <a:off x="9751162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médicos no painel</a:t>
            </a:r>
            <a:endParaRPr lang="en-US" sz="1250" dirty="0"/>
          </a:p>
        </p:txBody>
      </p:sp>
      <p:sp>
        <p:nvSpPr>
          <p:cNvPr id="274" name="Shape 272"/>
          <p:cNvSpPr/>
          <p:nvPr/>
        </p:nvSpPr>
        <p:spPr>
          <a:xfrm>
            <a:off x="9641434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14586" y="192024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9714586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7" name="Text 275"/>
          <p:cNvSpPr txBox="1"/>
          <p:nvPr/>
        </p:nvSpPr>
        <p:spPr>
          <a:xfrm>
            <a:off x="10025482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78" name="Text 276"/>
          <p:cNvSpPr txBox="1"/>
          <p:nvPr/>
        </p:nvSpPr>
        <p:spPr>
          <a:xfrm>
            <a:off x="11320272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700" dirty="0"/>
          </a:p>
        </p:txBody>
      </p:sp>
      <p:sp>
        <p:nvSpPr>
          <p:cNvPr id="279" name="Shape 277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1" name="Text 279"/>
          <p:cNvSpPr txBox="1"/>
          <p:nvPr/>
        </p:nvSpPr>
        <p:spPr>
          <a:xfrm>
            <a:off x="10025482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59,9% do setor</a:t>
            </a:r>
            <a:endParaRPr lang="en-US" sz="800" dirty="0"/>
          </a:p>
        </p:txBody>
      </p:sp>
      <p:sp>
        <p:nvSpPr>
          <p:cNvPr id="282" name="Shape 280"/>
          <p:cNvSpPr/>
          <p:nvPr/>
        </p:nvSpPr>
        <p:spPr>
          <a:xfrm>
            <a:off x="9641434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714586" y="248716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9714586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5" name="Text 283"/>
          <p:cNvSpPr txBox="1"/>
          <p:nvPr/>
        </p:nvSpPr>
        <p:spPr>
          <a:xfrm>
            <a:off x="10025482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286" name="Text 284"/>
          <p:cNvSpPr txBox="1"/>
          <p:nvPr/>
        </p:nvSpPr>
        <p:spPr>
          <a:xfrm>
            <a:off x="11320272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700" dirty="0"/>
          </a:p>
        </p:txBody>
      </p:sp>
      <p:sp>
        <p:nvSpPr>
          <p:cNvPr id="287" name="Shape 285"/>
          <p:cNvSpPr/>
          <p:nvPr/>
        </p:nvSpPr>
        <p:spPr>
          <a:xfrm>
            <a:off x="10025482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25482" y="2706624"/>
            <a:ext cx="14726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9" name="Text 287"/>
          <p:cNvSpPr txBox="1"/>
          <p:nvPr/>
        </p:nvSpPr>
        <p:spPr>
          <a:xfrm>
            <a:off x="10025482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55,5% do setor</a:t>
            </a:r>
            <a:endParaRPr lang="en-US" sz="800" dirty="0"/>
          </a:p>
        </p:txBody>
      </p:sp>
      <p:sp>
        <p:nvSpPr>
          <p:cNvPr id="290" name="Shape 288"/>
          <p:cNvSpPr/>
          <p:nvPr/>
        </p:nvSpPr>
        <p:spPr>
          <a:xfrm>
            <a:off x="9641434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14586" y="305409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92" name="Text 290"/>
          <p:cNvSpPr txBox="1"/>
          <p:nvPr/>
        </p:nvSpPr>
        <p:spPr>
          <a:xfrm>
            <a:off x="9714586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3" name="Text 291"/>
          <p:cNvSpPr txBox="1"/>
          <p:nvPr/>
        </p:nvSpPr>
        <p:spPr>
          <a:xfrm>
            <a:off x="10025482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294" name="Text 292"/>
          <p:cNvSpPr txBox="1"/>
          <p:nvPr/>
        </p:nvSpPr>
        <p:spPr>
          <a:xfrm>
            <a:off x="11320272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700" dirty="0"/>
          </a:p>
        </p:txBody>
      </p:sp>
      <p:sp>
        <p:nvSpPr>
          <p:cNvPr id="295" name="Shape 293"/>
          <p:cNvSpPr/>
          <p:nvPr/>
        </p:nvSpPr>
        <p:spPr>
          <a:xfrm>
            <a:off x="10025482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25482" y="3273552"/>
            <a:ext cx="14348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97" name="Text 295"/>
          <p:cNvSpPr txBox="1"/>
          <p:nvPr/>
        </p:nvSpPr>
        <p:spPr>
          <a:xfrm>
            <a:off x="10025482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49,2% do setor</a:t>
            </a:r>
            <a:endParaRPr lang="en-US" sz="800" dirty="0"/>
          </a:p>
        </p:txBody>
      </p:sp>
      <p:sp>
        <p:nvSpPr>
          <p:cNvPr id="298" name="Shape 296"/>
          <p:cNvSpPr/>
          <p:nvPr/>
        </p:nvSpPr>
        <p:spPr>
          <a:xfrm>
            <a:off x="9641434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9714586" y="3621024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0" name="Text 298"/>
          <p:cNvSpPr txBox="1"/>
          <p:nvPr/>
        </p:nvSpPr>
        <p:spPr>
          <a:xfrm>
            <a:off x="971458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1" name="Text 299"/>
          <p:cNvSpPr txBox="1"/>
          <p:nvPr/>
        </p:nvSpPr>
        <p:spPr>
          <a:xfrm>
            <a:off x="10025482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302" name="Text 300"/>
          <p:cNvSpPr txBox="1"/>
          <p:nvPr/>
        </p:nvSpPr>
        <p:spPr>
          <a:xfrm>
            <a:off x="11320272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700" dirty="0"/>
          </a:p>
        </p:txBody>
      </p:sp>
      <p:sp>
        <p:nvSpPr>
          <p:cNvPr id="303" name="Shape 301"/>
          <p:cNvSpPr/>
          <p:nvPr/>
        </p:nvSpPr>
        <p:spPr>
          <a:xfrm>
            <a:off x="10025482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025482" y="3840480"/>
            <a:ext cx="140655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05" name="Text 303"/>
          <p:cNvSpPr txBox="1"/>
          <p:nvPr/>
        </p:nvSpPr>
        <p:spPr>
          <a:xfrm>
            <a:off x="10025482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50,2% do setor</a:t>
            </a:r>
            <a:endParaRPr lang="en-US" sz="800" dirty="0"/>
          </a:p>
        </p:txBody>
      </p:sp>
      <p:sp>
        <p:nvSpPr>
          <p:cNvPr id="306" name="Shape 304"/>
          <p:cNvSpPr/>
          <p:nvPr/>
        </p:nvSpPr>
        <p:spPr>
          <a:xfrm>
            <a:off x="9641434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14586" y="4187952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8" name="Text 306"/>
          <p:cNvSpPr txBox="1"/>
          <p:nvPr/>
        </p:nvSpPr>
        <p:spPr>
          <a:xfrm>
            <a:off x="9714586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9" name="Text 307"/>
          <p:cNvSpPr txBox="1"/>
          <p:nvPr/>
        </p:nvSpPr>
        <p:spPr>
          <a:xfrm>
            <a:off x="10025482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310" name="Text 308"/>
          <p:cNvSpPr txBox="1"/>
          <p:nvPr/>
        </p:nvSpPr>
        <p:spPr>
          <a:xfrm>
            <a:off x="11320272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700" dirty="0"/>
          </a:p>
        </p:txBody>
      </p:sp>
      <p:sp>
        <p:nvSpPr>
          <p:cNvPr id="311" name="Shape 309"/>
          <p:cNvSpPr/>
          <p:nvPr/>
        </p:nvSpPr>
        <p:spPr>
          <a:xfrm>
            <a:off x="10025482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025482" y="4407408"/>
            <a:ext cx="13782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13" name="Text 311"/>
          <p:cNvSpPr txBox="1"/>
          <p:nvPr/>
        </p:nvSpPr>
        <p:spPr>
          <a:xfrm>
            <a:off x="10025482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47,1% do setor</a:t>
            </a:r>
            <a:endParaRPr lang="en-US" sz="800" dirty="0"/>
          </a:p>
        </p:txBody>
      </p:sp>
      <p:sp>
        <p:nvSpPr>
          <p:cNvPr id="314" name="Shape 312"/>
          <p:cNvSpPr/>
          <p:nvPr/>
        </p:nvSpPr>
        <p:spPr>
          <a:xfrm>
            <a:off x="9641434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714586" y="475488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16" name="Text 314"/>
          <p:cNvSpPr txBox="1"/>
          <p:nvPr/>
        </p:nvSpPr>
        <p:spPr>
          <a:xfrm>
            <a:off x="9714586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7" name="Text 315"/>
          <p:cNvSpPr txBox="1"/>
          <p:nvPr/>
        </p:nvSpPr>
        <p:spPr>
          <a:xfrm>
            <a:off x="10025482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318" name="Text 316"/>
          <p:cNvSpPr txBox="1"/>
          <p:nvPr/>
        </p:nvSpPr>
        <p:spPr>
          <a:xfrm>
            <a:off x="11320272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700" dirty="0"/>
          </a:p>
        </p:txBody>
      </p:sp>
      <p:sp>
        <p:nvSpPr>
          <p:cNvPr id="319" name="Shape 317"/>
          <p:cNvSpPr/>
          <p:nvPr/>
        </p:nvSpPr>
        <p:spPr>
          <a:xfrm>
            <a:off x="10025482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025482" y="4974336"/>
            <a:ext cx="11516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1" name="Text 319"/>
          <p:cNvSpPr txBox="1"/>
          <p:nvPr/>
        </p:nvSpPr>
        <p:spPr>
          <a:xfrm>
            <a:off x="10025482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43,0% do setor</a:t>
            </a:r>
            <a:endParaRPr lang="en-US" sz="800" dirty="0"/>
          </a:p>
        </p:txBody>
      </p:sp>
      <p:sp>
        <p:nvSpPr>
          <p:cNvPr id="322" name="Shape 320"/>
          <p:cNvSpPr/>
          <p:nvPr/>
        </p:nvSpPr>
        <p:spPr>
          <a:xfrm>
            <a:off x="9641434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14586" y="532180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24" name="Text 322"/>
          <p:cNvSpPr txBox="1"/>
          <p:nvPr/>
        </p:nvSpPr>
        <p:spPr>
          <a:xfrm>
            <a:off x="9714586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5" name="Text 323"/>
          <p:cNvSpPr txBox="1"/>
          <p:nvPr/>
        </p:nvSpPr>
        <p:spPr>
          <a:xfrm>
            <a:off x="10025482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326" name="Text 324"/>
          <p:cNvSpPr txBox="1"/>
          <p:nvPr/>
        </p:nvSpPr>
        <p:spPr>
          <a:xfrm>
            <a:off x="11320272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700" dirty="0"/>
          </a:p>
        </p:txBody>
      </p:sp>
      <p:sp>
        <p:nvSpPr>
          <p:cNvPr id="327" name="Shape 325"/>
          <p:cNvSpPr/>
          <p:nvPr/>
        </p:nvSpPr>
        <p:spPr>
          <a:xfrm>
            <a:off x="10025482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025482" y="5541264"/>
            <a:ext cx="70799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9" name="Text 327"/>
          <p:cNvSpPr txBox="1"/>
          <p:nvPr/>
        </p:nvSpPr>
        <p:spPr>
          <a:xfrm>
            <a:off x="10025482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26,1% do setor</a:t>
            </a:r>
            <a:endParaRPr lang="en-US" sz="800" dirty="0"/>
          </a:p>
        </p:txBody>
      </p:sp>
      <p:sp>
        <p:nvSpPr>
          <p:cNvPr id="330" name="Shape 328"/>
          <p:cNvSpPr/>
          <p:nvPr/>
        </p:nvSpPr>
        <p:spPr>
          <a:xfrm>
            <a:off x="9641434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714586" y="588873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32" name="Text 330"/>
          <p:cNvSpPr txBox="1"/>
          <p:nvPr/>
        </p:nvSpPr>
        <p:spPr>
          <a:xfrm>
            <a:off x="9714586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33" name="Text 331"/>
          <p:cNvSpPr txBox="1"/>
          <p:nvPr/>
        </p:nvSpPr>
        <p:spPr>
          <a:xfrm>
            <a:off x="10025482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334" name="Text 332"/>
          <p:cNvSpPr txBox="1"/>
          <p:nvPr/>
        </p:nvSpPr>
        <p:spPr>
          <a:xfrm>
            <a:off x="11320272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700" dirty="0"/>
          </a:p>
        </p:txBody>
      </p:sp>
      <p:sp>
        <p:nvSpPr>
          <p:cNvPr id="335" name="Shape 333"/>
          <p:cNvSpPr/>
          <p:nvPr/>
        </p:nvSpPr>
        <p:spPr>
          <a:xfrm>
            <a:off x="10025482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025482" y="6108192"/>
            <a:ext cx="68911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37" name="Text 335"/>
          <p:cNvSpPr txBox="1"/>
          <p:nvPr/>
        </p:nvSpPr>
        <p:spPr>
          <a:xfrm>
            <a:off x="10025482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25,5% do setor</a:t>
            </a:r>
            <a:endParaRPr lang="en-US" sz="800" dirty="0"/>
          </a:p>
        </p:txBody>
      </p:sp>
      <p:sp>
        <p:nvSpPr>
          <p:cNvPr id="338" name="Text 33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"% do setor" = participação da CAT no total de médicos classificados (CAT 1 a 5) daquele setor.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 Geral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no painel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73,0%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já prescrevem EUF (MAT)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26,7%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são CAT 1, 2 ou 3 (680 médicos)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35000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CAT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4,5% do painel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84678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794406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776118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2776118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9,6% do painel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03597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113325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95037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5095037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15,0% do painel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22515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432243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13955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7413955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 do painel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41434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51162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732874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1.046</a:t>
            </a:r>
            <a:endParaRPr lang="en-US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9732874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44,6% do painel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1457432" cy="1234440"/>
          </a:xfrm>
          <a:prstGeom prst="roundRect">
            <a:avLst>
              <a:gd name="adj" fmla="val 5926"/>
            </a:avLst>
          </a:prstGeom>
          <a:solidFill>
            <a:srgbClr val="1D3557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40080" y="5394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REPRESENTATIVIDADE DOS PRESCRITORES · CAT 1 + 2 + 3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623560"/>
            <a:ext cx="5088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680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099048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nas CAT 1, 2 e 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094476" y="5623560"/>
            <a:ext cx="5088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6094476" y="6099048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prescrevem EUF dentro do grupo (678 médicos)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" y="658368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2.551 médicos no painel. A "Distribuição por CAT" considera os 2.343 já classificados (208 ainda sem CAT).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setor e por especialidade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051560"/>
            <a:ext cx="55915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2.551 </a:t>
            </a:r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no painel (todas as CAT + sem CAT)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362456"/>
            <a:ext cx="5591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318,9 </a:t>
            </a:r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por setor, em média (per cápita, 8 setores)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673352"/>
            <a:ext cx="5591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POR SETOR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965960"/>
          <a:ext cx="5591556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31636" y="1051560"/>
            <a:ext cx="5591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POR ESPECIALIDADE EUROFARMA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947672"/>
          <a:ext cx="5591556" cy="914400"/>
        </p:xfrm>
        <a:graphic>
          <a:graphicData uri="http://schemas.openxmlformats.org/drawingml/2006/table">
            <a:tbl>
              <a:tblPr/>
              <a:tblGrid>
                <a:gridCol w="3854196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painel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CLG / 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CLG / 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CLG / SNC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Especialidades agrupam variações (ex.: CLG = Clínica Geral, CLG / PA = Clínica Geral / Pronto Atendimento). Fonte: painel_distrital.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MERCADO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mercados prioritários (maior representatividade x maior gap vs. líder)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R$ 47,8M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total da distrital (YTD)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33,0%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faturamento concentrado nesses 5 mercados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R$ 10,4M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gap identificado frente aos líderes desses mercados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051560"/>
                <a:gridCol w="960120"/>
                <a:gridCol w="914400"/>
                <a:gridCol w="731520"/>
                <a:gridCol w="2331720"/>
                <a:gridCol w="14447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Tamanho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(YTD)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fatur.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de 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(R$)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SINOT CLAV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R$ 4.368.417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Clavulin Bd  (67,4%)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R$ 2.317.187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MELOCOX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R$ 3.501.884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Flancox  (74,4%)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R$ 2.380.356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EBASTEL XAROPE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R$ 3.477.589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Allegra  (61,9%)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R$ 1.883.228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R$ 3.096.329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Ansitec  (93,1%)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R$ 2.666.056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AZOX CPR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R$ 1.345.516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Annita  (88,8%)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R$ 1.109.604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65760" y="5486400"/>
            <a:ext cx="11457432" cy="868680"/>
          </a:xfrm>
          <a:prstGeom prst="roundRect">
            <a:avLst>
              <a:gd name="adj" fmla="val 8421"/>
            </a:avLst>
          </a:prstGeom>
          <a:solidFill>
            <a:srgbClr val="F0F7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55961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onde a Eurofarma já é líder: 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 XR (89,9%, +6,6%), PONDERA (55,8%, -13,4%), AMATO (72,1%, -11,7%), TAMIRAM (64,8%, -23,8%). Vários estão em queda de mercado — priorizar defesa de share além da conquista nos 5 mercados acima.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vs. líder = tamanho do mercado (YTD) × diferença de share entre o líder e a Eurofarma. Fonte: DETALHE_92 (mercado montado, ordenado do maior para o menor).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SETORES PRIORITÁRIOS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DISTRITAL 1880  ·  3º quadrimestre (setembro a dezembro/2026)  ·  mapa resumo por setor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D6283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D62839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81328"/>
            <a:ext cx="3666744" cy="393192"/>
          </a:xfrm>
          <a:prstGeom prst="rect">
            <a:avLst/>
          </a:prstGeom>
          <a:solidFill>
            <a:srgbClr val="D6283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 — MILLER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R$ 2.373.337   ·   61 médicos CAT 1-3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30352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gap de mercado da distrital nos 5 mercados-foco: R$ 2,37M não capturados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EUF médio de apenas 5,4% nesses mercados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61 médicos CAT 1-3 mapeados — o setor com MENOS potencial identificado no painel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30352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classificação de potencial médico do setor (indício de potencial não mapeado)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SINOT CLAV, EBASTEL XAROPE e MELOCOX no ciclo de visitas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Reforçar amostras/material clínico junto à base já prescritora, para fidelização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61104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6A4C9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61104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6A4C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261104" y="1481328"/>
            <a:ext cx="3666744" cy="393192"/>
          </a:xfrm>
          <a:prstGeom prst="rect">
            <a:avLst/>
          </a:prstGeom>
          <a:solidFill>
            <a:srgbClr val="6A4C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25696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 — MARCELLE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425696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R$ 2.243.364   ·   127 médicos CAT 1-3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425696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maior gap (R$ 2,24M) e 2º maior nº de médicos CAT 1-3 (127) — prioridade dupla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concentração de gap em SINOT CLAV e STIMA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é o setor com maior representatividade de médicos de alto potencial no painel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25696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25696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25696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total em SINOT CLAV e STIMA nas visitas aos 127 médicos CAT 1-3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Argumentário comparativo vs. líderes (Clavulin BD/Ansitec) para conversão de share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quinzenal da evolução de share nesses 2 mercados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56448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2A9D8F"/>
          </a:solidFill>
          <a:ln/>
        </p:spPr>
      </p:sp>
      <p:sp>
        <p:nvSpPr>
          <p:cNvPr id="26" name="Shape 24"/>
          <p:cNvSpPr/>
          <p:nvPr/>
        </p:nvSpPr>
        <p:spPr>
          <a:xfrm>
            <a:off x="8156448" y="1481328"/>
            <a:ext cx="3666744" cy="39319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21040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 — EDUARDO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R$ 2.145.162   ·   65 médicos CAT 1-3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 maior gap (R$ 2,15M), concentrado em MELOCOX e SINOT CLAV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ainda baixo (5,4%) apesar do crescimento de MELOCOX (+41% no período)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médicos CAT 1-3 mapeados no painel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321040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 dirigido de MELOCOX (maior momentum de crescimento) e SINOT CLAV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visitas focado em médicos que já prescrevem outras linhas EUF (cross-sell)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 concorrente líder CLAVULIN BD (67% de share em SINOT CLAV) para argumentação diferenciada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" y="662940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 combina o gap de mercado (DETALHE_92) nos 5 mercados-foco com a densidade de médicos CAT 1-3 do painel (painel_distrital).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SMART</a:t>
            </a:r>
            <a:pPr algn="l" indent="0" marL="0">
              <a:buNone/>
            </a:pPr>
            <a:r>
              <a:rPr lang="en-US" sz="26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SÍNTESE DISTRITAL 1880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94360"/>
            <a:ext cx="11457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 quadrimestre 2026 (setembro a dezembro)  ·  base: painel_distrital + DETALHE_92 (mercado montado)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591556" cy="329184"/>
          </a:xfrm>
          <a:prstGeom prst="roundRect">
            <a:avLst>
              <a:gd name="adj" fmla="val 13889"/>
            </a:avLst>
          </a:prstGeom>
          <a:solidFill>
            <a:srgbClr val="1D35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914400"/>
            <a:ext cx="53172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ATUAL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53312"/>
            <a:ext cx="55001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R$ 47,8M em faturamento (YTD), 41 mercados DDD monitorados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 médicos classificados; 680 (29,0%) nas CAT 1, 2 e 3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Penetração EUF: 79,5% geral e 99,7% entre CAT 1, 2 e 3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mercados-foco = 33,0% do faturamento e R$ 10,4M de gap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914400"/>
            <a:ext cx="5591556" cy="329184"/>
          </a:xfrm>
          <a:prstGeom prst="roundRect">
            <a:avLst>
              <a:gd name="adj" fmla="val 13889"/>
            </a:avLst>
          </a:prstGeom>
          <a:solidFill>
            <a:srgbClr val="2A9D8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68796" y="914400"/>
            <a:ext cx="53172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IDENTIFICADA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1636" y="1353312"/>
            <a:ext cx="5591556" cy="1069848"/>
          </a:xfrm>
          <a:prstGeom prst="roundRect">
            <a:avLst>
              <a:gd name="adj" fmla="val 5128"/>
            </a:avLst>
          </a:prstGeom>
          <a:solidFill>
            <a:srgbClr val="F5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96228" y="1463040"/>
            <a:ext cx="52623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penetração de 99,7% entre CAT 1-3 mostra que a barreira não é confiança na marca — é participação por SKU. Nos 5 mercados-foco a Eurofarma tem share de 6,3% a 14,4%. Os setores 5613, 5153 e 7742 concentram R$ 6,76M desse gap.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532888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F3A71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2532888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PROPOSTAS PARA O 3º QUADRIMESTRE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98648"/>
          <a:ext cx="114574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394960"/>
                <a:gridCol w="359359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de sucesso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SINOT CLAV / MELOCOX / STIMA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Priorizar as 3 marcas nas visitas aos setores 5613, 5153 e 7742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de share mensal por mercado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na base fiel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Detalhar novas linhas EUF para médicos que já prescrevem a marca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médicos com 2+ marcas EUF prescritas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de potencial — Setor 5613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Reclassificar médicos com maior gap e menor densidade CAT 1-3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médicos CAT 1-3 identificados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Defesa dos mercados líderes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Monitorar PONDERA XR, AMATO e TAMIRAM — líderes em mercados que encolhem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do share líder (&gt; 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65760" y="4599432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D6283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" y="4599432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ESPERADOS (META DO 3º QUADRIMESTRE)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R$ 0,7M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captura (10% do gap nos 3 setores foco)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3275838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275838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348990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prioritários (5613, 5153, 7742)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185916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85916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mercados-foco (SINOT CLAV, MELOCOX, EBASTEL XPE, STIMA, AZOX CPR)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9095994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95994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9169146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CAT 1-3 endereçados nos setores foco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65760" y="5669280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52B78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2920" y="5669280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PARA EXECUÇÃO E ACOMPANHAMENTO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65760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7200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SET/26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+ revisão de potencial (setor 5613)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3264408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355848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OUT/26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355848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1 — foco SINOT CLAV, MELOCOX e STIMA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163056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254496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NOV/26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6254496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intermediária de share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9061704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153144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DEZ/26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9153144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 e consolidado de resultados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365760" y="653796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ilustrativa (10% do gap identificado) — referência para acompanhamento, a validar com a gestão comercial.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2026-08-31T18:59:57Z</dcterms:created>
  <dcterms:modified xsi:type="dcterms:W3CDTF">2026-08-31T18:59:57Z</dcterms:modified>
</cp:coreProperties>
</file>