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Médicos</c:v>
                </c:pt>
              </c:strCache>
            </c:strRef>
          </c:tx>
          <c:spPr>
            <a:solidFill>
              <a:srgbClr val="1D35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35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7745 - MATHEUS</c:v>
                  </c:pt>
                  <c:pt idx="1">
                    <c:v>7741 - RAPHAEL</c:v>
                  </c:pt>
                  <c:pt idx="2">
                    <c:v>5613 - MILLER</c:v>
                  </c:pt>
                  <c:pt idx="3">
                    <c:v>7748 - CARLA</c:v>
                  </c:pt>
                  <c:pt idx="4">
                    <c:v>5152 - FÁBIO</c:v>
                  </c:pt>
                  <c:pt idx="5">
                    <c:v>5153 - MARCELLE</c:v>
                  </c:pt>
                  <c:pt idx="6">
                    <c:v>5149 - LEONARDO</c:v>
                  </c:pt>
                  <c:pt idx="7">
                    <c:v>7742 - EDUARDO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303</c:v>
                </c:pt>
                <c:pt idx="1">
                  <c:v>305</c:v>
                </c:pt>
                <c:pt idx="2">
                  <c:v>311</c:v>
                </c:pt>
                <c:pt idx="3">
                  <c:v>317</c:v>
                </c:pt>
                <c:pt idx="4">
                  <c:v>318</c:v>
                </c:pt>
                <c:pt idx="5">
                  <c:v>327</c:v>
                </c:pt>
                <c:pt idx="6">
                  <c:v>333</c:v>
                </c:pt>
                <c:pt idx="7">
                  <c:v>337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35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3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5153 - MARCELLE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5149 - LEONARDO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7745 - MATHEUS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5152 - FÁBIO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7741 - RAPHAEL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7742 - EDUARDO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5613 - MILLER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7748 - CARLA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23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7745 - MATHEUS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5153 - MARCELLE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5149 - LEONARDO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7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7748 - CARLA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5613 - MILLER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7741 - RAPHAEL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7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5152 - FÁBIO</a:t>
            </a:r>
            <a:endParaRPr lang="en-US" sz="90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7742 - EDUARDO</a:t>
            </a:r>
            <a:endParaRPr lang="en-US" sz="90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23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7745 - MATHEUS</a:t>
            </a:r>
            <a:endParaRPr lang="en-US" sz="90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5153 - MARCELLE</a:t>
            </a:r>
            <a:endParaRPr lang="en-US" sz="90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7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5149 - LEONARDO</a:t>
            </a:r>
            <a:endParaRPr lang="en-US" sz="90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7742 - EDUARDO</a:t>
            </a:r>
            <a:endParaRPr lang="en-US" sz="90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7741 - RAPHAEL</a:t>
            </a:r>
            <a:endParaRPr lang="en-US" sz="90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7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5152 - FÁBIO</a:t>
            </a:r>
            <a:endParaRPr lang="en-US" sz="90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7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5613 - MILLER</a:t>
            </a:r>
            <a:endParaRPr lang="en-US" sz="90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7748 - CARLA</a:t>
            </a:r>
            <a:endParaRPr lang="en-US" sz="90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23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2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7742 - EDUARDO</a:t>
            </a:r>
            <a:endParaRPr lang="en-US" sz="90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7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5153 - MARCELLE</a:t>
            </a:r>
            <a:endParaRPr lang="en-US" sz="90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7741 - RAPHAEL</a:t>
            </a:r>
            <a:endParaRPr lang="en-US" sz="90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5152 - FÁBIO</a:t>
            </a:r>
            <a:endParaRPr lang="en-US" sz="90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7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80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7745 - MATHEUS</a:t>
            </a:r>
            <a:endParaRPr lang="en-US" sz="90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5149 - LEONARDO</a:t>
            </a:r>
            <a:endParaRPr lang="en-US" sz="90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7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80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5613 - MILLER</a:t>
            </a:r>
            <a:endParaRPr lang="en-US" sz="90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80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7748 - CARLA</a:t>
            </a:r>
            <a:endParaRPr lang="en-US" sz="90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80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23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2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7748 - CARLA</a:t>
            </a:r>
            <a:endParaRPr lang="en-US" sz="90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7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80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5613 - MILLER</a:t>
            </a:r>
            <a:endParaRPr lang="en-US" sz="90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7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80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7742 - EDUARDO</a:t>
            </a:r>
            <a:endParaRPr lang="en-US" sz="90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7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80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5152 - FÁBIO</a:t>
            </a:r>
            <a:endParaRPr lang="en-US" sz="90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7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80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5149 - LEONARDO</a:t>
            </a:r>
            <a:endParaRPr lang="en-US" sz="90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7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80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7741 - RAPHAEL</a:t>
            </a:r>
            <a:endParaRPr lang="en-US" sz="90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7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80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5153 - MARCELLE</a:t>
            </a:r>
            <a:endParaRPr lang="en-US" sz="90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7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80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7745 - MATHEUS</a:t>
            </a:r>
            <a:endParaRPr lang="en-US" sz="90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7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80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26,7%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094476" y="5623560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6094476" y="6099048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médicos no painel. A "Distribuição por CAT" considera os 2.343 já classificados (208 ainda sem CAT).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setor e por especialidade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051560"/>
            <a:ext cx="5591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2.551 </a:t>
            </a:r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no painel (todas as CAT + sem CAT)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362456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318,9 </a:t>
            </a:r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por setor, em média (per cápita, 8 setores)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673352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POR SETOR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965960"/>
          <a:ext cx="5591556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31636" y="1051560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POR ESPECIALIDADE EUROFARMA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947672"/>
          <a:ext cx="5591556" cy="914400"/>
        </p:xfrm>
        <a:graphic>
          <a:graphicData uri="http://schemas.openxmlformats.org/drawingml/2006/table">
            <a:tbl>
              <a:tblPr/>
              <a:tblGrid>
                <a:gridCol w="3854196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painel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SNC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Especialidades agrupam variações (ex.: CLG = Clínica Geral, CLG / PA = Clínica Geral / Pronto Atendimento). Fonte: painel_distrital.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MERCADO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mercados prioritários (maior representatividade x maior gap vs. líder)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total da distrital (YTD)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faturamento concentrado nesses 5 mercados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R$ 10,4M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gap identificado frente aos líderes desses mercados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051560"/>
                <a:gridCol w="960120"/>
                <a:gridCol w="914400"/>
                <a:gridCol w="731520"/>
                <a:gridCol w="2331720"/>
                <a:gridCol w="14447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(YTD)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de 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(R$)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SINOT CLAV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R$ 4.368.417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Clavulin Bd  (67,4%)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R$ 2.317.187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MELOCOX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R$ 3.501.884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Flancox  (74,4%)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R$ 2.380.356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EBASTEL XAROPE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R$ 3.477.589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Allegra  (61,9%)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R$ 1.883.228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R$ 3.096.329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Ansitec  (93,1%)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R$ 2.666.056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AZOX CPR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R$ 1.345.516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Annita  (88,8%)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R$ 1.109.604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5486400"/>
            <a:ext cx="11457432" cy="868680"/>
          </a:xfrm>
          <a:prstGeom prst="roundRect">
            <a:avLst>
              <a:gd name="adj" fmla="val 8421"/>
            </a:avLst>
          </a:prstGeom>
          <a:solidFill>
            <a:srgbClr val="F0F7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5961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onde a Eurofarma já é líder: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 XR (89,9%, +6,6%), PONDERA (55,8%, -13,4%), AMATO (72,1%, -11,7%), TAMIRAM (64,8%, -23,8%). Vários estão em queda de mercado — priorizar defesa de share além da conquista nos 5 mercados acima.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vs. líder = tamanho do mercado (YTD) × diferença de share entre o líder e a Eurofarma. Fonte: DETALHE_92 (mercado montado, ordenado do maior para o menor).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SETORES PRIORITÁRIOS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DISTRITAL 1880  ·  3º quadrimestre (setembro a dezembro/2026)  ·  mapa resumo por setor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D628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D62839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81328"/>
            <a:ext cx="3666744" cy="393192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 — MILLER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R$ 2.373.337   ·   61 médicos CAT 1-3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gap de mercado da distrital nos 5 mercados-foco: R$ 2,37M não capturados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EUF médio de apenas 5,4% nesses mercados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61 médicos CAT 1-3 mapeados — o setor com MENOS potencial identificado no painel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classificação de potencial médico do setor (indício de potencial não mapeado)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SINOT CLAV, EBASTEL XAROPE e MELOCOX no ciclo de visitas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Reforçar amostras/material clínico junto à base já prescritora, para fidelização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61104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6A4C9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6A4C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261104" y="1481328"/>
            <a:ext cx="3666744" cy="393192"/>
          </a:xfrm>
          <a:prstGeom prst="rect">
            <a:avLst/>
          </a:prstGeom>
          <a:solidFill>
            <a:srgbClr val="6A4C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25696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 — MARCELLE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25696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R$ 2.243.364   ·   127 médicos CAT 1-3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25696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maior gap (R$ 2,24M) e 2º maior nº de médicos CAT 1-3 (127) — prioridade dupla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concentração de gap em SINOT CLAV e STIMA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é o setor com maior representatividade de médicos de alto potencial no painel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25696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25696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25696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total em SINOT CLAV e STIMA nas visitas aos 127 médicos CAT 1-3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Argumentário comparativo vs. líderes (Clavulin BD/Ansitec) para conversão de share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quinzenal da evolução de share nesses 2 mercados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56448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2A9D8F"/>
          </a:solidFill>
          <a:ln/>
        </p:spPr>
      </p:sp>
      <p:sp>
        <p:nvSpPr>
          <p:cNvPr id="26" name="Shape 24"/>
          <p:cNvSpPr/>
          <p:nvPr/>
        </p:nvSpPr>
        <p:spPr>
          <a:xfrm>
            <a:off x="8156448" y="1481328"/>
            <a:ext cx="3666744" cy="3931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 — EDUARDO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R$ 2.145.162   ·   65 médicos CAT 1-3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maior gap (R$ 2,15M), concentrado em MELOCOX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ainda baixo (5,4%) apesar do crescimento de MELOCOX (+41% no período)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médicos CAT 1-3 mapeados no painel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21040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 dirigido de MELOCOX (maior momentum de crescimento)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visitas focado em médicos que já prescrevem outras linhas EUF (cross-sell)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concorrente líder CLAVULIN BD (67% de share em SINOT CLAV) para argumentação diferenciada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662940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combina o gap de mercado (DETALHE_92) nos 5 mercados-foco com a densidade de médicos CAT 1-3 do painel (painel_distrital).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SMART</a:t>
            </a:r>
            <a:pPr algn="l" indent="0" marL="0">
              <a:buNone/>
            </a:pPr>
            <a:r>
              <a:rPr lang="en-US" sz="2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SÍNTESE DISTRITAL 1880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94360"/>
            <a:ext cx="11457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quadrimestre 2026 (setembro a dezembro)  ·  base: painel_distrital + DETALHE_92 (mercado montado)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1D35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ATUAL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53312"/>
            <a:ext cx="55001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 em faturamento (YTD), 41 mercados DDD monitorados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 médicos classificados; 680 (29,0%) nas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EUF: 79,5% geral e 99,7% entre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mercados-foco = 33,0% do faturamento e R$ 10,4M de gap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2A9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68796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IDENTIFICADA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1636" y="1353312"/>
            <a:ext cx="5591556" cy="1069848"/>
          </a:xfrm>
          <a:prstGeom prst="roundRect">
            <a:avLst>
              <a:gd name="adj" fmla="val 5128"/>
            </a:avLst>
          </a:prstGeom>
          <a:solidFill>
            <a:srgbClr val="F5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96228" y="1463040"/>
            <a:ext cx="52623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penetração de 99,7% entre CAT 1-3 mostra que a barreira não é confiança na marca — é participação por SKU. Nos 5 mercados-foco a Eurofarma tem share de 6,3% a 14,4%. Os setores 5613, 5153 e 7742 concentram R$ 6,76M desse gap.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F3A7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2532888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PROPOSTAS PARA O 3º QUADRIMESTRE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9864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394960"/>
                <a:gridCol w="3593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de sucesso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SINOT CLAV / MELOCOX / STIMA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as 3 marcas nas visitas aos setores 5613, 5153 e 7742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de share mensal por mercado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na base fiel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Detalhar novas linhas EUF para médicos que já prescrevem a marca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médicos com 2+ marcas EUF prescritas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de potencial — Setor 5613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Reclassificar médicos com maior gap e menor densidade CAT 1-3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médicos CAT 1-3 identificados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Defesa dos mercados líderes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PONDERA XR, AMATO e TAMIRAM — líderes em mercados que encolhem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do share líder (&gt; 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4599432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D6283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45994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 (META DO 3º QUADRIMESTRE)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R$ 0,7M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captura (10% do gap nos 3 setores foco)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3275838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275838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348990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prioritários (5613, 5153, 7742)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185916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85916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mercados-foco (SINOT CLAV, MELOCOX, EBASTEL XPE, STIMA, AZOX CPR)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9095994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95994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169146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CAT 1-3 endereçados nos setores foco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65760" y="5669280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52B78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5669280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PARA EXECUÇÃO E ACOMPANHAMENTO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65760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200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SET/26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+ revisão de potencial (setor 5613)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264408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55848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OUT/26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355848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1 — foco SINOT CLAV, MELOCOX e STIMA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163056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254496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NOV/26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254496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intermediária de share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9061704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153144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DEZ/26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9153144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e consolidado de resultados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365760" y="653796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ilustrativa (10% do gap identificado) — referência para acompanhamento, a validar com a gestão comercial.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2026-08-31T19:31:23Z</dcterms:created>
  <dcterms:modified xsi:type="dcterms:W3CDTF">2026-08-31T19:31:23Z</dcterms:modified>
</cp:coreProperties>
</file>