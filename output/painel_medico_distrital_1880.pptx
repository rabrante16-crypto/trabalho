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Médicos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D35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Setor 7745</c:v>
                  </c:pt>
                  <c:pt idx="1">
                    <c:v>Setor 7741</c:v>
                  </c:pt>
                  <c:pt idx="2">
                    <c:v>Setor 5613</c:v>
                  </c:pt>
                  <c:pt idx="3">
                    <c:v>Setor 7748</c:v>
                  </c:pt>
                  <c:pt idx="4">
                    <c:v>Setor 5152</c:v>
                  </c:pt>
                  <c:pt idx="5">
                    <c:v>Setor 5153</c:v>
                  </c:pt>
                  <c:pt idx="6">
                    <c:v>Setor 5149</c:v>
                  </c:pt>
                  <c:pt idx="7">
                    <c:v>Setor 7742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303</c:v>
                </c:pt>
                <c:pt idx="1">
                  <c:v>305</c:v>
                </c:pt>
                <c:pt idx="2">
                  <c:v>311</c:v>
                </c:pt>
                <c:pt idx="3">
                  <c:v>317</c:v>
                </c:pt>
                <c:pt idx="4">
                  <c:v>318</c:v>
                </c:pt>
                <c:pt idx="5">
                  <c:v>327</c:v>
                </c:pt>
                <c:pt idx="6">
                  <c:v>333</c:v>
                </c:pt>
                <c:pt idx="7">
                  <c:v>337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D35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57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MÉDICO</a:t>
            </a:r>
            <a:pPr algn="l" indent="0" marL="0">
              <a:buNone/>
            </a:pPr>
            <a:r>
              <a:rPr lang="en-US" sz="33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DISTRITAL 1880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181758" cy="777240"/>
          </a:xfrm>
          <a:prstGeom prst="roundRect">
            <a:avLst>
              <a:gd name="adj" fmla="val 9412"/>
            </a:avLst>
          </a:prstGeom>
          <a:solidFill>
            <a:srgbClr val="D6283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75488" y="1051560"/>
            <a:ext cx="1962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1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1399032"/>
            <a:ext cx="1962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médicos no painel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84708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920240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87452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044598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D6283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223113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8,7% do setor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41401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" y="2487168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244144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5149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044598" y="2414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9808" y="270662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2706624"/>
            <a:ext cx="1306495" cy="82296"/>
          </a:xfrm>
          <a:prstGeom prst="roundRect">
            <a:avLst>
              <a:gd name="adj" fmla="val 22222"/>
            </a:avLst>
          </a:prstGeom>
          <a:solidFill>
            <a:srgbClr val="D6283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279806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6,5% do setor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3054096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8912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00837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044598" y="2980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49808" y="327355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3273552"/>
            <a:ext cx="1175845" cy="82296"/>
          </a:xfrm>
          <a:prstGeom prst="roundRect">
            <a:avLst>
              <a:gd name="adj" fmla="val 22222"/>
            </a:avLst>
          </a:prstGeom>
          <a:solidFill>
            <a:srgbClr val="D6283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" y="336499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6,3% do setor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3547872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438912" y="3621024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" y="3575304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5152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2044598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49808" y="3840480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" y="3840480"/>
            <a:ext cx="783897" cy="82296"/>
          </a:xfrm>
          <a:prstGeom prst="roundRect">
            <a:avLst>
              <a:gd name="adj" fmla="val 22222"/>
            </a:avLst>
          </a:prstGeom>
          <a:solidFill>
            <a:srgbClr val="D6283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9808" y="3931920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4,0% do setor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39" name="Shape 37"/>
          <p:cNvSpPr/>
          <p:nvPr/>
        </p:nvSpPr>
        <p:spPr>
          <a:xfrm>
            <a:off x="438912" y="4187952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38912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" y="4142232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7741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2044598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749808" y="4407408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44" name="Shape 42"/>
          <p:cNvSpPr/>
          <p:nvPr/>
        </p:nvSpPr>
        <p:spPr>
          <a:xfrm>
            <a:off x="749808" y="4407408"/>
            <a:ext cx="783897" cy="82296"/>
          </a:xfrm>
          <a:prstGeom prst="roundRect">
            <a:avLst>
              <a:gd name="adj" fmla="val 22222"/>
            </a:avLst>
          </a:prstGeom>
          <a:solidFill>
            <a:srgbClr val="D6283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9808" y="4498848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4,2% do setor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468172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4754880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38912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49808" y="470916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7742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2044598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749808" y="497433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52" name="Shape 50"/>
          <p:cNvSpPr/>
          <p:nvPr/>
        </p:nvSpPr>
        <p:spPr>
          <a:xfrm>
            <a:off x="749808" y="4974336"/>
            <a:ext cx="457273" cy="82296"/>
          </a:xfrm>
          <a:prstGeom prst="roundRect">
            <a:avLst>
              <a:gd name="adj" fmla="val 22222"/>
            </a:avLst>
          </a:prstGeom>
          <a:solidFill>
            <a:srgbClr val="D62839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49808" y="506577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2,3% do setor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524865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55" name="Shape 53"/>
          <p:cNvSpPr/>
          <p:nvPr/>
        </p:nvSpPr>
        <p:spPr>
          <a:xfrm>
            <a:off x="438912" y="5321808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38912" y="5321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749808" y="527608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5613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2044598" y="5248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749808" y="554126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60" name="Shape 58"/>
          <p:cNvSpPr/>
          <p:nvPr/>
        </p:nvSpPr>
        <p:spPr>
          <a:xfrm>
            <a:off x="749808" y="5541264"/>
            <a:ext cx="391948" cy="82296"/>
          </a:xfrm>
          <a:prstGeom prst="roundRect">
            <a:avLst>
              <a:gd name="adj" fmla="val 22222"/>
            </a:avLst>
          </a:prstGeom>
          <a:solidFill>
            <a:srgbClr val="D62839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49808" y="563270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2,1% do setor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" y="581558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63" name="Shape 61"/>
          <p:cNvSpPr/>
          <p:nvPr/>
        </p:nvSpPr>
        <p:spPr>
          <a:xfrm>
            <a:off x="438912" y="5888736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38912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749808" y="584301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7748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2044598" y="5815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749808" y="610819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68" name="Shape 66"/>
          <p:cNvSpPr/>
          <p:nvPr/>
        </p:nvSpPr>
        <p:spPr>
          <a:xfrm>
            <a:off x="749808" y="6108192"/>
            <a:ext cx="326624" cy="82296"/>
          </a:xfrm>
          <a:prstGeom prst="roundRect">
            <a:avLst>
              <a:gd name="adj" fmla="val 22222"/>
            </a:avLst>
          </a:prstGeom>
          <a:solidFill>
            <a:srgbClr val="D62839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49808" y="619963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 do setor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684678" y="960120"/>
            <a:ext cx="2181758" cy="777240"/>
          </a:xfrm>
          <a:prstGeom prst="roundRect">
            <a:avLst>
              <a:gd name="adj" fmla="val 9412"/>
            </a:avLst>
          </a:prstGeom>
          <a:solidFill>
            <a:srgbClr val="F3A71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>
            <a:off x="2794406" y="1051560"/>
            <a:ext cx="1962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2</a:t>
            </a:r>
            <a:endParaRPr lang="en-US" sz="2300" dirty="0"/>
          </a:p>
        </p:txBody>
      </p:sp>
      <p:sp>
        <p:nvSpPr>
          <p:cNvPr id="72" name="Text 70"/>
          <p:cNvSpPr txBox="1"/>
          <p:nvPr/>
        </p:nvSpPr>
        <p:spPr>
          <a:xfrm>
            <a:off x="2794406" y="1399032"/>
            <a:ext cx="1962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médicos no painel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2684678" y="184708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74" name="Shape 72"/>
          <p:cNvSpPr/>
          <p:nvPr/>
        </p:nvSpPr>
        <p:spPr>
          <a:xfrm>
            <a:off x="2757830" y="1920240"/>
            <a:ext cx="256032" cy="256032"/>
          </a:xfrm>
          <a:prstGeom prst="ellipse">
            <a:avLst/>
          </a:prstGeom>
          <a:solidFill>
            <a:srgbClr val="F3A712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275783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3068726" y="187452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7745</a:t>
            </a:r>
            <a:endParaRPr lang="en-US" sz="1500" dirty="0"/>
          </a:p>
        </p:txBody>
      </p:sp>
      <p:sp>
        <p:nvSpPr>
          <p:cNvPr id="77" name="Text 75"/>
          <p:cNvSpPr txBox="1"/>
          <p:nvPr/>
        </p:nvSpPr>
        <p:spPr>
          <a:xfrm>
            <a:off x="4363517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3068726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79" name="Shape 77"/>
          <p:cNvSpPr/>
          <p:nvPr/>
        </p:nvSpPr>
        <p:spPr>
          <a:xfrm>
            <a:off x="3068726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F3A71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3068726" y="223113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17,8% do setor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684678" y="241401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82" name="Shape 80"/>
          <p:cNvSpPr/>
          <p:nvPr/>
        </p:nvSpPr>
        <p:spPr>
          <a:xfrm>
            <a:off x="2757830" y="2487168"/>
            <a:ext cx="256032" cy="256032"/>
          </a:xfrm>
          <a:prstGeom prst="ellipse">
            <a:avLst/>
          </a:prstGeom>
          <a:solidFill>
            <a:srgbClr val="F3A712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275783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3068726" y="244144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5153</a:t>
            </a:r>
            <a:endParaRPr lang="en-US" sz="1500" dirty="0"/>
          </a:p>
        </p:txBody>
      </p:sp>
      <p:sp>
        <p:nvSpPr>
          <p:cNvPr id="85" name="Text 83"/>
          <p:cNvSpPr txBox="1"/>
          <p:nvPr/>
        </p:nvSpPr>
        <p:spPr>
          <a:xfrm>
            <a:off x="4363517" y="2414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3068726" y="270662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87" name="Shape 85"/>
          <p:cNvSpPr/>
          <p:nvPr/>
        </p:nvSpPr>
        <p:spPr>
          <a:xfrm>
            <a:off x="3068726" y="2706624"/>
            <a:ext cx="1440987" cy="82296"/>
          </a:xfrm>
          <a:prstGeom prst="roundRect">
            <a:avLst>
              <a:gd name="adj" fmla="val 22222"/>
            </a:avLst>
          </a:prstGeom>
          <a:solidFill>
            <a:srgbClr val="F3A712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3068726" y="279806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15,7% do setor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684678" y="298094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90" name="Shape 88"/>
          <p:cNvSpPr/>
          <p:nvPr/>
        </p:nvSpPr>
        <p:spPr>
          <a:xfrm>
            <a:off x="2757830" y="3054096"/>
            <a:ext cx="256032" cy="256032"/>
          </a:xfrm>
          <a:prstGeom prst="ellipse">
            <a:avLst/>
          </a:prstGeom>
          <a:solidFill>
            <a:srgbClr val="F3A712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275783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3068726" y="300837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5149</a:t>
            </a:r>
            <a:endParaRPr lang="en-US" sz="1500" dirty="0"/>
          </a:p>
        </p:txBody>
      </p:sp>
      <p:sp>
        <p:nvSpPr>
          <p:cNvPr id="93" name="Text 91"/>
          <p:cNvSpPr txBox="1"/>
          <p:nvPr/>
        </p:nvSpPr>
        <p:spPr>
          <a:xfrm>
            <a:off x="4363517" y="2980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700" dirty="0"/>
          </a:p>
        </p:txBody>
      </p:sp>
      <p:sp>
        <p:nvSpPr>
          <p:cNvPr id="94" name="Shape 92"/>
          <p:cNvSpPr/>
          <p:nvPr/>
        </p:nvSpPr>
        <p:spPr>
          <a:xfrm>
            <a:off x="3068726" y="327355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95" name="Shape 93"/>
          <p:cNvSpPr/>
          <p:nvPr/>
        </p:nvSpPr>
        <p:spPr>
          <a:xfrm>
            <a:off x="3068726" y="3273552"/>
            <a:ext cx="896614" cy="82296"/>
          </a:xfrm>
          <a:prstGeom prst="roundRect">
            <a:avLst>
              <a:gd name="adj" fmla="val 22222"/>
            </a:avLst>
          </a:prstGeom>
          <a:solidFill>
            <a:srgbClr val="F3A712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3068726" y="336499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9,0% do setor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684678" y="3547872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98" name="Shape 96"/>
          <p:cNvSpPr/>
          <p:nvPr/>
        </p:nvSpPr>
        <p:spPr>
          <a:xfrm>
            <a:off x="2757830" y="3621024"/>
            <a:ext cx="256032" cy="256032"/>
          </a:xfrm>
          <a:prstGeom prst="ellipse">
            <a:avLst/>
          </a:prstGeom>
          <a:solidFill>
            <a:srgbClr val="F3A712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2757830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3068726" y="3575304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7748</a:t>
            </a:r>
            <a:endParaRPr lang="en-US" sz="1500" dirty="0"/>
          </a:p>
        </p:txBody>
      </p:sp>
      <p:sp>
        <p:nvSpPr>
          <p:cNvPr id="101" name="Text 99"/>
          <p:cNvSpPr txBox="1"/>
          <p:nvPr/>
        </p:nvSpPr>
        <p:spPr>
          <a:xfrm>
            <a:off x="4363517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700" dirty="0"/>
          </a:p>
        </p:txBody>
      </p:sp>
      <p:sp>
        <p:nvSpPr>
          <p:cNvPr id="102" name="Shape 100"/>
          <p:cNvSpPr/>
          <p:nvPr/>
        </p:nvSpPr>
        <p:spPr>
          <a:xfrm>
            <a:off x="3068726" y="3840480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068726" y="3840480"/>
            <a:ext cx="768526" cy="82296"/>
          </a:xfrm>
          <a:prstGeom prst="roundRect">
            <a:avLst>
              <a:gd name="adj" fmla="val 22222"/>
            </a:avLst>
          </a:prstGeom>
          <a:solidFill>
            <a:srgbClr val="F3A712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3068726" y="3931920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8,3% do setor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684678" y="4114800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757830" y="4187952"/>
            <a:ext cx="256032" cy="256032"/>
          </a:xfrm>
          <a:prstGeom prst="ellipse">
            <a:avLst/>
          </a:prstGeom>
          <a:solidFill>
            <a:srgbClr val="F3A712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275783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3068726" y="4142232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5613</a:t>
            </a:r>
            <a:endParaRPr lang="en-US" sz="1500" dirty="0"/>
          </a:p>
        </p:txBody>
      </p:sp>
      <p:sp>
        <p:nvSpPr>
          <p:cNvPr id="109" name="Text 107"/>
          <p:cNvSpPr txBox="1"/>
          <p:nvPr/>
        </p:nvSpPr>
        <p:spPr>
          <a:xfrm>
            <a:off x="4363517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700" dirty="0"/>
          </a:p>
        </p:txBody>
      </p:sp>
      <p:sp>
        <p:nvSpPr>
          <p:cNvPr id="110" name="Shape 108"/>
          <p:cNvSpPr/>
          <p:nvPr/>
        </p:nvSpPr>
        <p:spPr>
          <a:xfrm>
            <a:off x="3068726" y="4407408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068726" y="4407408"/>
            <a:ext cx="736504" cy="82296"/>
          </a:xfrm>
          <a:prstGeom prst="roundRect">
            <a:avLst>
              <a:gd name="adj" fmla="val 22222"/>
            </a:avLst>
          </a:prstGeom>
          <a:solidFill>
            <a:srgbClr val="F3A712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3068726" y="4498848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8,2% do setor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2684678" y="468172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757830" y="4754880"/>
            <a:ext cx="256032" cy="256032"/>
          </a:xfrm>
          <a:prstGeom prst="ellipse">
            <a:avLst/>
          </a:prstGeom>
          <a:solidFill>
            <a:srgbClr val="F3A712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275783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3068726" y="470916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7741</a:t>
            </a:r>
            <a:endParaRPr lang="en-US" sz="1500" dirty="0"/>
          </a:p>
        </p:txBody>
      </p:sp>
      <p:sp>
        <p:nvSpPr>
          <p:cNvPr id="117" name="Text 115"/>
          <p:cNvSpPr txBox="1"/>
          <p:nvPr/>
        </p:nvSpPr>
        <p:spPr>
          <a:xfrm>
            <a:off x="4363517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118" name="Shape 116"/>
          <p:cNvSpPr/>
          <p:nvPr/>
        </p:nvSpPr>
        <p:spPr>
          <a:xfrm>
            <a:off x="3068726" y="497433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068726" y="4974336"/>
            <a:ext cx="704482" cy="82296"/>
          </a:xfrm>
          <a:prstGeom prst="roundRect">
            <a:avLst>
              <a:gd name="adj" fmla="val 22222"/>
            </a:avLst>
          </a:prstGeom>
          <a:solidFill>
            <a:srgbClr val="F3A712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3068726" y="506577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7,7% do setor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2684678" y="524865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757830" y="5321808"/>
            <a:ext cx="256032" cy="256032"/>
          </a:xfrm>
          <a:prstGeom prst="ellipse">
            <a:avLst/>
          </a:prstGeom>
          <a:solidFill>
            <a:srgbClr val="F3A712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2757830" y="5321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3068726" y="527608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5152</a:t>
            </a:r>
            <a:endParaRPr lang="en-US" sz="1500" dirty="0"/>
          </a:p>
        </p:txBody>
      </p:sp>
      <p:sp>
        <p:nvSpPr>
          <p:cNvPr id="125" name="Text 123"/>
          <p:cNvSpPr txBox="1"/>
          <p:nvPr/>
        </p:nvSpPr>
        <p:spPr>
          <a:xfrm>
            <a:off x="4363517" y="5248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700" dirty="0"/>
          </a:p>
        </p:txBody>
      </p:sp>
      <p:sp>
        <p:nvSpPr>
          <p:cNvPr id="126" name="Shape 124"/>
          <p:cNvSpPr/>
          <p:nvPr/>
        </p:nvSpPr>
        <p:spPr>
          <a:xfrm>
            <a:off x="3068726" y="554126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27" name="Shape 125"/>
          <p:cNvSpPr/>
          <p:nvPr/>
        </p:nvSpPr>
        <p:spPr>
          <a:xfrm>
            <a:off x="3068726" y="5541264"/>
            <a:ext cx="576395" cy="82296"/>
          </a:xfrm>
          <a:prstGeom prst="roundRect">
            <a:avLst>
              <a:gd name="adj" fmla="val 22222"/>
            </a:avLst>
          </a:prstGeom>
          <a:solidFill>
            <a:srgbClr val="F3A712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3068726" y="563270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6,1% do setor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2684678" y="581558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757830" y="5888736"/>
            <a:ext cx="256032" cy="256032"/>
          </a:xfrm>
          <a:prstGeom prst="ellipse">
            <a:avLst/>
          </a:prstGeom>
          <a:solidFill>
            <a:srgbClr val="F3A712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2757830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3068726" y="584301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7742</a:t>
            </a:r>
            <a:endParaRPr lang="en-US" sz="1500" dirty="0"/>
          </a:p>
        </p:txBody>
      </p:sp>
      <p:sp>
        <p:nvSpPr>
          <p:cNvPr id="133" name="Text 131"/>
          <p:cNvSpPr txBox="1"/>
          <p:nvPr/>
        </p:nvSpPr>
        <p:spPr>
          <a:xfrm>
            <a:off x="4363517" y="5815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134" name="Shape 132"/>
          <p:cNvSpPr/>
          <p:nvPr/>
        </p:nvSpPr>
        <p:spPr>
          <a:xfrm>
            <a:off x="3068726" y="610819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3068726" y="6108192"/>
            <a:ext cx="416285" cy="82296"/>
          </a:xfrm>
          <a:prstGeom prst="roundRect">
            <a:avLst>
              <a:gd name="adj" fmla="val 22222"/>
            </a:avLst>
          </a:prstGeom>
          <a:solidFill>
            <a:srgbClr val="F3A712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3068726" y="619963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4,2% do setor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5003597" y="960120"/>
            <a:ext cx="2181758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8" name="Text 136"/>
          <p:cNvSpPr txBox="1"/>
          <p:nvPr/>
        </p:nvSpPr>
        <p:spPr>
          <a:xfrm>
            <a:off x="5113325" y="1051560"/>
            <a:ext cx="1962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3</a:t>
            </a:r>
            <a:endParaRPr lang="en-US" sz="2300" dirty="0"/>
          </a:p>
        </p:txBody>
      </p:sp>
      <p:sp>
        <p:nvSpPr>
          <p:cNvPr id="139" name="Text 137"/>
          <p:cNvSpPr txBox="1"/>
          <p:nvPr/>
        </p:nvSpPr>
        <p:spPr>
          <a:xfrm>
            <a:off x="5113325" y="1399032"/>
            <a:ext cx="1962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 médicos no painel</a:t>
            </a:r>
            <a:endParaRPr lang="en-US" sz="1250" dirty="0"/>
          </a:p>
        </p:txBody>
      </p:sp>
      <p:sp>
        <p:nvSpPr>
          <p:cNvPr id="140" name="Shape 138"/>
          <p:cNvSpPr/>
          <p:nvPr/>
        </p:nvSpPr>
        <p:spPr>
          <a:xfrm>
            <a:off x="5003597" y="184708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5076749" y="1920240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5076749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5387645" y="187452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7745</a:t>
            </a:r>
            <a:endParaRPr lang="en-US" sz="1500" dirty="0"/>
          </a:p>
        </p:txBody>
      </p:sp>
      <p:sp>
        <p:nvSpPr>
          <p:cNvPr id="144" name="Text 142"/>
          <p:cNvSpPr txBox="1"/>
          <p:nvPr/>
        </p:nvSpPr>
        <p:spPr>
          <a:xfrm>
            <a:off x="6682435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700" dirty="0"/>
          </a:p>
        </p:txBody>
      </p:sp>
      <p:sp>
        <p:nvSpPr>
          <p:cNvPr id="145" name="Shape 143"/>
          <p:cNvSpPr/>
          <p:nvPr/>
        </p:nvSpPr>
        <p:spPr>
          <a:xfrm>
            <a:off x="5387645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5387645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5387645" y="223113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25,2% do setor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5003597" y="241401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5076749" y="2487168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5076749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5387645" y="244144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5153</a:t>
            </a:r>
            <a:endParaRPr lang="en-US" sz="1500" dirty="0"/>
          </a:p>
        </p:txBody>
      </p:sp>
      <p:sp>
        <p:nvSpPr>
          <p:cNvPr id="152" name="Text 150"/>
          <p:cNvSpPr txBox="1"/>
          <p:nvPr/>
        </p:nvSpPr>
        <p:spPr>
          <a:xfrm>
            <a:off x="6682435" y="2414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700" dirty="0"/>
          </a:p>
        </p:txBody>
      </p:sp>
      <p:sp>
        <p:nvSpPr>
          <p:cNvPr id="153" name="Shape 151"/>
          <p:cNvSpPr/>
          <p:nvPr/>
        </p:nvSpPr>
        <p:spPr>
          <a:xfrm>
            <a:off x="5387645" y="270662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5387645" y="2706624"/>
            <a:ext cx="1292885" cy="82296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5387645" y="279806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19,9% do setor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5003597" y="298094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57" name="Shape 155"/>
          <p:cNvSpPr/>
          <p:nvPr/>
        </p:nvSpPr>
        <p:spPr>
          <a:xfrm>
            <a:off x="5076749" y="3054096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5076749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5387645" y="300837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5149</a:t>
            </a:r>
            <a:endParaRPr lang="en-US" sz="1500" dirty="0"/>
          </a:p>
        </p:txBody>
      </p:sp>
      <p:sp>
        <p:nvSpPr>
          <p:cNvPr id="160" name="Text 158"/>
          <p:cNvSpPr txBox="1"/>
          <p:nvPr/>
        </p:nvSpPr>
        <p:spPr>
          <a:xfrm>
            <a:off x="6682435" y="2980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700" dirty="0"/>
          </a:p>
        </p:txBody>
      </p:sp>
      <p:sp>
        <p:nvSpPr>
          <p:cNvPr id="161" name="Shape 159"/>
          <p:cNvSpPr/>
          <p:nvPr/>
        </p:nvSpPr>
        <p:spPr>
          <a:xfrm>
            <a:off x="5387645" y="327355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62" name="Shape 160"/>
          <p:cNvSpPr/>
          <p:nvPr/>
        </p:nvSpPr>
        <p:spPr>
          <a:xfrm>
            <a:off x="5387645" y="3273552"/>
            <a:ext cx="1020699" cy="82296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5387645" y="336499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14,5% do setor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5003597" y="3547872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076749" y="3621024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5076749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5387645" y="3575304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7742</a:t>
            </a:r>
            <a:endParaRPr lang="en-US" sz="1500" dirty="0"/>
          </a:p>
        </p:txBody>
      </p:sp>
      <p:sp>
        <p:nvSpPr>
          <p:cNvPr id="168" name="Text 166"/>
          <p:cNvSpPr txBox="1"/>
          <p:nvPr/>
        </p:nvSpPr>
        <p:spPr>
          <a:xfrm>
            <a:off x="6682435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700" dirty="0"/>
          </a:p>
        </p:txBody>
      </p:sp>
      <p:sp>
        <p:nvSpPr>
          <p:cNvPr id="169" name="Shape 167"/>
          <p:cNvSpPr/>
          <p:nvPr/>
        </p:nvSpPr>
        <p:spPr>
          <a:xfrm>
            <a:off x="5387645" y="3840480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70" name="Shape 168"/>
          <p:cNvSpPr/>
          <p:nvPr/>
        </p:nvSpPr>
        <p:spPr>
          <a:xfrm>
            <a:off x="5387645" y="3840480"/>
            <a:ext cx="1020699" cy="82296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5387645" y="3931920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14,6% do setor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5003597" y="4114800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73" name="Shape 171"/>
          <p:cNvSpPr/>
          <p:nvPr/>
        </p:nvSpPr>
        <p:spPr>
          <a:xfrm>
            <a:off x="5076749" y="4187952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5076749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5387645" y="4142232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7741</a:t>
            </a:r>
            <a:endParaRPr lang="en-US" sz="1500" dirty="0"/>
          </a:p>
        </p:txBody>
      </p:sp>
      <p:sp>
        <p:nvSpPr>
          <p:cNvPr id="176" name="Text 174"/>
          <p:cNvSpPr txBox="1"/>
          <p:nvPr/>
        </p:nvSpPr>
        <p:spPr>
          <a:xfrm>
            <a:off x="6682435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700" dirty="0"/>
          </a:p>
        </p:txBody>
      </p:sp>
      <p:sp>
        <p:nvSpPr>
          <p:cNvPr id="177" name="Shape 175"/>
          <p:cNvSpPr/>
          <p:nvPr/>
        </p:nvSpPr>
        <p:spPr>
          <a:xfrm>
            <a:off x="5387645" y="4407408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78" name="Shape 176"/>
          <p:cNvSpPr/>
          <p:nvPr/>
        </p:nvSpPr>
        <p:spPr>
          <a:xfrm>
            <a:off x="5387645" y="4407408"/>
            <a:ext cx="975335" cy="82296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5387645" y="4498848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15,1% do setor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5003597" y="468172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81" name="Shape 179"/>
          <p:cNvSpPr/>
          <p:nvPr/>
        </p:nvSpPr>
        <p:spPr>
          <a:xfrm>
            <a:off x="5076749" y="4754880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5076749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3" name="Text 181"/>
          <p:cNvSpPr txBox="1"/>
          <p:nvPr/>
        </p:nvSpPr>
        <p:spPr>
          <a:xfrm>
            <a:off x="5387645" y="470916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5152</a:t>
            </a:r>
            <a:endParaRPr lang="en-US" sz="1500" dirty="0"/>
          </a:p>
        </p:txBody>
      </p:sp>
      <p:sp>
        <p:nvSpPr>
          <p:cNvPr id="184" name="Text 182"/>
          <p:cNvSpPr txBox="1"/>
          <p:nvPr/>
        </p:nvSpPr>
        <p:spPr>
          <a:xfrm>
            <a:off x="6682435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700" dirty="0"/>
          </a:p>
        </p:txBody>
      </p:sp>
      <p:sp>
        <p:nvSpPr>
          <p:cNvPr id="185" name="Shape 183"/>
          <p:cNvSpPr/>
          <p:nvPr/>
        </p:nvSpPr>
        <p:spPr>
          <a:xfrm>
            <a:off x="5387645" y="497433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86" name="Shape 184"/>
          <p:cNvSpPr/>
          <p:nvPr/>
        </p:nvSpPr>
        <p:spPr>
          <a:xfrm>
            <a:off x="5387645" y="4974336"/>
            <a:ext cx="771195" cy="82296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</p:sp>
      <p:sp>
        <p:nvSpPr>
          <p:cNvPr id="187" name="Text 185"/>
          <p:cNvSpPr txBox="1"/>
          <p:nvPr/>
        </p:nvSpPr>
        <p:spPr>
          <a:xfrm>
            <a:off x="5387645" y="506577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11,4% do setor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5003597" y="524865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89" name="Shape 187"/>
          <p:cNvSpPr/>
          <p:nvPr/>
        </p:nvSpPr>
        <p:spPr>
          <a:xfrm>
            <a:off x="5076749" y="5321808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5076749" y="5321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5387645" y="527608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5613</a:t>
            </a:r>
            <a:endParaRPr lang="en-US" sz="1500" dirty="0"/>
          </a:p>
        </p:txBody>
      </p:sp>
      <p:sp>
        <p:nvSpPr>
          <p:cNvPr id="192" name="Text 190"/>
          <p:cNvSpPr txBox="1"/>
          <p:nvPr/>
        </p:nvSpPr>
        <p:spPr>
          <a:xfrm>
            <a:off x="6682435" y="5248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700" dirty="0"/>
          </a:p>
        </p:txBody>
      </p:sp>
      <p:sp>
        <p:nvSpPr>
          <p:cNvPr id="193" name="Shape 191"/>
          <p:cNvSpPr/>
          <p:nvPr/>
        </p:nvSpPr>
        <p:spPr>
          <a:xfrm>
            <a:off x="5387645" y="554126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387645" y="5541264"/>
            <a:ext cx="725830" cy="82296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</p:sp>
      <p:sp>
        <p:nvSpPr>
          <p:cNvPr id="195" name="Text 193"/>
          <p:cNvSpPr txBox="1"/>
          <p:nvPr/>
        </p:nvSpPr>
        <p:spPr>
          <a:xfrm>
            <a:off x="5387645" y="563270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11,4% do setor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5003597" y="581558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076749" y="5888736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8" name="Text 196"/>
          <p:cNvSpPr txBox="1"/>
          <p:nvPr/>
        </p:nvSpPr>
        <p:spPr>
          <a:xfrm>
            <a:off x="5076749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99" name="Text 197"/>
          <p:cNvSpPr txBox="1"/>
          <p:nvPr/>
        </p:nvSpPr>
        <p:spPr>
          <a:xfrm>
            <a:off x="5387645" y="584301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7748</a:t>
            </a:r>
            <a:endParaRPr lang="en-US" sz="1500" dirty="0"/>
          </a:p>
        </p:txBody>
      </p:sp>
      <p:sp>
        <p:nvSpPr>
          <p:cNvPr id="200" name="Text 198"/>
          <p:cNvSpPr txBox="1"/>
          <p:nvPr/>
        </p:nvSpPr>
        <p:spPr>
          <a:xfrm>
            <a:off x="6682435" y="5815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700" dirty="0"/>
          </a:p>
        </p:txBody>
      </p:sp>
      <p:sp>
        <p:nvSpPr>
          <p:cNvPr id="201" name="Shape 199"/>
          <p:cNvSpPr/>
          <p:nvPr/>
        </p:nvSpPr>
        <p:spPr>
          <a:xfrm>
            <a:off x="5387645" y="610819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02" name="Shape 200"/>
          <p:cNvSpPr/>
          <p:nvPr/>
        </p:nvSpPr>
        <p:spPr>
          <a:xfrm>
            <a:off x="5387645" y="6108192"/>
            <a:ext cx="521691" cy="82296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5387645" y="619963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 do setor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7322515" y="960120"/>
            <a:ext cx="2181758" cy="777240"/>
          </a:xfrm>
          <a:prstGeom prst="roundRect">
            <a:avLst>
              <a:gd name="adj" fmla="val 9412"/>
            </a:avLst>
          </a:prstGeom>
          <a:solidFill>
            <a:srgbClr val="6A4C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5" name="Text 203"/>
          <p:cNvSpPr txBox="1"/>
          <p:nvPr/>
        </p:nvSpPr>
        <p:spPr>
          <a:xfrm>
            <a:off x="7432243" y="1051560"/>
            <a:ext cx="1962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4</a:t>
            </a:r>
            <a:endParaRPr lang="en-US" sz="2300" dirty="0"/>
          </a:p>
        </p:txBody>
      </p:sp>
      <p:sp>
        <p:nvSpPr>
          <p:cNvPr id="206" name="Text 204"/>
          <p:cNvSpPr txBox="1"/>
          <p:nvPr/>
        </p:nvSpPr>
        <p:spPr>
          <a:xfrm>
            <a:off x="7432243" y="1399032"/>
            <a:ext cx="1962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 médicos no painel</a:t>
            </a:r>
            <a:endParaRPr lang="en-US" sz="1250" dirty="0"/>
          </a:p>
        </p:txBody>
      </p:sp>
      <p:sp>
        <p:nvSpPr>
          <p:cNvPr id="207" name="Shape 205"/>
          <p:cNvSpPr/>
          <p:nvPr/>
        </p:nvSpPr>
        <p:spPr>
          <a:xfrm>
            <a:off x="7322515" y="184708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08" name="Shape 206"/>
          <p:cNvSpPr/>
          <p:nvPr/>
        </p:nvSpPr>
        <p:spPr>
          <a:xfrm>
            <a:off x="7395667" y="1920240"/>
            <a:ext cx="256032" cy="25603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09" name="Text 207"/>
          <p:cNvSpPr txBox="1"/>
          <p:nvPr/>
        </p:nvSpPr>
        <p:spPr>
          <a:xfrm>
            <a:off x="7395667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0" name="Text 208"/>
          <p:cNvSpPr txBox="1"/>
          <p:nvPr/>
        </p:nvSpPr>
        <p:spPr>
          <a:xfrm>
            <a:off x="7706563" y="187452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7742</a:t>
            </a:r>
            <a:endParaRPr lang="en-US" sz="1500" dirty="0"/>
          </a:p>
        </p:txBody>
      </p:sp>
      <p:sp>
        <p:nvSpPr>
          <p:cNvPr id="211" name="Text 209"/>
          <p:cNvSpPr txBox="1"/>
          <p:nvPr/>
        </p:nvSpPr>
        <p:spPr>
          <a:xfrm>
            <a:off x="9001354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700" dirty="0"/>
          </a:p>
        </p:txBody>
      </p:sp>
      <p:sp>
        <p:nvSpPr>
          <p:cNvPr id="212" name="Shape 210"/>
          <p:cNvSpPr/>
          <p:nvPr/>
        </p:nvSpPr>
        <p:spPr>
          <a:xfrm>
            <a:off x="7706563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13" name="Shape 211"/>
          <p:cNvSpPr/>
          <p:nvPr/>
        </p:nvSpPr>
        <p:spPr>
          <a:xfrm>
            <a:off x="7706563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6A4C93"/>
          </a:solidFill>
          <a:ln/>
        </p:spPr>
      </p:sp>
      <p:sp>
        <p:nvSpPr>
          <p:cNvPr id="214" name="Text 212"/>
          <p:cNvSpPr txBox="1"/>
          <p:nvPr/>
        </p:nvSpPr>
        <p:spPr>
          <a:xfrm>
            <a:off x="7706563" y="223113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29,8% do setor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7322515" y="241401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16" name="Shape 214"/>
          <p:cNvSpPr/>
          <p:nvPr/>
        </p:nvSpPr>
        <p:spPr>
          <a:xfrm>
            <a:off x="7395667" y="2487168"/>
            <a:ext cx="256032" cy="25603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17" name="Text 215"/>
          <p:cNvSpPr txBox="1"/>
          <p:nvPr/>
        </p:nvSpPr>
        <p:spPr>
          <a:xfrm>
            <a:off x="7395667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8" name="Text 216"/>
          <p:cNvSpPr txBox="1"/>
          <p:nvPr/>
        </p:nvSpPr>
        <p:spPr>
          <a:xfrm>
            <a:off x="7706563" y="244144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5153</a:t>
            </a:r>
            <a:endParaRPr lang="en-US" sz="1500" dirty="0"/>
          </a:p>
        </p:txBody>
      </p:sp>
      <p:sp>
        <p:nvSpPr>
          <p:cNvPr id="219" name="Text 217"/>
          <p:cNvSpPr txBox="1"/>
          <p:nvPr/>
        </p:nvSpPr>
        <p:spPr>
          <a:xfrm>
            <a:off x="9001354" y="2414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700" dirty="0"/>
          </a:p>
        </p:txBody>
      </p:sp>
      <p:sp>
        <p:nvSpPr>
          <p:cNvPr id="220" name="Shape 218"/>
          <p:cNvSpPr/>
          <p:nvPr/>
        </p:nvSpPr>
        <p:spPr>
          <a:xfrm>
            <a:off x="7706563" y="270662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21" name="Shape 219"/>
          <p:cNvSpPr/>
          <p:nvPr/>
        </p:nvSpPr>
        <p:spPr>
          <a:xfrm>
            <a:off x="7706563" y="2706624"/>
            <a:ext cx="1508859" cy="82296"/>
          </a:xfrm>
          <a:prstGeom prst="roundRect">
            <a:avLst>
              <a:gd name="adj" fmla="val 22222"/>
            </a:avLst>
          </a:prstGeom>
          <a:solidFill>
            <a:srgbClr val="6A4C93"/>
          </a:solidFill>
          <a:ln/>
        </p:spPr>
      </p:sp>
      <p:sp>
        <p:nvSpPr>
          <p:cNvPr id="222" name="Text 220"/>
          <p:cNvSpPr txBox="1"/>
          <p:nvPr/>
        </p:nvSpPr>
        <p:spPr>
          <a:xfrm>
            <a:off x="7706563" y="279806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29,6% do setor</a:t>
            </a:r>
            <a:endParaRPr lang="en-US" sz="800" dirty="0"/>
          </a:p>
        </p:txBody>
      </p:sp>
      <p:sp>
        <p:nvSpPr>
          <p:cNvPr id="223" name="Shape 221"/>
          <p:cNvSpPr/>
          <p:nvPr/>
        </p:nvSpPr>
        <p:spPr>
          <a:xfrm>
            <a:off x="7322515" y="298094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24" name="Shape 222"/>
          <p:cNvSpPr/>
          <p:nvPr/>
        </p:nvSpPr>
        <p:spPr>
          <a:xfrm>
            <a:off x="7395667" y="3054096"/>
            <a:ext cx="256032" cy="25603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25" name="Text 223"/>
          <p:cNvSpPr txBox="1"/>
          <p:nvPr/>
        </p:nvSpPr>
        <p:spPr>
          <a:xfrm>
            <a:off x="7395667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6" name="Text 224"/>
          <p:cNvSpPr txBox="1"/>
          <p:nvPr/>
        </p:nvSpPr>
        <p:spPr>
          <a:xfrm>
            <a:off x="7706563" y="300837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7741</a:t>
            </a:r>
            <a:endParaRPr lang="en-US" sz="1500" dirty="0"/>
          </a:p>
        </p:txBody>
      </p:sp>
      <p:sp>
        <p:nvSpPr>
          <p:cNvPr id="227" name="Text 225"/>
          <p:cNvSpPr txBox="1"/>
          <p:nvPr/>
        </p:nvSpPr>
        <p:spPr>
          <a:xfrm>
            <a:off x="9001354" y="2980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700" dirty="0"/>
          </a:p>
        </p:txBody>
      </p:sp>
      <p:sp>
        <p:nvSpPr>
          <p:cNvPr id="228" name="Shape 226"/>
          <p:cNvSpPr/>
          <p:nvPr/>
        </p:nvSpPr>
        <p:spPr>
          <a:xfrm>
            <a:off x="7706563" y="327355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29" name="Shape 227"/>
          <p:cNvSpPr/>
          <p:nvPr/>
        </p:nvSpPr>
        <p:spPr>
          <a:xfrm>
            <a:off x="7706563" y="3273552"/>
            <a:ext cx="1508859" cy="82296"/>
          </a:xfrm>
          <a:prstGeom prst="roundRect">
            <a:avLst>
              <a:gd name="adj" fmla="val 22222"/>
            </a:avLst>
          </a:prstGeom>
          <a:solidFill>
            <a:srgbClr val="6A4C93"/>
          </a:solidFill>
          <a:ln/>
        </p:spPr>
      </p:sp>
      <p:sp>
        <p:nvSpPr>
          <p:cNvPr id="230" name="Text 228"/>
          <p:cNvSpPr txBox="1"/>
          <p:nvPr/>
        </p:nvSpPr>
        <p:spPr>
          <a:xfrm>
            <a:off x="7706563" y="336499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29,9% do setor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7322515" y="3547872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32" name="Shape 230"/>
          <p:cNvSpPr/>
          <p:nvPr/>
        </p:nvSpPr>
        <p:spPr>
          <a:xfrm>
            <a:off x="7395667" y="3621024"/>
            <a:ext cx="256032" cy="25603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33" name="Text 231"/>
          <p:cNvSpPr txBox="1"/>
          <p:nvPr/>
        </p:nvSpPr>
        <p:spPr>
          <a:xfrm>
            <a:off x="7395667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4" name="Text 232"/>
          <p:cNvSpPr txBox="1"/>
          <p:nvPr/>
        </p:nvSpPr>
        <p:spPr>
          <a:xfrm>
            <a:off x="7706563" y="3575304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5152</a:t>
            </a:r>
            <a:endParaRPr lang="en-US" sz="1500" dirty="0"/>
          </a:p>
        </p:txBody>
      </p:sp>
      <p:sp>
        <p:nvSpPr>
          <p:cNvPr id="235" name="Text 233"/>
          <p:cNvSpPr txBox="1"/>
          <p:nvPr/>
        </p:nvSpPr>
        <p:spPr>
          <a:xfrm>
            <a:off x="9001354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700" dirty="0"/>
          </a:p>
        </p:txBody>
      </p:sp>
      <p:sp>
        <p:nvSpPr>
          <p:cNvPr id="236" name="Shape 234"/>
          <p:cNvSpPr/>
          <p:nvPr/>
        </p:nvSpPr>
        <p:spPr>
          <a:xfrm>
            <a:off x="7706563" y="3840480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37" name="Shape 235"/>
          <p:cNvSpPr/>
          <p:nvPr/>
        </p:nvSpPr>
        <p:spPr>
          <a:xfrm>
            <a:off x="7706563" y="3840480"/>
            <a:ext cx="1491108" cy="82296"/>
          </a:xfrm>
          <a:prstGeom prst="roundRect">
            <a:avLst>
              <a:gd name="adj" fmla="val 22222"/>
            </a:avLst>
          </a:prstGeom>
          <a:solidFill>
            <a:srgbClr val="6A4C93"/>
          </a:solidFill>
          <a:ln/>
        </p:spPr>
      </p:sp>
      <p:sp>
        <p:nvSpPr>
          <p:cNvPr id="238" name="Text 236"/>
          <p:cNvSpPr txBox="1"/>
          <p:nvPr/>
        </p:nvSpPr>
        <p:spPr>
          <a:xfrm>
            <a:off x="7706563" y="3931920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28,3% do setor</a:t>
            </a:r>
            <a:endParaRPr lang="en-US" sz="800" dirty="0"/>
          </a:p>
        </p:txBody>
      </p:sp>
      <p:sp>
        <p:nvSpPr>
          <p:cNvPr id="239" name="Shape 237"/>
          <p:cNvSpPr/>
          <p:nvPr/>
        </p:nvSpPr>
        <p:spPr>
          <a:xfrm>
            <a:off x="7322515" y="4114800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40" name="Shape 238"/>
          <p:cNvSpPr/>
          <p:nvPr/>
        </p:nvSpPr>
        <p:spPr>
          <a:xfrm>
            <a:off x="7395667" y="4187952"/>
            <a:ext cx="256032" cy="25603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41" name="Text 239"/>
          <p:cNvSpPr txBox="1"/>
          <p:nvPr/>
        </p:nvSpPr>
        <p:spPr>
          <a:xfrm>
            <a:off x="7395667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2" name="Text 240"/>
          <p:cNvSpPr txBox="1"/>
          <p:nvPr/>
        </p:nvSpPr>
        <p:spPr>
          <a:xfrm>
            <a:off x="7706563" y="4142232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7745</a:t>
            </a:r>
            <a:endParaRPr lang="en-US" sz="1500" dirty="0"/>
          </a:p>
        </p:txBody>
      </p:sp>
      <p:sp>
        <p:nvSpPr>
          <p:cNvPr id="243" name="Text 241"/>
          <p:cNvSpPr txBox="1"/>
          <p:nvPr/>
        </p:nvSpPr>
        <p:spPr>
          <a:xfrm>
            <a:off x="9001354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700" dirty="0"/>
          </a:p>
        </p:txBody>
      </p:sp>
      <p:sp>
        <p:nvSpPr>
          <p:cNvPr id="244" name="Shape 242"/>
          <p:cNvSpPr/>
          <p:nvPr/>
        </p:nvSpPr>
        <p:spPr>
          <a:xfrm>
            <a:off x="7706563" y="4407408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45" name="Shape 243"/>
          <p:cNvSpPr/>
          <p:nvPr/>
        </p:nvSpPr>
        <p:spPr>
          <a:xfrm>
            <a:off x="7706563" y="4407408"/>
            <a:ext cx="1278093" cy="82296"/>
          </a:xfrm>
          <a:prstGeom prst="roundRect">
            <a:avLst>
              <a:gd name="adj" fmla="val 22222"/>
            </a:avLst>
          </a:prstGeom>
          <a:solidFill>
            <a:srgbClr val="6A4C93"/>
          </a:solidFill>
          <a:ln/>
        </p:spPr>
      </p:sp>
      <p:sp>
        <p:nvSpPr>
          <p:cNvPr id="246" name="Text 244"/>
          <p:cNvSpPr txBox="1"/>
          <p:nvPr/>
        </p:nvSpPr>
        <p:spPr>
          <a:xfrm>
            <a:off x="7706563" y="4498848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25,2% do setor</a:t>
            </a:r>
            <a:endParaRPr lang="en-US" sz="800" dirty="0"/>
          </a:p>
        </p:txBody>
      </p:sp>
      <p:sp>
        <p:nvSpPr>
          <p:cNvPr id="247" name="Shape 245"/>
          <p:cNvSpPr/>
          <p:nvPr/>
        </p:nvSpPr>
        <p:spPr>
          <a:xfrm>
            <a:off x="7322515" y="468172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48" name="Shape 246"/>
          <p:cNvSpPr/>
          <p:nvPr/>
        </p:nvSpPr>
        <p:spPr>
          <a:xfrm>
            <a:off x="7395667" y="4754880"/>
            <a:ext cx="256032" cy="25603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49" name="Text 247"/>
          <p:cNvSpPr txBox="1"/>
          <p:nvPr/>
        </p:nvSpPr>
        <p:spPr>
          <a:xfrm>
            <a:off x="7395667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0" name="Text 248"/>
          <p:cNvSpPr txBox="1"/>
          <p:nvPr/>
        </p:nvSpPr>
        <p:spPr>
          <a:xfrm>
            <a:off x="7706563" y="470916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5149</a:t>
            </a:r>
            <a:endParaRPr lang="en-US" sz="1500" dirty="0"/>
          </a:p>
        </p:txBody>
      </p:sp>
      <p:sp>
        <p:nvSpPr>
          <p:cNvPr id="251" name="Text 249"/>
          <p:cNvSpPr txBox="1"/>
          <p:nvPr/>
        </p:nvSpPr>
        <p:spPr>
          <a:xfrm>
            <a:off x="9001354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700" dirty="0"/>
          </a:p>
        </p:txBody>
      </p:sp>
      <p:sp>
        <p:nvSpPr>
          <p:cNvPr id="252" name="Shape 250"/>
          <p:cNvSpPr/>
          <p:nvPr/>
        </p:nvSpPr>
        <p:spPr>
          <a:xfrm>
            <a:off x="7706563" y="497433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53" name="Shape 251"/>
          <p:cNvSpPr/>
          <p:nvPr/>
        </p:nvSpPr>
        <p:spPr>
          <a:xfrm>
            <a:off x="7706563" y="4974336"/>
            <a:ext cx="1260341" cy="82296"/>
          </a:xfrm>
          <a:prstGeom prst="roundRect">
            <a:avLst>
              <a:gd name="adj" fmla="val 22222"/>
            </a:avLst>
          </a:prstGeom>
          <a:solidFill>
            <a:srgbClr val="6A4C93"/>
          </a:solidFill>
          <a:ln/>
        </p:spPr>
      </p:sp>
      <p:sp>
        <p:nvSpPr>
          <p:cNvPr id="254" name="Text 252"/>
          <p:cNvSpPr txBox="1"/>
          <p:nvPr/>
        </p:nvSpPr>
        <p:spPr>
          <a:xfrm>
            <a:off x="7706563" y="506577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22,9% do setor</a:t>
            </a:r>
            <a:endParaRPr lang="en-US" sz="800" dirty="0"/>
          </a:p>
        </p:txBody>
      </p:sp>
      <p:sp>
        <p:nvSpPr>
          <p:cNvPr id="255" name="Shape 253"/>
          <p:cNvSpPr/>
          <p:nvPr/>
        </p:nvSpPr>
        <p:spPr>
          <a:xfrm>
            <a:off x="7322515" y="524865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56" name="Shape 254"/>
          <p:cNvSpPr/>
          <p:nvPr/>
        </p:nvSpPr>
        <p:spPr>
          <a:xfrm>
            <a:off x="7395667" y="5321808"/>
            <a:ext cx="256032" cy="25603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57" name="Text 255"/>
          <p:cNvSpPr txBox="1"/>
          <p:nvPr/>
        </p:nvSpPr>
        <p:spPr>
          <a:xfrm>
            <a:off x="7395667" y="5321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8" name="Text 256"/>
          <p:cNvSpPr txBox="1"/>
          <p:nvPr/>
        </p:nvSpPr>
        <p:spPr>
          <a:xfrm>
            <a:off x="7706563" y="527608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5613</a:t>
            </a:r>
            <a:endParaRPr lang="en-US" sz="1500" dirty="0"/>
          </a:p>
        </p:txBody>
      </p:sp>
      <p:sp>
        <p:nvSpPr>
          <p:cNvPr id="259" name="Text 257"/>
          <p:cNvSpPr txBox="1"/>
          <p:nvPr/>
        </p:nvSpPr>
        <p:spPr>
          <a:xfrm>
            <a:off x="9001354" y="5248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260" name="Shape 258"/>
          <p:cNvSpPr/>
          <p:nvPr/>
        </p:nvSpPr>
        <p:spPr>
          <a:xfrm>
            <a:off x="7706563" y="554126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61" name="Shape 259"/>
          <p:cNvSpPr/>
          <p:nvPr/>
        </p:nvSpPr>
        <p:spPr>
          <a:xfrm>
            <a:off x="7706563" y="5541264"/>
            <a:ext cx="1136082" cy="82296"/>
          </a:xfrm>
          <a:prstGeom prst="roundRect">
            <a:avLst>
              <a:gd name="adj" fmla="val 22222"/>
            </a:avLst>
          </a:prstGeom>
          <a:solidFill>
            <a:srgbClr val="6A4C93"/>
          </a:solidFill>
          <a:ln/>
        </p:spPr>
      </p:sp>
      <p:sp>
        <p:nvSpPr>
          <p:cNvPr id="262" name="Text 260"/>
          <p:cNvSpPr txBox="1"/>
          <p:nvPr/>
        </p:nvSpPr>
        <p:spPr>
          <a:xfrm>
            <a:off x="7706563" y="563270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22,8% do setor</a:t>
            </a:r>
            <a:endParaRPr lang="en-US" sz="800" dirty="0"/>
          </a:p>
        </p:txBody>
      </p:sp>
      <p:sp>
        <p:nvSpPr>
          <p:cNvPr id="263" name="Shape 261"/>
          <p:cNvSpPr/>
          <p:nvPr/>
        </p:nvSpPr>
        <p:spPr>
          <a:xfrm>
            <a:off x="7322515" y="581558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64" name="Shape 262"/>
          <p:cNvSpPr/>
          <p:nvPr/>
        </p:nvSpPr>
        <p:spPr>
          <a:xfrm>
            <a:off x="7395667" y="5888736"/>
            <a:ext cx="256032" cy="25603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65" name="Text 263"/>
          <p:cNvSpPr txBox="1"/>
          <p:nvPr/>
        </p:nvSpPr>
        <p:spPr>
          <a:xfrm>
            <a:off x="7395667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6" name="Text 264"/>
          <p:cNvSpPr txBox="1"/>
          <p:nvPr/>
        </p:nvSpPr>
        <p:spPr>
          <a:xfrm>
            <a:off x="7706563" y="584301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7748</a:t>
            </a:r>
            <a:endParaRPr lang="en-US" sz="1500" dirty="0"/>
          </a:p>
        </p:txBody>
      </p:sp>
      <p:sp>
        <p:nvSpPr>
          <p:cNvPr id="267" name="Text 265"/>
          <p:cNvSpPr txBox="1"/>
          <p:nvPr/>
        </p:nvSpPr>
        <p:spPr>
          <a:xfrm>
            <a:off x="9001354" y="5815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268" name="Shape 266"/>
          <p:cNvSpPr/>
          <p:nvPr/>
        </p:nvSpPr>
        <p:spPr>
          <a:xfrm>
            <a:off x="7706563" y="610819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69" name="Shape 267"/>
          <p:cNvSpPr/>
          <p:nvPr/>
        </p:nvSpPr>
        <p:spPr>
          <a:xfrm>
            <a:off x="7706563" y="6108192"/>
            <a:ext cx="1136082" cy="82296"/>
          </a:xfrm>
          <a:prstGeom prst="roundRect">
            <a:avLst>
              <a:gd name="adj" fmla="val 22222"/>
            </a:avLst>
          </a:prstGeom>
          <a:solidFill>
            <a:srgbClr val="6A4C93"/>
          </a:solidFill>
          <a:ln/>
        </p:spPr>
      </p:sp>
      <p:sp>
        <p:nvSpPr>
          <p:cNvPr id="270" name="Text 268"/>
          <p:cNvSpPr txBox="1"/>
          <p:nvPr/>
        </p:nvSpPr>
        <p:spPr>
          <a:xfrm>
            <a:off x="7706563" y="619963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22,1% do setor</a:t>
            </a:r>
            <a:endParaRPr lang="en-US" sz="800" dirty="0"/>
          </a:p>
        </p:txBody>
      </p:sp>
      <p:sp>
        <p:nvSpPr>
          <p:cNvPr id="271" name="Shape 269"/>
          <p:cNvSpPr/>
          <p:nvPr/>
        </p:nvSpPr>
        <p:spPr>
          <a:xfrm>
            <a:off x="9641434" y="960120"/>
            <a:ext cx="2181758" cy="777240"/>
          </a:xfrm>
          <a:prstGeom prst="roundRect">
            <a:avLst>
              <a:gd name="adj" fmla="val 9412"/>
            </a:avLst>
          </a:prstGeom>
          <a:solidFill>
            <a:srgbClr val="52B78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2" name="Text 270"/>
          <p:cNvSpPr txBox="1"/>
          <p:nvPr/>
        </p:nvSpPr>
        <p:spPr>
          <a:xfrm>
            <a:off x="9751162" y="1051560"/>
            <a:ext cx="1962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5</a:t>
            </a:r>
            <a:endParaRPr lang="en-US" sz="2300" dirty="0"/>
          </a:p>
        </p:txBody>
      </p:sp>
      <p:sp>
        <p:nvSpPr>
          <p:cNvPr id="273" name="Text 271"/>
          <p:cNvSpPr txBox="1"/>
          <p:nvPr/>
        </p:nvSpPr>
        <p:spPr>
          <a:xfrm>
            <a:off x="9751162" y="1399032"/>
            <a:ext cx="1962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1046 médicos no painel</a:t>
            </a:r>
            <a:endParaRPr lang="en-US" sz="1250" dirty="0"/>
          </a:p>
        </p:txBody>
      </p:sp>
      <p:sp>
        <p:nvSpPr>
          <p:cNvPr id="274" name="Shape 272"/>
          <p:cNvSpPr/>
          <p:nvPr/>
        </p:nvSpPr>
        <p:spPr>
          <a:xfrm>
            <a:off x="9641434" y="184708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714586" y="1920240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76" name="Text 274"/>
          <p:cNvSpPr txBox="1"/>
          <p:nvPr/>
        </p:nvSpPr>
        <p:spPr>
          <a:xfrm>
            <a:off x="9714586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7" name="Text 275"/>
          <p:cNvSpPr txBox="1"/>
          <p:nvPr/>
        </p:nvSpPr>
        <p:spPr>
          <a:xfrm>
            <a:off x="10025482" y="187452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7748</a:t>
            </a:r>
            <a:endParaRPr lang="en-US" sz="1500" dirty="0"/>
          </a:p>
        </p:txBody>
      </p:sp>
      <p:sp>
        <p:nvSpPr>
          <p:cNvPr id="278" name="Text 276"/>
          <p:cNvSpPr txBox="1"/>
          <p:nvPr/>
        </p:nvSpPr>
        <p:spPr>
          <a:xfrm>
            <a:off x="11320272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1700" dirty="0"/>
          </a:p>
        </p:txBody>
      </p:sp>
      <p:sp>
        <p:nvSpPr>
          <p:cNvPr id="279" name="Shape 277"/>
          <p:cNvSpPr/>
          <p:nvPr/>
        </p:nvSpPr>
        <p:spPr>
          <a:xfrm>
            <a:off x="10025482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80" name="Shape 278"/>
          <p:cNvSpPr/>
          <p:nvPr/>
        </p:nvSpPr>
        <p:spPr>
          <a:xfrm>
            <a:off x="10025482" y="213969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52B788"/>
          </a:solidFill>
          <a:ln/>
        </p:spPr>
      </p:sp>
      <p:sp>
        <p:nvSpPr>
          <p:cNvPr id="281" name="Text 279"/>
          <p:cNvSpPr txBox="1"/>
          <p:nvPr/>
        </p:nvSpPr>
        <p:spPr>
          <a:xfrm>
            <a:off x="10025482" y="223113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59,9% do setor</a:t>
            </a:r>
            <a:endParaRPr lang="en-US" sz="800" dirty="0"/>
          </a:p>
        </p:txBody>
      </p:sp>
      <p:sp>
        <p:nvSpPr>
          <p:cNvPr id="282" name="Shape 280"/>
          <p:cNvSpPr/>
          <p:nvPr/>
        </p:nvSpPr>
        <p:spPr>
          <a:xfrm>
            <a:off x="9641434" y="241401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83" name="Shape 281"/>
          <p:cNvSpPr/>
          <p:nvPr/>
        </p:nvSpPr>
        <p:spPr>
          <a:xfrm>
            <a:off x="9714586" y="2487168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84" name="Text 282"/>
          <p:cNvSpPr txBox="1"/>
          <p:nvPr/>
        </p:nvSpPr>
        <p:spPr>
          <a:xfrm>
            <a:off x="9714586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5" name="Text 283"/>
          <p:cNvSpPr txBox="1"/>
          <p:nvPr/>
        </p:nvSpPr>
        <p:spPr>
          <a:xfrm>
            <a:off x="10025482" y="244144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5613</a:t>
            </a:r>
            <a:endParaRPr lang="en-US" sz="1500" dirty="0"/>
          </a:p>
        </p:txBody>
      </p:sp>
      <p:sp>
        <p:nvSpPr>
          <p:cNvPr id="286" name="Text 284"/>
          <p:cNvSpPr txBox="1"/>
          <p:nvPr/>
        </p:nvSpPr>
        <p:spPr>
          <a:xfrm>
            <a:off x="11320272" y="2414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700" dirty="0"/>
          </a:p>
        </p:txBody>
      </p:sp>
      <p:sp>
        <p:nvSpPr>
          <p:cNvPr id="287" name="Shape 285"/>
          <p:cNvSpPr/>
          <p:nvPr/>
        </p:nvSpPr>
        <p:spPr>
          <a:xfrm>
            <a:off x="10025482" y="270662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88" name="Shape 286"/>
          <p:cNvSpPr/>
          <p:nvPr/>
        </p:nvSpPr>
        <p:spPr>
          <a:xfrm>
            <a:off x="10025482" y="2706624"/>
            <a:ext cx="1472639" cy="82296"/>
          </a:xfrm>
          <a:prstGeom prst="roundRect">
            <a:avLst>
              <a:gd name="adj" fmla="val 22222"/>
            </a:avLst>
          </a:prstGeom>
          <a:solidFill>
            <a:srgbClr val="52B788"/>
          </a:solidFill>
          <a:ln/>
        </p:spPr>
      </p:sp>
      <p:sp>
        <p:nvSpPr>
          <p:cNvPr id="289" name="Text 287"/>
          <p:cNvSpPr txBox="1"/>
          <p:nvPr/>
        </p:nvSpPr>
        <p:spPr>
          <a:xfrm>
            <a:off x="10025482" y="279806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55,5% do setor</a:t>
            </a:r>
            <a:endParaRPr lang="en-US" sz="800" dirty="0"/>
          </a:p>
        </p:txBody>
      </p:sp>
      <p:sp>
        <p:nvSpPr>
          <p:cNvPr id="290" name="Shape 288"/>
          <p:cNvSpPr/>
          <p:nvPr/>
        </p:nvSpPr>
        <p:spPr>
          <a:xfrm>
            <a:off x="9641434" y="298094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91" name="Shape 289"/>
          <p:cNvSpPr/>
          <p:nvPr/>
        </p:nvSpPr>
        <p:spPr>
          <a:xfrm>
            <a:off x="9714586" y="3054096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92" name="Text 290"/>
          <p:cNvSpPr txBox="1"/>
          <p:nvPr/>
        </p:nvSpPr>
        <p:spPr>
          <a:xfrm>
            <a:off x="9714586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3" name="Text 291"/>
          <p:cNvSpPr txBox="1"/>
          <p:nvPr/>
        </p:nvSpPr>
        <p:spPr>
          <a:xfrm>
            <a:off x="10025482" y="300837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7742</a:t>
            </a:r>
            <a:endParaRPr lang="en-US" sz="1500" dirty="0"/>
          </a:p>
        </p:txBody>
      </p:sp>
      <p:sp>
        <p:nvSpPr>
          <p:cNvPr id="294" name="Text 292"/>
          <p:cNvSpPr txBox="1"/>
          <p:nvPr/>
        </p:nvSpPr>
        <p:spPr>
          <a:xfrm>
            <a:off x="11320272" y="2980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700" dirty="0"/>
          </a:p>
        </p:txBody>
      </p:sp>
      <p:sp>
        <p:nvSpPr>
          <p:cNvPr id="295" name="Shape 293"/>
          <p:cNvSpPr/>
          <p:nvPr/>
        </p:nvSpPr>
        <p:spPr>
          <a:xfrm>
            <a:off x="10025482" y="327355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296" name="Shape 294"/>
          <p:cNvSpPr/>
          <p:nvPr/>
        </p:nvSpPr>
        <p:spPr>
          <a:xfrm>
            <a:off x="10025482" y="3273552"/>
            <a:ext cx="1434879" cy="82296"/>
          </a:xfrm>
          <a:prstGeom prst="roundRect">
            <a:avLst>
              <a:gd name="adj" fmla="val 22222"/>
            </a:avLst>
          </a:prstGeom>
          <a:solidFill>
            <a:srgbClr val="52B788"/>
          </a:solidFill>
          <a:ln/>
        </p:spPr>
      </p:sp>
      <p:sp>
        <p:nvSpPr>
          <p:cNvPr id="297" name="Text 295"/>
          <p:cNvSpPr txBox="1"/>
          <p:nvPr/>
        </p:nvSpPr>
        <p:spPr>
          <a:xfrm>
            <a:off x="10025482" y="336499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49,2% do setor</a:t>
            </a:r>
            <a:endParaRPr lang="en-US" sz="800" dirty="0"/>
          </a:p>
        </p:txBody>
      </p:sp>
      <p:sp>
        <p:nvSpPr>
          <p:cNvPr id="298" name="Shape 296"/>
          <p:cNvSpPr/>
          <p:nvPr/>
        </p:nvSpPr>
        <p:spPr>
          <a:xfrm>
            <a:off x="9641434" y="3547872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299" name="Shape 297"/>
          <p:cNvSpPr/>
          <p:nvPr/>
        </p:nvSpPr>
        <p:spPr>
          <a:xfrm>
            <a:off x="9714586" y="3621024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00" name="Text 298"/>
          <p:cNvSpPr txBox="1"/>
          <p:nvPr/>
        </p:nvSpPr>
        <p:spPr>
          <a:xfrm>
            <a:off x="9714586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1" name="Text 299"/>
          <p:cNvSpPr txBox="1"/>
          <p:nvPr/>
        </p:nvSpPr>
        <p:spPr>
          <a:xfrm>
            <a:off x="10025482" y="3575304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5152</a:t>
            </a:r>
            <a:endParaRPr lang="en-US" sz="1500" dirty="0"/>
          </a:p>
        </p:txBody>
      </p:sp>
      <p:sp>
        <p:nvSpPr>
          <p:cNvPr id="302" name="Text 300"/>
          <p:cNvSpPr txBox="1"/>
          <p:nvPr/>
        </p:nvSpPr>
        <p:spPr>
          <a:xfrm>
            <a:off x="11320272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1700" dirty="0"/>
          </a:p>
        </p:txBody>
      </p:sp>
      <p:sp>
        <p:nvSpPr>
          <p:cNvPr id="303" name="Shape 301"/>
          <p:cNvSpPr/>
          <p:nvPr/>
        </p:nvSpPr>
        <p:spPr>
          <a:xfrm>
            <a:off x="10025482" y="3840480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304" name="Shape 302"/>
          <p:cNvSpPr/>
          <p:nvPr/>
        </p:nvSpPr>
        <p:spPr>
          <a:xfrm>
            <a:off x="10025482" y="3840480"/>
            <a:ext cx="1406559" cy="82296"/>
          </a:xfrm>
          <a:prstGeom prst="roundRect">
            <a:avLst>
              <a:gd name="adj" fmla="val 22222"/>
            </a:avLst>
          </a:prstGeom>
          <a:solidFill>
            <a:srgbClr val="52B788"/>
          </a:solidFill>
          <a:ln/>
        </p:spPr>
      </p:sp>
      <p:sp>
        <p:nvSpPr>
          <p:cNvPr id="305" name="Text 303"/>
          <p:cNvSpPr txBox="1"/>
          <p:nvPr/>
        </p:nvSpPr>
        <p:spPr>
          <a:xfrm>
            <a:off x="10025482" y="3931920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50,2% do setor</a:t>
            </a:r>
            <a:endParaRPr lang="en-US" sz="800" dirty="0"/>
          </a:p>
        </p:txBody>
      </p:sp>
      <p:sp>
        <p:nvSpPr>
          <p:cNvPr id="306" name="Shape 304"/>
          <p:cNvSpPr/>
          <p:nvPr/>
        </p:nvSpPr>
        <p:spPr>
          <a:xfrm>
            <a:off x="9641434" y="4114800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307" name="Shape 305"/>
          <p:cNvSpPr/>
          <p:nvPr/>
        </p:nvSpPr>
        <p:spPr>
          <a:xfrm>
            <a:off x="9714586" y="4187952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08" name="Text 306"/>
          <p:cNvSpPr txBox="1"/>
          <p:nvPr/>
        </p:nvSpPr>
        <p:spPr>
          <a:xfrm>
            <a:off x="9714586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9" name="Text 307"/>
          <p:cNvSpPr txBox="1"/>
          <p:nvPr/>
        </p:nvSpPr>
        <p:spPr>
          <a:xfrm>
            <a:off x="10025482" y="4142232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5149</a:t>
            </a:r>
            <a:endParaRPr lang="en-US" sz="1500" dirty="0"/>
          </a:p>
        </p:txBody>
      </p:sp>
      <p:sp>
        <p:nvSpPr>
          <p:cNvPr id="310" name="Text 308"/>
          <p:cNvSpPr txBox="1"/>
          <p:nvPr/>
        </p:nvSpPr>
        <p:spPr>
          <a:xfrm>
            <a:off x="11320272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700" dirty="0"/>
          </a:p>
        </p:txBody>
      </p:sp>
      <p:sp>
        <p:nvSpPr>
          <p:cNvPr id="311" name="Shape 309"/>
          <p:cNvSpPr/>
          <p:nvPr/>
        </p:nvSpPr>
        <p:spPr>
          <a:xfrm>
            <a:off x="10025482" y="4407408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312" name="Shape 310"/>
          <p:cNvSpPr/>
          <p:nvPr/>
        </p:nvSpPr>
        <p:spPr>
          <a:xfrm>
            <a:off x="10025482" y="4407408"/>
            <a:ext cx="1378239" cy="82296"/>
          </a:xfrm>
          <a:prstGeom prst="roundRect">
            <a:avLst>
              <a:gd name="adj" fmla="val 22222"/>
            </a:avLst>
          </a:prstGeom>
          <a:solidFill>
            <a:srgbClr val="52B788"/>
          </a:solidFill>
          <a:ln/>
        </p:spPr>
      </p:sp>
      <p:sp>
        <p:nvSpPr>
          <p:cNvPr id="313" name="Text 311"/>
          <p:cNvSpPr txBox="1"/>
          <p:nvPr/>
        </p:nvSpPr>
        <p:spPr>
          <a:xfrm>
            <a:off x="10025482" y="4498848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47,1% do setor</a:t>
            </a:r>
            <a:endParaRPr lang="en-US" sz="800" dirty="0"/>
          </a:p>
        </p:txBody>
      </p:sp>
      <p:sp>
        <p:nvSpPr>
          <p:cNvPr id="314" name="Shape 312"/>
          <p:cNvSpPr/>
          <p:nvPr/>
        </p:nvSpPr>
        <p:spPr>
          <a:xfrm>
            <a:off x="9641434" y="4681728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315" name="Shape 313"/>
          <p:cNvSpPr/>
          <p:nvPr/>
        </p:nvSpPr>
        <p:spPr>
          <a:xfrm>
            <a:off x="9714586" y="4754880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16" name="Text 314"/>
          <p:cNvSpPr txBox="1"/>
          <p:nvPr/>
        </p:nvSpPr>
        <p:spPr>
          <a:xfrm>
            <a:off x="9714586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7" name="Text 315"/>
          <p:cNvSpPr txBox="1"/>
          <p:nvPr/>
        </p:nvSpPr>
        <p:spPr>
          <a:xfrm>
            <a:off x="10025482" y="470916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7741</a:t>
            </a:r>
            <a:endParaRPr lang="en-US" sz="1500" dirty="0"/>
          </a:p>
        </p:txBody>
      </p:sp>
      <p:sp>
        <p:nvSpPr>
          <p:cNvPr id="318" name="Text 316"/>
          <p:cNvSpPr txBox="1"/>
          <p:nvPr/>
        </p:nvSpPr>
        <p:spPr>
          <a:xfrm>
            <a:off x="11320272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700" dirty="0"/>
          </a:p>
        </p:txBody>
      </p:sp>
      <p:sp>
        <p:nvSpPr>
          <p:cNvPr id="319" name="Shape 317"/>
          <p:cNvSpPr/>
          <p:nvPr/>
        </p:nvSpPr>
        <p:spPr>
          <a:xfrm>
            <a:off x="10025482" y="4974336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320" name="Shape 318"/>
          <p:cNvSpPr/>
          <p:nvPr/>
        </p:nvSpPr>
        <p:spPr>
          <a:xfrm>
            <a:off x="10025482" y="4974336"/>
            <a:ext cx="1151679" cy="82296"/>
          </a:xfrm>
          <a:prstGeom prst="roundRect">
            <a:avLst>
              <a:gd name="adj" fmla="val 22222"/>
            </a:avLst>
          </a:prstGeom>
          <a:solidFill>
            <a:srgbClr val="52B788"/>
          </a:solidFill>
          <a:ln/>
        </p:spPr>
      </p:sp>
      <p:sp>
        <p:nvSpPr>
          <p:cNvPr id="321" name="Text 319"/>
          <p:cNvSpPr txBox="1"/>
          <p:nvPr/>
        </p:nvSpPr>
        <p:spPr>
          <a:xfrm>
            <a:off x="10025482" y="5065776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43,0% do setor</a:t>
            </a:r>
            <a:endParaRPr lang="en-US" sz="800" dirty="0"/>
          </a:p>
        </p:txBody>
      </p:sp>
      <p:sp>
        <p:nvSpPr>
          <p:cNvPr id="322" name="Shape 320"/>
          <p:cNvSpPr/>
          <p:nvPr/>
        </p:nvSpPr>
        <p:spPr>
          <a:xfrm>
            <a:off x="9641434" y="5248656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323" name="Shape 321"/>
          <p:cNvSpPr/>
          <p:nvPr/>
        </p:nvSpPr>
        <p:spPr>
          <a:xfrm>
            <a:off x="9714586" y="5321808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24" name="Text 322"/>
          <p:cNvSpPr txBox="1"/>
          <p:nvPr/>
        </p:nvSpPr>
        <p:spPr>
          <a:xfrm>
            <a:off x="9714586" y="5321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5" name="Text 323"/>
          <p:cNvSpPr txBox="1"/>
          <p:nvPr/>
        </p:nvSpPr>
        <p:spPr>
          <a:xfrm>
            <a:off x="10025482" y="5276088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5153</a:t>
            </a:r>
            <a:endParaRPr lang="en-US" sz="1500" dirty="0"/>
          </a:p>
        </p:txBody>
      </p:sp>
      <p:sp>
        <p:nvSpPr>
          <p:cNvPr id="326" name="Text 324"/>
          <p:cNvSpPr txBox="1"/>
          <p:nvPr/>
        </p:nvSpPr>
        <p:spPr>
          <a:xfrm>
            <a:off x="11320272" y="5248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700" dirty="0"/>
          </a:p>
        </p:txBody>
      </p:sp>
      <p:sp>
        <p:nvSpPr>
          <p:cNvPr id="327" name="Shape 325"/>
          <p:cNvSpPr/>
          <p:nvPr/>
        </p:nvSpPr>
        <p:spPr>
          <a:xfrm>
            <a:off x="10025482" y="5541264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328" name="Shape 326"/>
          <p:cNvSpPr/>
          <p:nvPr/>
        </p:nvSpPr>
        <p:spPr>
          <a:xfrm>
            <a:off x="10025482" y="5541264"/>
            <a:ext cx="707999" cy="82296"/>
          </a:xfrm>
          <a:prstGeom prst="roundRect">
            <a:avLst>
              <a:gd name="adj" fmla="val 22222"/>
            </a:avLst>
          </a:prstGeom>
          <a:solidFill>
            <a:srgbClr val="52B788"/>
          </a:solidFill>
          <a:ln/>
        </p:spPr>
      </p:sp>
      <p:sp>
        <p:nvSpPr>
          <p:cNvPr id="329" name="Text 327"/>
          <p:cNvSpPr txBox="1"/>
          <p:nvPr/>
        </p:nvSpPr>
        <p:spPr>
          <a:xfrm>
            <a:off x="10025482" y="5632704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26,1% do setor</a:t>
            </a:r>
            <a:endParaRPr lang="en-US" sz="800" dirty="0"/>
          </a:p>
        </p:txBody>
      </p:sp>
      <p:sp>
        <p:nvSpPr>
          <p:cNvPr id="330" name="Shape 328"/>
          <p:cNvSpPr/>
          <p:nvPr/>
        </p:nvSpPr>
        <p:spPr>
          <a:xfrm>
            <a:off x="9641434" y="5815584"/>
            <a:ext cx="2181758" cy="512064"/>
          </a:xfrm>
          <a:prstGeom prst="roundRect">
            <a:avLst>
              <a:gd name="adj" fmla="val 8929"/>
            </a:avLst>
          </a:prstGeom>
          <a:solidFill>
            <a:srgbClr val="F5F6F8"/>
          </a:solidFill>
          <a:ln/>
        </p:spPr>
      </p:sp>
      <p:sp>
        <p:nvSpPr>
          <p:cNvPr id="331" name="Shape 329"/>
          <p:cNvSpPr/>
          <p:nvPr/>
        </p:nvSpPr>
        <p:spPr>
          <a:xfrm>
            <a:off x="9714586" y="5888736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32" name="Text 330"/>
          <p:cNvSpPr txBox="1"/>
          <p:nvPr/>
        </p:nvSpPr>
        <p:spPr>
          <a:xfrm>
            <a:off x="9714586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33" name="Text 331"/>
          <p:cNvSpPr txBox="1"/>
          <p:nvPr/>
        </p:nvSpPr>
        <p:spPr>
          <a:xfrm>
            <a:off x="10025482" y="5843016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7745</a:t>
            </a:r>
            <a:endParaRPr lang="en-US" sz="1500" dirty="0"/>
          </a:p>
        </p:txBody>
      </p:sp>
      <p:sp>
        <p:nvSpPr>
          <p:cNvPr id="334" name="Text 332"/>
          <p:cNvSpPr txBox="1"/>
          <p:nvPr/>
        </p:nvSpPr>
        <p:spPr>
          <a:xfrm>
            <a:off x="11320272" y="5815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700" dirty="0"/>
          </a:p>
        </p:txBody>
      </p:sp>
      <p:sp>
        <p:nvSpPr>
          <p:cNvPr id="335" name="Shape 333"/>
          <p:cNvSpPr/>
          <p:nvPr/>
        </p:nvSpPr>
        <p:spPr>
          <a:xfrm>
            <a:off x="10025482" y="6108192"/>
            <a:ext cx="1633118" cy="82296"/>
          </a:xfrm>
          <a:prstGeom prst="roundRect">
            <a:avLst>
              <a:gd name="adj" fmla="val 22222"/>
            </a:avLst>
          </a:prstGeom>
          <a:solidFill>
            <a:srgbClr val="E1E4E8"/>
          </a:solidFill>
          <a:ln/>
        </p:spPr>
      </p:sp>
      <p:sp>
        <p:nvSpPr>
          <p:cNvPr id="336" name="Shape 334"/>
          <p:cNvSpPr/>
          <p:nvPr/>
        </p:nvSpPr>
        <p:spPr>
          <a:xfrm>
            <a:off x="10025482" y="6108192"/>
            <a:ext cx="689119" cy="82296"/>
          </a:xfrm>
          <a:prstGeom prst="roundRect">
            <a:avLst>
              <a:gd name="adj" fmla="val 22222"/>
            </a:avLst>
          </a:prstGeom>
          <a:solidFill>
            <a:srgbClr val="52B788"/>
          </a:solidFill>
          <a:ln/>
        </p:spPr>
      </p:sp>
      <p:sp>
        <p:nvSpPr>
          <p:cNvPr id="337" name="Text 335"/>
          <p:cNvSpPr txBox="1"/>
          <p:nvPr/>
        </p:nvSpPr>
        <p:spPr>
          <a:xfrm>
            <a:off x="10025482" y="6199632"/>
            <a:ext cx="17062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25,5% do setor</a:t>
            </a:r>
            <a:endParaRPr lang="en-US" sz="800" dirty="0"/>
          </a:p>
        </p:txBody>
      </p:sp>
      <p:sp>
        <p:nvSpPr>
          <p:cNvPr id="338" name="Text 336"/>
          <p:cNvSpPr txBox="1"/>
          <p:nvPr/>
        </p:nvSpPr>
        <p:spPr>
          <a:xfrm>
            <a:off x="365760" y="6656832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"% do setor" = participação da CAT no total de médicos classificados (CAT 1 a 5) daquele setor.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MÉDICO</a:t>
            </a:r>
            <a:pPr algn="l"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DISTRITAL 1880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 Geral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666744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65760" y="1188720"/>
            <a:ext cx="3666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2.551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no painel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61104" y="1051560"/>
            <a:ext cx="3666744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61104" y="1188720"/>
            <a:ext cx="3666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98264" y="178308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painel já prescrevem EUF (MAT)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6448" y="1051560"/>
            <a:ext cx="3666744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56448" y="1188720"/>
            <a:ext cx="3666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26,7%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178308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painel são CAT 1, 2 ou 3 (680 médicos)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35000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CAT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2181758" cy="2286000"/>
          </a:xfrm>
          <a:prstGeom prst="roundRect">
            <a:avLst>
              <a:gd name="adj" fmla="val 3353"/>
            </a:avLst>
          </a:prstGeom>
          <a:solidFill>
            <a:srgbClr val="D6283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5488" y="2843784"/>
            <a:ext cx="1962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19272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72000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4,5% do painel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84678" y="2697480"/>
            <a:ext cx="2181758" cy="2286000"/>
          </a:xfrm>
          <a:prstGeom prst="roundRect">
            <a:avLst>
              <a:gd name="adj" fmla="val 3353"/>
            </a:avLst>
          </a:prstGeom>
          <a:solidFill>
            <a:srgbClr val="F3A71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794406" y="2843784"/>
            <a:ext cx="1962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776118" y="3319272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2776118" y="4572000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9,6% do painel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03597" y="2697480"/>
            <a:ext cx="2181758" cy="2286000"/>
          </a:xfrm>
          <a:prstGeom prst="roundRect">
            <a:avLst>
              <a:gd name="adj" fmla="val 3353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13325" y="2843784"/>
            <a:ext cx="1962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95037" y="3319272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5095037" y="4572000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15,0% do painel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22515" y="2697480"/>
            <a:ext cx="2181758" cy="2286000"/>
          </a:xfrm>
          <a:prstGeom prst="roundRect">
            <a:avLst>
              <a:gd name="adj" fmla="val 3353"/>
            </a:avLst>
          </a:prstGeom>
          <a:solidFill>
            <a:srgbClr val="6A4C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32243" y="2843784"/>
            <a:ext cx="1962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13955" y="3319272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7413955" y="4572000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26,3% do painel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41434" y="2697480"/>
            <a:ext cx="2181758" cy="2286000"/>
          </a:xfrm>
          <a:prstGeom prst="roundRect">
            <a:avLst>
              <a:gd name="adj" fmla="val 3353"/>
            </a:avLst>
          </a:prstGeom>
          <a:solidFill>
            <a:srgbClr val="52B78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751162" y="2843784"/>
            <a:ext cx="1962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732874" y="3319272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1.046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9732874" y="4572000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44,6% do painel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5257800"/>
            <a:ext cx="11457432" cy="1234440"/>
          </a:xfrm>
          <a:prstGeom prst="roundRect">
            <a:avLst>
              <a:gd name="adj" fmla="val 5926"/>
            </a:avLst>
          </a:prstGeom>
          <a:solidFill>
            <a:srgbClr val="1D3557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REPRESENTATIVIDADE DOS PRESCRITORES · CAT 1 + 2 + 3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623560"/>
            <a:ext cx="5088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</a:t>
            </a:r>
            <a:endParaRPr 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09904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nas CAT 1, 2 e 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094476" y="5623560"/>
            <a:ext cx="5088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99,7%</a:t>
            </a:r>
            <a:endParaRPr lang="en-US" sz="3200" dirty="0"/>
          </a:p>
        </p:txBody>
      </p:sp>
      <p:sp>
        <p:nvSpPr>
          <p:cNvPr id="39" name="Text 37"/>
          <p:cNvSpPr txBox="1"/>
          <p:nvPr/>
        </p:nvSpPr>
        <p:spPr>
          <a:xfrm>
            <a:off x="6094476" y="609904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prescrevem EUF dentro do grupo (678 médicos)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" y="6583680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2.551 médicos no painel. A "Distribuição por CAT" considera os 2.343 já classificados (208 ainda sem CAT).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MÉDICO</a:t>
            </a:r>
            <a:pPr algn="l" indent="0" marL="0">
              <a:buNone/>
            </a:pPr>
            <a:r>
              <a:rPr lang="en-US" sz="28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DISTRITAL 1880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setor e por especialidade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51560"/>
            <a:ext cx="5591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2.551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no painel (todas as CAT + sem CAT)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371600"/>
            <a:ext cx="5591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POR SETOR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73352"/>
          <a:ext cx="5591556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31636" y="1051560"/>
            <a:ext cx="5591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POR ESPECIALIDADE EUROFARMA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1636" y="1371600"/>
          <a:ext cx="5591556" cy="914400"/>
        </p:xfrm>
        <a:graphic>
          <a:graphicData uri="http://schemas.openxmlformats.org/drawingml/2006/table">
            <a:tbl>
              <a:tblPr/>
              <a:tblGrid>
                <a:gridCol w="3854196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do painel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CLG / 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CLG / 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CLG / SNC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60" y="6656832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 agrupam variações (ex.: CLG = Clínica Geral, CLG / PA = Clínica Geral / Pronto Atendimento). Fonte: painel_distrital.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MERCADO</a:t>
            </a:r>
            <a:pPr algn="l" indent="0" marL="0">
              <a:buNone/>
            </a:pPr>
            <a:r>
              <a:rPr lang="en-US" sz="28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DISTRITAL 1880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mercados prioritários (maior representatividade x maior gap vs. líder)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666744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65760" y="1143000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R$ 47,8M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0020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total da distrital (YTD)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61104" y="1051560"/>
            <a:ext cx="3666744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61104" y="1143000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33,0%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98264" y="160020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faturamento concentrado nesses 5 mercados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56448" y="1051560"/>
            <a:ext cx="3666744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56448" y="1143000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R$ 10,4M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160020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gap identificado frente aos líderes desses mercados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1145743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051560"/>
                <a:gridCol w="960120"/>
                <a:gridCol w="914400"/>
                <a:gridCol w="731520"/>
                <a:gridCol w="2331720"/>
                <a:gridCol w="14447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(YTD)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de 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SINOT CLAV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R$ 4.368.417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Clavulin Bd  (67,4%)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R$ 2.317.187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MELOCOX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R$ 3.501.884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Flancox  (74,4%)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R$ 2.380.356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EBASTEL XAROPE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R$ 3.477.589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Allegra  (61,9%)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R$ 1.883.228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R$ 3.096.329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Ansitec  (93,1%)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R$ 2.666.056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AZOX CPR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R$ 1.345.516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Annita  (88,8%)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R$ 1.109.604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5486400"/>
            <a:ext cx="11457432" cy="868680"/>
          </a:xfrm>
          <a:prstGeom prst="roundRect">
            <a:avLst>
              <a:gd name="adj" fmla="val 8421"/>
            </a:avLst>
          </a:prstGeom>
          <a:solidFill>
            <a:srgbClr val="F0F7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55961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onde a Eurofarma já é líder: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 XR (89,9%, +6,6%), PONDERA (55,8%, -13,4%), AMATO (72,1%, -11,7%), TAMIRAM (64,8%, -23,8%). Vários estão em queda de mercado — priorizar defesa de share além da conquista nos 5 mercados acima.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6656832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vs. líder = tamanho do mercado (YTD) × diferença de share entre o líder e a Eurofarma. Fonte: DETALHE_92 (mercado montado, ordenado do maior para o menor).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pPr algn="l" indent="0" marL="0">
              <a:buNone/>
            </a:pPr>
            <a:r>
              <a:rPr lang="en-US" sz="28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SETORES PRIORITÁRIOS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DISTRITAL 1880  ·  3º quadrimestre (setembro a dezembro/2026)  ·  mapa resumo por setor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66744" cy="5440680"/>
          </a:xfrm>
          <a:prstGeom prst="roundRect">
            <a:avLst>
              <a:gd name="adj" fmla="val 2494"/>
            </a:avLst>
          </a:prstGeom>
          <a:solidFill>
            <a:srgbClr val="F8F9FA"/>
          </a:solidFill>
          <a:ln w="19050">
            <a:solidFill>
              <a:srgbClr val="D6283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666744" cy="777240"/>
          </a:xfrm>
          <a:prstGeom prst="roundRect">
            <a:avLst>
              <a:gd name="adj" fmla="val 11765"/>
            </a:avLst>
          </a:prstGeom>
          <a:solidFill>
            <a:srgbClr val="D6283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81328"/>
            <a:ext cx="3666744" cy="393192"/>
          </a:xfrm>
          <a:prstGeom prst="rect">
            <a:avLst/>
          </a:prstGeom>
          <a:solidFill>
            <a:srgbClr val="D628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0352" y="1188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5613 — MILLER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72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R$ 2.373.337   ·   61 médicos CAT 1-3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011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267712"/>
            <a:ext cx="3337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gap de mercado da distrital nos 5 mercados-foco: R$ 2,37M não capturados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EUF médio de apenas 5,4% nesses mercados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61 médicos CAT 1-3 mapeados — o setor com MENOS potencial identificado no painel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4297680"/>
            <a:ext cx="333756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44074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· 3º QUADRIMESTRE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46634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classificação de potencial médico do setor (indício de potencial não mapeado)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SINOT CLAV, EBASTEL XAROPE e MELOCOX no ciclo de visitas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Reforçar amostras/material clínico junto à base já prescritora, para fidelização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61104" y="1097280"/>
            <a:ext cx="3666744" cy="5440680"/>
          </a:xfrm>
          <a:prstGeom prst="roundRect">
            <a:avLst>
              <a:gd name="adj" fmla="val 2494"/>
            </a:avLst>
          </a:prstGeom>
          <a:solidFill>
            <a:srgbClr val="F8F9FA"/>
          </a:solidFill>
          <a:ln w="19050">
            <a:solidFill>
              <a:srgbClr val="6A4C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1104" y="1097280"/>
            <a:ext cx="3666744" cy="777240"/>
          </a:xfrm>
          <a:prstGeom prst="roundRect">
            <a:avLst>
              <a:gd name="adj" fmla="val 11765"/>
            </a:avLst>
          </a:prstGeom>
          <a:solidFill>
            <a:srgbClr val="6A4C93"/>
          </a:solidFill>
          <a:ln/>
        </p:spPr>
      </p:sp>
      <p:sp>
        <p:nvSpPr>
          <p:cNvPr id="16" name="Shape 14"/>
          <p:cNvSpPr/>
          <p:nvPr/>
        </p:nvSpPr>
        <p:spPr>
          <a:xfrm>
            <a:off x="4261104" y="1481328"/>
            <a:ext cx="3666744" cy="393192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25696" y="1188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5153 — MARCELLE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25696" y="1572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R$ 2.243.364   ·   127 médicos CAT 1-3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425696" y="2011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25696" y="2267712"/>
            <a:ext cx="3337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maior gap (R$ 2,24M) e 2º maior nº de médicos CAT 1-3 (127) — prioridade dupla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concentração de gap em SINOT CLAV e STIMA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é o setor com maior representatividade de médicos de alto potencial no painel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25696" y="4297680"/>
            <a:ext cx="333756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25696" y="44074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· 3º QUADRIMESTRE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425696" y="46634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total em SINOT CLAV e STIMA nas visitas aos 127 médicos CAT 1-3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Argumentário comparativo vs. líderes (Clavulin BD/Ansitec) para conversão de share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quinzenal da evolução de share nesses 2 mercados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56448" y="1097280"/>
            <a:ext cx="3666744" cy="5440680"/>
          </a:xfrm>
          <a:prstGeom prst="roundRect">
            <a:avLst>
              <a:gd name="adj" fmla="val 2494"/>
            </a:avLst>
          </a:prstGeom>
          <a:solidFill>
            <a:srgbClr val="F8F9FA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56448" y="1097280"/>
            <a:ext cx="3666744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  <a:ln/>
        </p:spPr>
      </p:sp>
      <p:sp>
        <p:nvSpPr>
          <p:cNvPr id="26" name="Shape 24"/>
          <p:cNvSpPr/>
          <p:nvPr/>
        </p:nvSpPr>
        <p:spPr>
          <a:xfrm>
            <a:off x="8156448" y="1481328"/>
            <a:ext cx="3666744" cy="39319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188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7742 — EDUARDO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1572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R$ 2.145.162   ·   65 médicos CAT 1-3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2011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267712"/>
            <a:ext cx="3337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maior gap (R$ 2,15M), concentrado em MELOCOX e SINOT CLAV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ainda baixo (5,4%) apesar do crescimento de MELOCOX (+41% no período)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médicos CAT 1-3 mapeados no painel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21040" y="4297680"/>
            <a:ext cx="333756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0" y="44074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· 3º QUADRIMESTRE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6634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dirigido de MELOCOX (maior momentum de crescimento) e SINOT CLAV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visitas focado em médicos que já prescrevem outras linhas EUF (cross-sell)</a:t>
            </a:r>
            <a:endParaRPr lang="en-US" sz="1150" dirty="0"/>
          </a:p>
          <a:p>
            <a:pPr algn="l"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concorrente líder CLAVULIN BD (67% de share em SINOT CLAV) para argumentação diferenciada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6629400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combina o gap de mercado (DETALHE_92) nos 5 mercados-foco com a densidade de médicos CAT 1-3 do painel (painel_distrital).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11457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SMART</a:t>
            </a:r>
            <a:pPr algn="l" indent="0" marL="0">
              <a:buNone/>
            </a:pPr>
            <a:r>
              <a:rPr lang="en-US" sz="26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SÍNTESE DISTRITAL 1880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quadrimestre 2026 (setembro a dezembro)  ·  base: painel_distrital + DETALHE_92 (mercado montado)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591556" cy="329184"/>
          </a:xfrm>
          <a:prstGeom prst="roundRect">
            <a:avLst>
              <a:gd name="adj" fmla="val 13889"/>
            </a:avLst>
          </a:prstGeom>
          <a:solidFill>
            <a:srgbClr val="1D35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914400"/>
            <a:ext cx="5317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ATUAL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353312"/>
            <a:ext cx="5500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R$ 47,8M em faturamento (YTD), 41 mercados DDD monitorados</a:t>
            </a:r>
            <a:endParaRPr lang="en-US" sz="1200" dirty="0"/>
          </a:p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2.343 médicos classificados; 680 (29,0%) nas CAT 1, 2 e 3</a:t>
            </a:r>
            <a:endParaRPr lang="en-US" sz="1200" dirty="0"/>
          </a:p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Penetração EUF: 79,5% geral e 99,7% entre CAT 1, 2 e 3</a:t>
            </a:r>
            <a:endParaRPr lang="en-US" sz="1200" dirty="0"/>
          </a:p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mercados-foco = 33,0% do faturamento e R$ 10,4M de gap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1636" y="914400"/>
            <a:ext cx="5591556" cy="329184"/>
          </a:xfrm>
          <a:prstGeom prst="roundRect">
            <a:avLst>
              <a:gd name="adj" fmla="val 13889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68796" y="914400"/>
            <a:ext cx="5317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IDENTIFICADA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353312"/>
            <a:ext cx="5591556" cy="1069848"/>
          </a:xfrm>
          <a:prstGeom prst="roundRect">
            <a:avLst>
              <a:gd name="adj" fmla="val 5128"/>
            </a:avLst>
          </a:prstGeom>
          <a:solidFill>
            <a:srgbClr val="F5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96228" y="1463040"/>
            <a:ext cx="52623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penetração de 99,7% entre CAT 1-3 mostra que a barreira não é confiança na marca — é participação por SKU. Nos 5 mercados-foco a Eurofarma tem share de 6,3% a 14,4%. Os setores 5613, 5153 e 7742 concentram R$ 6,76M desse gap.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11457432" cy="329184"/>
          </a:xfrm>
          <a:prstGeom prst="roundRect">
            <a:avLst>
              <a:gd name="adj" fmla="val 13889"/>
            </a:avLst>
          </a:prstGeom>
          <a:solidFill>
            <a:srgbClr val="F3A71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2532888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PROPOSTAS PARA O 3º QUADRIMESTRE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98648"/>
          <a:ext cx="1145743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394960"/>
                <a:gridCol w="35935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de sucesso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SINOT CLAV / MELOCOX / STIMA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as 3 marcas nas visitas aos setores 5613, 5153 e 7742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 de share mensal por mercado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 na base fiel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Detalhar novas linhas EUF para médicos que já prescrevem a marca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médicos com 2+ marcas EUF prescritas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de potencial — Setor 5613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Reclassificar médicos com maior gap e menor densidade CAT 1-3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Novos médicos CAT 1-3 identificados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Defesa dos mercados líderes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 PONDERA XR, AMATO e TAMIRAM — líderes em mercados que encolhem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Manutenção do share líder (&gt; 50%)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4599432"/>
            <a:ext cx="11457432" cy="329184"/>
          </a:xfrm>
          <a:prstGeom prst="roundRect">
            <a:avLst>
              <a:gd name="adj" fmla="val 13889"/>
            </a:avLst>
          </a:prstGeom>
          <a:solidFill>
            <a:srgbClr val="D6283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02920" y="4599432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 (META DO 3º QUADRIMESTRE)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4965192"/>
            <a:ext cx="2727198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65760" y="5001768"/>
            <a:ext cx="27271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R$ 0,7M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38912" y="5321808"/>
            <a:ext cx="2580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captura (10% do gap nos 3 setores foco)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275838" y="4965192"/>
            <a:ext cx="2727198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275838" y="5001768"/>
            <a:ext cx="27271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3348990" y="5321808"/>
            <a:ext cx="2580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prioritários (5613, 5153, 7742)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185916" y="4965192"/>
            <a:ext cx="2727198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185916" y="5001768"/>
            <a:ext cx="27271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259068" y="5321808"/>
            <a:ext cx="2580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mercados-foco (SINOT CLAV, MELOCOX, EBASTEL XPE, STIMA, AZOX CPR)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9095994" y="4965192"/>
            <a:ext cx="2727198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95994" y="5001768"/>
            <a:ext cx="27271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169146" y="5321808"/>
            <a:ext cx="2580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CAT 1-3 endereçados nos setores foco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65760" y="5669280"/>
            <a:ext cx="11457432" cy="329184"/>
          </a:xfrm>
          <a:prstGeom prst="roundRect">
            <a:avLst>
              <a:gd name="adj" fmla="val 13889"/>
            </a:avLst>
          </a:prstGeom>
          <a:solidFill>
            <a:srgbClr val="52B78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2920" y="56692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PARA EXECUÇÃO E ACOMPANHAMENTO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65760" y="6035040"/>
            <a:ext cx="2761488" cy="41148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57200" y="605332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SET/26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62179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+ revisão de potencial (setor 5613)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264408" y="6035040"/>
            <a:ext cx="2761488" cy="41148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355848" y="605332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OUT/26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3355848" y="62179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 — foco SINOT CLAV, MELOCOX e STIMA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163056" y="6035040"/>
            <a:ext cx="2761488" cy="41148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254496" y="605332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NOV/26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254496" y="62179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intermediária de share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61704" y="6035040"/>
            <a:ext cx="2761488" cy="41148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9153144" y="605332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DEZ/26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153144" y="62179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e consolidado de resultados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365760" y="6537960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ilustrativa (10% do gap identificado) — referência para acompanhamento, a validar com a gestão comercial.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2026-08-31T18:51:03Z</dcterms:created>
  <dcterms:modified xsi:type="dcterms:W3CDTF">2026-08-31T18:51:03Z</dcterms:modified>
</cp:coreProperties>
</file>