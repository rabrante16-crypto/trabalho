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228600"/>
            <a:ext cx="11457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PAINEL MÉDICO</a:t>
            </a:r>
            <a:pPr algn="l" indent="0" marL="0">
              <a:buNone/>
            </a:pPr>
            <a:r>
              <a:rPr lang="en-US" sz="3300" b="1" dirty="0">
                <a:solidFill>
                  <a:srgbClr val="6A4C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DISTRITAL 1880</a:t>
            </a:r>
            <a:endParaRPr lang="en-US" sz="3300" dirty="0"/>
          </a:p>
        </p:txBody>
      </p:sp>
      <p:sp>
        <p:nvSpPr>
          <p:cNvPr id="3" name="Shape 1"/>
          <p:cNvSpPr/>
          <p:nvPr/>
        </p:nvSpPr>
        <p:spPr>
          <a:xfrm>
            <a:off x="365760" y="960120"/>
            <a:ext cx="2181758" cy="777240"/>
          </a:xfrm>
          <a:prstGeom prst="roundRect">
            <a:avLst>
              <a:gd name="adj" fmla="val 9412"/>
            </a:avLst>
          </a:prstGeom>
          <a:solidFill>
            <a:srgbClr val="D62839"/>
          </a:solidFill>
          <a:ln/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475488" y="1051560"/>
            <a:ext cx="19623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 1</a:t>
            </a:r>
            <a:endParaRPr lang="en-US" sz="2300" dirty="0"/>
          </a:p>
        </p:txBody>
      </p:sp>
      <p:sp>
        <p:nvSpPr>
          <p:cNvPr id="5" name="Text 3"/>
          <p:cNvSpPr txBox="1"/>
          <p:nvPr/>
        </p:nvSpPr>
        <p:spPr>
          <a:xfrm>
            <a:off x="475488" y="1399032"/>
            <a:ext cx="196230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105 médicos no painel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365760" y="1847088"/>
            <a:ext cx="2181758" cy="512064"/>
          </a:xfrm>
          <a:prstGeom prst="roundRect">
            <a:avLst>
              <a:gd name="adj" fmla="val 8929"/>
            </a:avLst>
          </a:prstGeom>
          <a:solidFill>
            <a:srgbClr val="F5F6F8"/>
          </a:solidFill>
          <a:ln/>
        </p:spPr>
      </p:sp>
      <p:sp>
        <p:nvSpPr>
          <p:cNvPr id="7" name="Shape 5"/>
          <p:cNvSpPr/>
          <p:nvPr/>
        </p:nvSpPr>
        <p:spPr>
          <a:xfrm>
            <a:off x="438912" y="1920240"/>
            <a:ext cx="256032" cy="256032"/>
          </a:xfrm>
          <a:prstGeom prst="ellipse">
            <a:avLst/>
          </a:prstGeom>
          <a:solidFill>
            <a:srgbClr val="D62839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38912" y="192024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749808" y="1874520"/>
            <a:ext cx="12947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Setor 5153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2044598" y="1847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D628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49808" y="2139696"/>
            <a:ext cx="1633118" cy="82296"/>
          </a:xfrm>
          <a:prstGeom prst="roundRect">
            <a:avLst>
              <a:gd name="adj" fmla="val 22222"/>
            </a:avLst>
          </a:prstGeom>
          <a:solidFill>
            <a:srgbClr val="E1E4E8"/>
          </a:solidFill>
          <a:ln/>
        </p:spPr>
      </p:sp>
      <p:sp>
        <p:nvSpPr>
          <p:cNvPr id="12" name="Shape 10"/>
          <p:cNvSpPr/>
          <p:nvPr/>
        </p:nvSpPr>
        <p:spPr>
          <a:xfrm>
            <a:off x="749808" y="2139696"/>
            <a:ext cx="1633118" cy="82296"/>
          </a:xfrm>
          <a:prstGeom prst="roundRect">
            <a:avLst>
              <a:gd name="adj" fmla="val 22222"/>
            </a:avLst>
          </a:prstGeom>
          <a:solidFill>
            <a:srgbClr val="D62839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49808" y="2231136"/>
            <a:ext cx="170627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8,7% do setor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365760" y="2414016"/>
            <a:ext cx="2181758" cy="512064"/>
          </a:xfrm>
          <a:prstGeom prst="roundRect">
            <a:avLst>
              <a:gd name="adj" fmla="val 8929"/>
            </a:avLst>
          </a:prstGeom>
          <a:solidFill>
            <a:srgbClr val="F5F6F8"/>
          </a:solidFill>
          <a:ln/>
        </p:spPr>
      </p:sp>
      <p:sp>
        <p:nvSpPr>
          <p:cNvPr id="15" name="Shape 13"/>
          <p:cNvSpPr/>
          <p:nvPr/>
        </p:nvSpPr>
        <p:spPr>
          <a:xfrm>
            <a:off x="438912" y="2487168"/>
            <a:ext cx="256032" cy="256032"/>
          </a:xfrm>
          <a:prstGeom prst="ellipse">
            <a:avLst/>
          </a:prstGeom>
          <a:solidFill>
            <a:srgbClr val="D62839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438912" y="248716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749808" y="2441448"/>
            <a:ext cx="12947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Setor 5149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2044598" y="241401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D628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700" dirty="0"/>
          </a:p>
        </p:txBody>
      </p:sp>
      <p:sp>
        <p:nvSpPr>
          <p:cNvPr id="19" name="Shape 17"/>
          <p:cNvSpPr/>
          <p:nvPr/>
        </p:nvSpPr>
        <p:spPr>
          <a:xfrm>
            <a:off x="749808" y="2706624"/>
            <a:ext cx="1633118" cy="82296"/>
          </a:xfrm>
          <a:prstGeom prst="roundRect">
            <a:avLst>
              <a:gd name="adj" fmla="val 22222"/>
            </a:avLst>
          </a:prstGeom>
          <a:solidFill>
            <a:srgbClr val="E1E4E8"/>
          </a:solidFill>
          <a:ln/>
        </p:spPr>
      </p:sp>
      <p:sp>
        <p:nvSpPr>
          <p:cNvPr id="20" name="Shape 18"/>
          <p:cNvSpPr/>
          <p:nvPr/>
        </p:nvSpPr>
        <p:spPr>
          <a:xfrm>
            <a:off x="749808" y="2706624"/>
            <a:ext cx="1306495" cy="82296"/>
          </a:xfrm>
          <a:prstGeom prst="roundRect">
            <a:avLst>
              <a:gd name="adj" fmla="val 22222"/>
            </a:avLst>
          </a:prstGeom>
          <a:solidFill>
            <a:srgbClr val="D62839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49808" y="2798064"/>
            <a:ext cx="170627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6,5% do setor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365760" y="2980944"/>
            <a:ext cx="2181758" cy="512064"/>
          </a:xfrm>
          <a:prstGeom prst="roundRect">
            <a:avLst>
              <a:gd name="adj" fmla="val 8929"/>
            </a:avLst>
          </a:prstGeom>
          <a:solidFill>
            <a:srgbClr val="F5F6F8"/>
          </a:solidFill>
          <a:ln/>
        </p:spPr>
      </p:sp>
      <p:sp>
        <p:nvSpPr>
          <p:cNvPr id="23" name="Shape 21"/>
          <p:cNvSpPr/>
          <p:nvPr/>
        </p:nvSpPr>
        <p:spPr>
          <a:xfrm>
            <a:off x="438912" y="3054096"/>
            <a:ext cx="256032" cy="256032"/>
          </a:xfrm>
          <a:prstGeom prst="ellipse">
            <a:avLst/>
          </a:prstGeom>
          <a:solidFill>
            <a:srgbClr val="D62839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438912" y="305409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749808" y="3008376"/>
            <a:ext cx="12947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Setor 7745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2044598" y="298094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D628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700" dirty="0"/>
          </a:p>
        </p:txBody>
      </p:sp>
      <p:sp>
        <p:nvSpPr>
          <p:cNvPr id="27" name="Shape 25"/>
          <p:cNvSpPr/>
          <p:nvPr/>
        </p:nvSpPr>
        <p:spPr>
          <a:xfrm>
            <a:off x="749808" y="3273552"/>
            <a:ext cx="1633118" cy="82296"/>
          </a:xfrm>
          <a:prstGeom prst="roundRect">
            <a:avLst>
              <a:gd name="adj" fmla="val 22222"/>
            </a:avLst>
          </a:prstGeom>
          <a:solidFill>
            <a:srgbClr val="E1E4E8"/>
          </a:solidFill>
          <a:ln/>
        </p:spPr>
      </p:sp>
      <p:sp>
        <p:nvSpPr>
          <p:cNvPr id="28" name="Shape 26"/>
          <p:cNvSpPr/>
          <p:nvPr/>
        </p:nvSpPr>
        <p:spPr>
          <a:xfrm>
            <a:off x="749808" y="3273552"/>
            <a:ext cx="1175845" cy="82296"/>
          </a:xfrm>
          <a:prstGeom prst="roundRect">
            <a:avLst>
              <a:gd name="adj" fmla="val 22222"/>
            </a:avLst>
          </a:prstGeom>
          <a:solidFill>
            <a:srgbClr val="D62839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749808" y="3364992"/>
            <a:ext cx="170627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6,3% do setor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365760" y="3547872"/>
            <a:ext cx="2181758" cy="512064"/>
          </a:xfrm>
          <a:prstGeom prst="roundRect">
            <a:avLst>
              <a:gd name="adj" fmla="val 8929"/>
            </a:avLst>
          </a:prstGeom>
          <a:solidFill>
            <a:srgbClr val="F5F6F8"/>
          </a:solidFill>
          <a:ln/>
        </p:spPr>
      </p:sp>
      <p:sp>
        <p:nvSpPr>
          <p:cNvPr id="31" name="Shape 29"/>
          <p:cNvSpPr/>
          <p:nvPr/>
        </p:nvSpPr>
        <p:spPr>
          <a:xfrm>
            <a:off x="438912" y="3621024"/>
            <a:ext cx="256032" cy="256032"/>
          </a:xfrm>
          <a:prstGeom prst="ellipse">
            <a:avLst/>
          </a:prstGeom>
          <a:solidFill>
            <a:srgbClr val="D62839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438912" y="362102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749808" y="3575304"/>
            <a:ext cx="12947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Setor 5152</a:t>
            </a:r>
            <a:endParaRPr lang="en-US" sz="1500" dirty="0"/>
          </a:p>
        </p:txBody>
      </p:sp>
      <p:sp>
        <p:nvSpPr>
          <p:cNvPr id="34" name="Text 32"/>
          <p:cNvSpPr txBox="1"/>
          <p:nvPr/>
        </p:nvSpPr>
        <p:spPr>
          <a:xfrm>
            <a:off x="2044598" y="354787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D628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700" dirty="0"/>
          </a:p>
        </p:txBody>
      </p:sp>
      <p:sp>
        <p:nvSpPr>
          <p:cNvPr id="35" name="Shape 33"/>
          <p:cNvSpPr/>
          <p:nvPr/>
        </p:nvSpPr>
        <p:spPr>
          <a:xfrm>
            <a:off x="749808" y="3840480"/>
            <a:ext cx="1633118" cy="82296"/>
          </a:xfrm>
          <a:prstGeom prst="roundRect">
            <a:avLst>
              <a:gd name="adj" fmla="val 22222"/>
            </a:avLst>
          </a:prstGeom>
          <a:solidFill>
            <a:srgbClr val="E1E4E8"/>
          </a:solidFill>
          <a:ln/>
        </p:spPr>
      </p:sp>
      <p:sp>
        <p:nvSpPr>
          <p:cNvPr id="36" name="Shape 34"/>
          <p:cNvSpPr/>
          <p:nvPr/>
        </p:nvSpPr>
        <p:spPr>
          <a:xfrm>
            <a:off x="749808" y="3840480"/>
            <a:ext cx="783897" cy="82296"/>
          </a:xfrm>
          <a:prstGeom prst="roundRect">
            <a:avLst>
              <a:gd name="adj" fmla="val 22222"/>
            </a:avLst>
          </a:prstGeom>
          <a:solidFill>
            <a:srgbClr val="D62839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749808" y="3931920"/>
            <a:ext cx="170627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4,0% do setor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365760" y="4114800"/>
            <a:ext cx="2181758" cy="512064"/>
          </a:xfrm>
          <a:prstGeom prst="roundRect">
            <a:avLst>
              <a:gd name="adj" fmla="val 8929"/>
            </a:avLst>
          </a:prstGeom>
          <a:solidFill>
            <a:srgbClr val="F5F6F8"/>
          </a:solidFill>
          <a:ln/>
        </p:spPr>
      </p:sp>
      <p:sp>
        <p:nvSpPr>
          <p:cNvPr id="39" name="Shape 37"/>
          <p:cNvSpPr/>
          <p:nvPr/>
        </p:nvSpPr>
        <p:spPr>
          <a:xfrm>
            <a:off x="438912" y="4187952"/>
            <a:ext cx="256032" cy="256032"/>
          </a:xfrm>
          <a:prstGeom prst="ellipse">
            <a:avLst/>
          </a:prstGeom>
          <a:solidFill>
            <a:srgbClr val="D62839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438912" y="418795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41" name="Text 39"/>
          <p:cNvSpPr txBox="1"/>
          <p:nvPr/>
        </p:nvSpPr>
        <p:spPr>
          <a:xfrm>
            <a:off x="749808" y="4142232"/>
            <a:ext cx="12947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Setor 7741</a:t>
            </a:r>
            <a:endParaRPr lang="en-US" sz="1500" dirty="0"/>
          </a:p>
        </p:txBody>
      </p:sp>
      <p:sp>
        <p:nvSpPr>
          <p:cNvPr id="42" name="Text 40"/>
          <p:cNvSpPr txBox="1"/>
          <p:nvPr/>
        </p:nvSpPr>
        <p:spPr>
          <a:xfrm>
            <a:off x="2044598" y="4114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D628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700" dirty="0"/>
          </a:p>
        </p:txBody>
      </p:sp>
      <p:sp>
        <p:nvSpPr>
          <p:cNvPr id="43" name="Shape 41"/>
          <p:cNvSpPr/>
          <p:nvPr/>
        </p:nvSpPr>
        <p:spPr>
          <a:xfrm>
            <a:off x="749808" y="4407408"/>
            <a:ext cx="1633118" cy="82296"/>
          </a:xfrm>
          <a:prstGeom prst="roundRect">
            <a:avLst>
              <a:gd name="adj" fmla="val 22222"/>
            </a:avLst>
          </a:prstGeom>
          <a:solidFill>
            <a:srgbClr val="E1E4E8"/>
          </a:solidFill>
          <a:ln/>
        </p:spPr>
      </p:sp>
      <p:sp>
        <p:nvSpPr>
          <p:cNvPr id="44" name="Shape 42"/>
          <p:cNvSpPr/>
          <p:nvPr/>
        </p:nvSpPr>
        <p:spPr>
          <a:xfrm>
            <a:off x="749808" y="4407408"/>
            <a:ext cx="783897" cy="82296"/>
          </a:xfrm>
          <a:prstGeom prst="roundRect">
            <a:avLst>
              <a:gd name="adj" fmla="val 22222"/>
            </a:avLst>
          </a:prstGeom>
          <a:solidFill>
            <a:srgbClr val="D62839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749808" y="4498848"/>
            <a:ext cx="170627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4,2% do setor</a:t>
            </a:r>
            <a:endParaRPr lang="en-US" sz="800" dirty="0"/>
          </a:p>
        </p:txBody>
      </p:sp>
      <p:sp>
        <p:nvSpPr>
          <p:cNvPr id="46" name="Shape 44"/>
          <p:cNvSpPr/>
          <p:nvPr/>
        </p:nvSpPr>
        <p:spPr>
          <a:xfrm>
            <a:off x="365760" y="4681728"/>
            <a:ext cx="2181758" cy="512064"/>
          </a:xfrm>
          <a:prstGeom prst="roundRect">
            <a:avLst>
              <a:gd name="adj" fmla="val 8929"/>
            </a:avLst>
          </a:prstGeom>
          <a:solidFill>
            <a:srgbClr val="F5F6F8"/>
          </a:solidFill>
          <a:ln/>
        </p:spPr>
      </p:sp>
      <p:sp>
        <p:nvSpPr>
          <p:cNvPr id="47" name="Shape 45"/>
          <p:cNvSpPr/>
          <p:nvPr/>
        </p:nvSpPr>
        <p:spPr>
          <a:xfrm>
            <a:off x="438912" y="4754880"/>
            <a:ext cx="256032" cy="256032"/>
          </a:xfrm>
          <a:prstGeom prst="ellipse">
            <a:avLst/>
          </a:prstGeom>
          <a:solidFill>
            <a:srgbClr val="D62839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438912" y="475488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  <p:sp>
        <p:nvSpPr>
          <p:cNvPr id="49" name="Text 47"/>
          <p:cNvSpPr txBox="1"/>
          <p:nvPr/>
        </p:nvSpPr>
        <p:spPr>
          <a:xfrm>
            <a:off x="749808" y="4709160"/>
            <a:ext cx="12947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Setor 7742</a:t>
            </a:r>
            <a:endParaRPr lang="en-US" sz="1500" dirty="0"/>
          </a:p>
        </p:txBody>
      </p:sp>
      <p:sp>
        <p:nvSpPr>
          <p:cNvPr id="50" name="Text 48"/>
          <p:cNvSpPr txBox="1"/>
          <p:nvPr/>
        </p:nvSpPr>
        <p:spPr>
          <a:xfrm>
            <a:off x="2044598" y="46817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D628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700" dirty="0"/>
          </a:p>
        </p:txBody>
      </p:sp>
      <p:sp>
        <p:nvSpPr>
          <p:cNvPr id="51" name="Shape 49"/>
          <p:cNvSpPr/>
          <p:nvPr/>
        </p:nvSpPr>
        <p:spPr>
          <a:xfrm>
            <a:off x="749808" y="4974336"/>
            <a:ext cx="1633118" cy="82296"/>
          </a:xfrm>
          <a:prstGeom prst="roundRect">
            <a:avLst>
              <a:gd name="adj" fmla="val 22222"/>
            </a:avLst>
          </a:prstGeom>
          <a:solidFill>
            <a:srgbClr val="E1E4E8"/>
          </a:solidFill>
          <a:ln/>
        </p:spPr>
      </p:sp>
      <p:sp>
        <p:nvSpPr>
          <p:cNvPr id="52" name="Shape 50"/>
          <p:cNvSpPr/>
          <p:nvPr/>
        </p:nvSpPr>
        <p:spPr>
          <a:xfrm>
            <a:off x="749808" y="4974336"/>
            <a:ext cx="457273" cy="82296"/>
          </a:xfrm>
          <a:prstGeom prst="roundRect">
            <a:avLst>
              <a:gd name="adj" fmla="val 22222"/>
            </a:avLst>
          </a:prstGeom>
          <a:solidFill>
            <a:srgbClr val="D62839"/>
          </a:solidFill>
          <a:ln/>
        </p:spPr>
      </p:sp>
      <p:sp>
        <p:nvSpPr>
          <p:cNvPr id="53" name="Text 51"/>
          <p:cNvSpPr txBox="1"/>
          <p:nvPr/>
        </p:nvSpPr>
        <p:spPr>
          <a:xfrm>
            <a:off x="749808" y="5065776"/>
            <a:ext cx="170627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2,3% do setor</a:t>
            </a:r>
            <a:endParaRPr lang="en-US" sz="800" dirty="0"/>
          </a:p>
        </p:txBody>
      </p:sp>
      <p:sp>
        <p:nvSpPr>
          <p:cNvPr id="54" name="Shape 52"/>
          <p:cNvSpPr/>
          <p:nvPr/>
        </p:nvSpPr>
        <p:spPr>
          <a:xfrm>
            <a:off x="365760" y="5248656"/>
            <a:ext cx="2181758" cy="512064"/>
          </a:xfrm>
          <a:prstGeom prst="roundRect">
            <a:avLst>
              <a:gd name="adj" fmla="val 8929"/>
            </a:avLst>
          </a:prstGeom>
          <a:solidFill>
            <a:srgbClr val="F5F6F8"/>
          </a:solidFill>
          <a:ln/>
        </p:spPr>
      </p:sp>
      <p:sp>
        <p:nvSpPr>
          <p:cNvPr id="55" name="Shape 53"/>
          <p:cNvSpPr/>
          <p:nvPr/>
        </p:nvSpPr>
        <p:spPr>
          <a:xfrm>
            <a:off x="438912" y="5321808"/>
            <a:ext cx="256032" cy="256032"/>
          </a:xfrm>
          <a:prstGeom prst="ellipse">
            <a:avLst/>
          </a:prstGeom>
          <a:solidFill>
            <a:srgbClr val="D62839"/>
          </a:solidFill>
          <a:ln/>
        </p:spPr>
      </p:sp>
      <p:sp>
        <p:nvSpPr>
          <p:cNvPr id="56" name="Text 54"/>
          <p:cNvSpPr txBox="1"/>
          <p:nvPr/>
        </p:nvSpPr>
        <p:spPr>
          <a:xfrm>
            <a:off x="438912" y="532180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300" dirty="0"/>
          </a:p>
        </p:txBody>
      </p:sp>
      <p:sp>
        <p:nvSpPr>
          <p:cNvPr id="57" name="Text 55"/>
          <p:cNvSpPr txBox="1"/>
          <p:nvPr/>
        </p:nvSpPr>
        <p:spPr>
          <a:xfrm>
            <a:off x="749808" y="5276088"/>
            <a:ext cx="12947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Setor 5613</a:t>
            </a:r>
            <a:endParaRPr lang="en-US" sz="1500" dirty="0"/>
          </a:p>
        </p:txBody>
      </p:sp>
      <p:sp>
        <p:nvSpPr>
          <p:cNvPr id="58" name="Text 56"/>
          <p:cNvSpPr txBox="1"/>
          <p:nvPr/>
        </p:nvSpPr>
        <p:spPr>
          <a:xfrm>
            <a:off x="2044598" y="524865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D628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700" dirty="0"/>
          </a:p>
        </p:txBody>
      </p:sp>
      <p:sp>
        <p:nvSpPr>
          <p:cNvPr id="59" name="Shape 57"/>
          <p:cNvSpPr/>
          <p:nvPr/>
        </p:nvSpPr>
        <p:spPr>
          <a:xfrm>
            <a:off x="749808" y="5541264"/>
            <a:ext cx="1633118" cy="82296"/>
          </a:xfrm>
          <a:prstGeom prst="roundRect">
            <a:avLst>
              <a:gd name="adj" fmla="val 22222"/>
            </a:avLst>
          </a:prstGeom>
          <a:solidFill>
            <a:srgbClr val="E1E4E8"/>
          </a:solidFill>
          <a:ln/>
        </p:spPr>
      </p:sp>
      <p:sp>
        <p:nvSpPr>
          <p:cNvPr id="60" name="Shape 58"/>
          <p:cNvSpPr/>
          <p:nvPr/>
        </p:nvSpPr>
        <p:spPr>
          <a:xfrm>
            <a:off x="749808" y="5541264"/>
            <a:ext cx="391948" cy="82296"/>
          </a:xfrm>
          <a:prstGeom prst="roundRect">
            <a:avLst>
              <a:gd name="adj" fmla="val 22222"/>
            </a:avLst>
          </a:prstGeom>
          <a:solidFill>
            <a:srgbClr val="D62839"/>
          </a:solidFill>
          <a:ln/>
        </p:spPr>
      </p:sp>
      <p:sp>
        <p:nvSpPr>
          <p:cNvPr id="61" name="Text 59"/>
          <p:cNvSpPr txBox="1"/>
          <p:nvPr/>
        </p:nvSpPr>
        <p:spPr>
          <a:xfrm>
            <a:off x="749808" y="5632704"/>
            <a:ext cx="170627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2,1% do setor</a:t>
            </a:r>
            <a:endParaRPr lang="en-US" sz="800" dirty="0"/>
          </a:p>
        </p:txBody>
      </p:sp>
      <p:sp>
        <p:nvSpPr>
          <p:cNvPr id="62" name="Shape 60"/>
          <p:cNvSpPr/>
          <p:nvPr/>
        </p:nvSpPr>
        <p:spPr>
          <a:xfrm>
            <a:off x="365760" y="5815584"/>
            <a:ext cx="2181758" cy="512064"/>
          </a:xfrm>
          <a:prstGeom prst="roundRect">
            <a:avLst>
              <a:gd name="adj" fmla="val 8929"/>
            </a:avLst>
          </a:prstGeom>
          <a:solidFill>
            <a:srgbClr val="F5F6F8"/>
          </a:solidFill>
          <a:ln/>
        </p:spPr>
      </p:sp>
      <p:sp>
        <p:nvSpPr>
          <p:cNvPr id="63" name="Shape 61"/>
          <p:cNvSpPr/>
          <p:nvPr/>
        </p:nvSpPr>
        <p:spPr>
          <a:xfrm>
            <a:off x="438912" y="5888736"/>
            <a:ext cx="256032" cy="256032"/>
          </a:xfrm>
          <a:prstGeom prst="ellipse">
            <a:avLst/>
          </a:prstGeom>
          <a:solidFill>
            <a:srgbClr val="D62839"/>
          </a:solidFill>
          <a:ln/>
        </p:spPr>
      </p:sp>
      <p:sp>
        <p:nvSpPr>
          <p:cNvPr id="64" name="Text 62"/>
          <p:cNvSpPr txBox="1"/>
          <p:nvPr/>
        </p:nvSpPr>
        <p:spPr>
          <a:xfrm>
            <a:off x="438912" y="588873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300" dirty="0"/>
          </a:p>
        </p:txBody>
      </p:sp>
      <p:sp>
        <p:nvSpPr>
          <p:cNvPr id="65" name="Text 63"/>
          <p:cNvSpPr txBox="1"/>
          <p:nvPr/>
        </p:nvSpPr>
        <p:spPr>
          <a:xfrm>
            <a:off x="749808" y="5843016"/>
            <a:ext cx="12947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Setor 7748</a:t>
            </a:r>
            <a:endParaRPr lang="en-US" sz="1500" dirty="0"/>
          </a:p>
        </p:txBody>
      </p:sp>
      <p:sp>
        <p:nvSpPr>
          <p:cNvPr id="66" name="Text 64"/>
          <p:cNvSpPr txBox="1"/>
          <p:nvPr/>
        </p:nvSpPr>
        <p:spPr>
          <a:xfrm>
            <a:off x="2044598" y="581558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D628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700" dirty="0"/>
          </a:p>
        </p:txBody>
      </p:sp>
      <p:sp>
        <p:nvSpPr>
          <p:cNvPr id="67" name="Shape 65"/>
          <p:cNvSpPr/>
          <p:nvPr/>
        </p:nvSpPr>
        <p:spPr>
          <a:xfrm>
            <a:off x="749808" y="6108192"/>
            <a:ext cx="1633118" cy="82296"/>
          </a:xfrm>
          <a:prstGeom prst="roundRect">
            <a:avLst>
              <a:gd name="adj" fmla="val 22222"/>
            </a:avLst>
          </a:prstGeom>
          <a:solidFill>
            <a:srgbClr val="E1E4E8"/>
          </a:solidFill>
          <a:ln/>
        </p:spPr>
      </p:sp>
      <p:sp>
        <p:nvSpPr>
          <p:cNvPr id="68" name="Shape 66"/>
          <p:cNvSpPr/>
          <p:nvPr/>
        </p:nvSpPr>
        <p:spPr>
          <a:xfrm>
            <a:off x="749808" y="6108192"/>
            <a:ext cx="326624" cy="82296"/>
          </a:xfrm>
          <a:prstGeom prst="roundRect">
            <a:avLst>
              <a:gd name="adj" fmla="val 22222"/>
            </a:avLst>
          </a:prstGeom>
          <a:solidFill>
            <a:srgbClr val="D62839"/>
          </a:solidFill>
          <a:ln/>
        </p:spPr>
      </p:sp>
      <p:sp>
        <p:nvSpPr>
          <p:cNvPr id="69" name="Text 67"/>
          <p:cNvSpPr txBox="1"/>
          <p:nvPr/>
        </p:nvSpPr>
        <p:spPr>
          <a:xfrm>
            <a:off x="749808" y="6199632"/>
            <a:ext cx="170627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1,7% do setor</a:t>
            </a:r>
            <a:endParaRPr lang="en-US" sz="800" dirty="0"/>
          </a:p>
        </p:txBody>
      </p:sp>
      <p:sp>
        <p:nvSpPr>
          <p:cNvPr id="70" name="Shape 68"/>
          <p:cNvSpPr/>
          <p:nvPr/>
        </p:nvSpPr>
        <p:spPr>
          <a:xfrm>
            <a:off x="2684678" y="960120"/>
            <a:ext cx="2181758" cy="777240"/>
          </a:xfrm>
          <a:prstGeom prst="roundRect">
            <a:avLst>
              <a:gd name="adj" fmla="val 9412"/>
            </a:avLst>
          </a:prstGeom>
          <a:solidFill>
            <a:srgbClr val="F3A712"/>
          </a:solidFill>
          <a:ln/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71" name="Text 69"/>
          <p:cNvSpPr txBox="1"/>
          <p:nvPr/>
        </p:nvSpPr>
        <p:spPr>
          <a:xfrm>
            <a:off x="2794406" y="1051560"/>
            <a:ext cx="19623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 2</a:t>
            </a:r>
            <a:endParaRPr lang="en-US" sz="2300" dirty="0"/>
          </a:p>
        </p:txBody>
      </p:sp>
      <p:sp>
        <p:nvSpPr>
          <p:cNvPr id="72" name="Text 70"/>
          <p:cNvSpPr txBox="1"/>
          <p:nvPr/>
        </p:nvSpPr>
        <p:spPr>
          <a:xfrm>
            <a:off x="2794406" y="1399032"/>
            <a:ext cx="196230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224 médicos no painel</a:t>
            </a:r>
            <a:endParaRPr lang="en-US" sz="1250" dirty="0"/>
          </a:p>
        </p:txBody>
      </p:sp>
      <p:sp>
        <p:nvSpPr>
          <p:cNvPr id="73" name="Shape 71"/>
          <p:cNvSpPr/>
          <p:nvPr/>
        </p:nvSpPr>
        <p:spPr>
          <a:xfrm>
            <a:off x="2684678" y="1847088"/>
            <a:ext cx="2181758" cy="512064"/>
          </a:xfrm>
          <a:prstGeom prst="roundRect">
            <a:avLst>
              <a:gd name="adj" fmla="val 8929"/>
            </a:avLst>
          </a:prstGeom>
          <a:solidFill>
            <a:srgbClr val="F5F6F8"/>
          </a:solidFill>
          <a:ln/>
        </p:spPr>
      </p:sp>
      <p:sp>
        <p:nvSpPr>
          <p:cNvPr id="74" name="Shape 72"/>
          <p:cNvSpPr/>
          <p:nvPr/>
        </p:nvSpPr>
        <p:spPr>
          <a:xfrm>
            <a:off x="2757830" y="1920240"/>
            <a:ext cx="256032" cy="256032"/>
          </a:xfrm>
          <a:prstGeom prst="ellipse">
            <a:avLst/>
          </a:prstGeom>
          <a:solidFill>
            <a:srgbClr val="F3A712"/>
          </a:solidFill>
          <a:ln/>
        </p:spPr>
      </p:sp>
      <p:sp>
        <p:nvSpPr>
          <p:cNvPr id="75" name="Text 73"/>
          <p:cNvSpPr txBox="1"/>
          <p:nvPr/>
        </p:nvSpPr>
        <p:spPr>
          <a:xfrm>
            <a:off x="2757830" y="192024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76" name="Text 74"/>
          <p:cNvSpPr txBox="1"/>
          <p:nvPr/>
        </p:nvSpPr>
        <p:spPr>
          <a:xfrm>
            <a:off x="3068726" y="1874520"/>
            <a:ext cx="12947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Setor 7745</a:t>
            </a:r>
            <a:endParaRPr lang="en-US" sz="1500" dirty="0"/>
          </a:p>
        </p:txBody>
      </p:sp>
      <p:sp>
        <p:nvSpPr>
          <p:cNvPr id="77" name="Text 75"/>
          <p:cNvSpPr txBox="1"/>
          <p:nvPr/>
        </p:nvSpPr>
        <p:spPr>
          <a:xfrm>
            <a:off x="4363517" y="1847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F3A7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</a:t>
            </a:r>
            <a:endParaRPr lang="en-US" sz="1700" dirty="0"/>
          </a:p>
        </p:txBody>
      </p:sp>
      <p:sp>
        <p:nvSpPr>
          <p:cNvPr id="78" name="Shape 76"/>
          <p:cNvSpPr/>
          <p:nvPr/>
        </p:nvSpPr>
        <p:spPr>
          <a:xfrm>
            <a:off x="3068726" y="2139696"/>
            <a:ext cx="1633118" cy="82296"/>
          </a:xfrm>
          <a:prstGeom prst="roundRect">
            <a:avLst>
              <a:gd name="adj" fmla="val 22222"/>
            </a:avLst>
          </a:prstGeom>
          <a:solidFill>
            <a:srgbClr val="E1E4E8"/>
          </a:solidFill>
          <a:ln/>
        </p:spPr>
      </p:sp>
      <p:sp>
        <p:nvSpPr>
          <p:cNvPr id="79" name="Shape 77"/>
          <p:cNvSpPr/>
          <p:nvPr/>
        </p:nvSpPr>
        <p:spPr>
          <a:xfrm>
            <a:off x="3068726" y="2139696"/>
            <a:ext cx="1633118" cy="82296"/>
          </a:xfrm>
          <a:prstGeom prst="roundRect">
            <a:avLst>
              <a:gd name="adj" fmla="val 22222"/>
            </a:avLst>
          </a:prstGeom>
          <a:solidFill>
            <a:srgbClr val="F3A712"/>
          </a:solidFill>
          <a:ln/>
        </p:spPr>
      </p:sp>
      <p:sp>
        <p:nvSpPr>
          <p:cNvPr id="80" name="Text 78"/>
          <p:cNvSpPr txBox="1"/>
          <p:nvPr/>
        </p:nvSpPr>
        <p:spPr>
          <a:xfrm>
            <a:off x="3068726" y="2231136"/>
            <a:ext cx="170627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17,8% do setor</a:t>
            </a:r>
            <a:endParaRPr lang="en-US" sz="800" dirty="0"/>
          </a:p>
        </p:txBody>
      </p:sp>
      <p:sp>
        <p:nvSpPr>
          <p:cNvPr id="81" name="Shape 79"/>
          <p:cNvSpPr/>
          <p:nvPr/>
        </p:nvSpPr>
        <p:spPr>
          <a:xfrm>
            <a:off x="2684678" y="2414016"/>
            <a:ext cx="2181758" cy="512064"/>
          </a:xfrm>
          <a:prstGeom prst="roundRect">
            <a:avLst>
              <a:gd name="adj" fmla="val 8929"/>
            </a:avLst>
          </a:prstGeom>
          <a:solidFill>
            <a:srgbClr val="F5F6F8"/>
          </a:solidFill>
          <a:ln/>
        </p:spPr>
      </p:sp>
      <p:sp>
        <p:nvSpPr>
          <p:cNvPr id="82" name="Shape 80"/>
          <p:cNvSpPr/>
          <p:nvPr/>
        </p:nvSpPr>
        <p:spPr>
          <a:xfrm>
            <a:off x="2757830" y="2487168"/>
            <a:ext cx="256032" cy="256032"/>
          </a:xfrm>
          <a:prstGeom prst="ellipse">
            <a:avLst/>
          </a:prstGeom>
          <a:solidFill>
            <a:srgbClr val="F3A712"/>
          </a:solidFill>
          <a:ln/>
        </p:spPr>
      </p:sp>
      <p:sp>
        <p:nvSpPr>
          <p:cNvPr id="83" name="Text 81"/>
          <p:cNvSpPr txBox="1"/>
          <p:nvPr/>
        </p:nvSpPr>
        <p:spPr>
          <a:xfrm>
            <a:off x="2757830" y="248716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84" name="Text 82"/>
          <p:cNvSpPr txBox="1"/>
          <p:nvPr/>
        </p:nvSpPr>
        <p:spPr>
          <a:xfrm>
            <a:off x="3068726" y="2441448"/>
            <a:ext cx="12947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Setor 5153</a:t>
            </a:r>
            <a:endParaRPr lang="en-US" sz="1500" dirty="0"/>
          </a:p>
        </p:txBody>
      </p:sp>
      <p:sp>
        <p:nvSpPr>
          <p:cNvPr id="85" name="Text 83"/>
          <p:cNvSpPr txBox="1"/>
          <p:nvPr/>
        </p:nvSpPr>
        <p:spPr>
          <a:xfrm>
            <a:off x="4363517" y="241401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F3A7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</a:t>
            </a:r>
            <a:endParaRPr lang="en-US" sz="1700" dirty="0"/>
          </a:p>
        </p:txBody>
      </p:sp>
      <p:sp>
        <p:nvSpPr>
          <p:cNvPr id="86" name="Shape 84"/>
          <p:cNvSpPr/>
          <p:nvPr/>
        </p:nvSpPr>
        <p:spPr>
          <a:xfrm>
            <a:off x="3068726" y="2706624"/>
            <a:ext cx="1633118" cy="82296"/>
          </a:xfrm>
          <a:prstGeom prst="roundRect">
            <a:avLst>
              <a:gd name="adj" fmla="val 22222"/>
            </a:avLst>
          </a:prstGeom>
          <a:solidFill>
            <a:srgbClr val="E1E4E8"/>
          </a:solidFill>
          <a:ln/>
        </p:spPr>
      </p:sp>
      <p:sp>
        <p:nvSpPr>
          <p:cNvPr id="87" name="Shape 85"/>
          <p:cNvSpPr/>
          <p:nvPr/>
        </p:nvSpPr>
        <p:spPr>
          <a:xfrm>
            <a:off x="3068726" y="2706624"/>
            <a:ext cx="1440987" cy="82296"/>
          </a:xfrm>
          <a:prstGeom prst="roundRect">
            <a:avLst>
              <a:gd name="adj" fmla="val 22222"/>
            </a:avLst>
          </a:prstGeom>
          <a:solidFill>
            <a:srgbClr val="F3A712"/>
          </a:solidFill>
          <a:ln/>
        </p:spPr>
      </p:sp>
      <p:sp>
        <p:nvSpPr>
          <p:cNvPr id="88" name="Text 86"/>
          <p:cNvSpPr txBox="1"/>
          <p:nvPr/>
        </p:nvSpPr>
        <p:spPr>
          <a:xfrm>
            <a:off x="3068726" y="2798064"/>
            <a:ext cx="170627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15,7% do setor</a:t>
            </a:r>
            <a:endParaRPr lang="en-US" sz="800" dirty="0"/>
          </a:p>
        </p:txBody>
      </p:sp>
      <p:sp>
        <p:nvSpPr>
          <p:cNvPr id="89" name="Shape 87"/>
          <p:cNvSpPr/>
          <p:nvPr/>
        </p:nvSpPr>
        <p:spPr>
          <a:xfrm>
            <a:off x="2684678" y="2980944"/>
            <a:ext cx="2181758" cy="512064"/>
          </a:xfrm>
          <a:prstGeom prst="roundRect">
            <a:avLst>
              <a:gd name="adj" fmla="val 8929"/>
            </a:avLst>
          </a:prstGeom>
          <a:solidFill>
            <a:srgbClr val="F5F6F8"/>
          </a:solidFill>
          <a:ln/>
        </p:spPr>
      </p:sp>
      <p:sp>
        <p:nvSpPr>
          <p:cNvPr id="90" name="Shape 88"/>
          <p:cNvSpPr/>
          <p:nvPr/>
        </p:nvSpPr>
        <p:spPr>
          <a:xfrm>
            <a:off x="2757830" y="3054096"/>
            <a:ext cx="256032" cy="256032"/>
          </a:xfrm>
          <a:prstGeom prst="ellipse">
            <a:avLst/>
          </a:prstGeom>
          <a:solidFill>
            <a:srgbClr val="F3A712"/>
          </a:solidFill>
          <a:ln/>
        </p:spPr>
      </p:sp>
      <p:sp>
        <p:nvSpPr>
          <p:cNvPr id="91" name="Text 89"/>
          <p:cNvSpPr txBox="1"/>
          <p:nvPr/>
        </p:nvSpPr>
        <p:spPr>
          <a:xfrm>
            <a:off x="2757830" y="305409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92" name="Text 90"/>
          <p:cNvSpPr txBox="1"/>
          <p:nvPr/>
        </p:nvSpPr>
        <p:spPr>
          <a:xfrm>
            <a:off x="3068726" y="3008376"/>
            <a:ext cx="12947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Setor 5149</a:t>
            </a:r>
            <a:endParaRPr lang="en-US" sz="1500" dirty="0"/>
          </a:p>
        </p:txBody>
      </p:sp>
      <p:sp>
        <p:nvSpPr>
          <p:cNvPr id="93" name="Text 91"/>
          <p:cNvSpPr txBox="1"/>
          <p:nvPr/>
        </p:nvSpPr>
        <p:spPr>
          <a:xfrm>
            <a:off x="4363517" y="298094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F3A7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1700" dirty="0"/>
          </a:p>
        </p:txBody>
      </p:sp>
      <p:sp>
        <p:nvSpPr>
          <p:cNvPr id="94" name="Shape 92"/>
          <p:cNvSpPr/>
          <p:nvPr/>
        </p:nvSpPr>
        <p:spPr>
          <a:xfrm>
            <a:off x="3068726" y="3273552"/>
            <a:ext cx="1633118" cy="82296"/>
          </a:xfrm>
          <a:prstGeom prst="roundRect">
            <a:avLst>
              <a:gd name="adj" fmla="val 22222"/>
            </a:avLst>
          </a:prstGeom>
          <a:solidFill>
            <a:srgbClr val="E1E4E8"/>
          </a:solidFill>
          <a:ln/>
        </p:spPr>
      </p:sp>
      <p:sp>
        <p:nvSpPr>
          <p:cNvPr id="95" name="Shape 93"/>
          <p:cNvSpPr/>
          <p:nvPr/>
        </p:nvSpPr>
        <p:spPr>
          <a:xfrm>
            <a:off x="3068726" y="3273552"/>
            <a:ext cx="896614" cy="82296"/>
          </a:xfrm>
          <a:prstGeom prst="roundRect">
            <a:avLst>
              <a:gd name="adj" fmla="val 22222"/>
            </a:avLst>
          </a:prstGeom>
          <a:solidFill>
            <a:srgbClr val="F3A712"/>
          </a:solidFill>
          <a:ln/>
        </p:spPr>
      </p:sp>
      <p:sp>
        <p:nvSpPr>
          <p:cNvPr id="96" name="Text 94"/>
          <p:cNvSpPr txBox="1"/>
          <p:nvPr/>
        </p:nvSpPr>
        <p:spPr>
          <a:xfrm>
            <a:off x="3068726" y="3364992"/>
            <a:ext cx="170627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9,0% do setor</a:t>
            </a:r>
            <a:endParaRPr lang="en-US" sz="800" dirty="0"/>
          </a:p>
        </p:txBody>
      </p:sp>
      <p:sp>
        <p:nvSpPr>
          <p:cNvPr id="97" name="Shape 95"/>
          <p:cNvSpPr/>
          <p:nvPr/>
        </p:nvSpPr>
        <p:spPr>
          <a:xfrm>
            <a:off x="2684678" y="3547872"/>
            <a:ext cx="2181758" cy="512064"/>
          </a:xfrm>
          <a:prstGeom prst="roundRect">
            <a:avLst>
              <a:gd name="adj" fmla="val 8929"/>
            </a:avLst>
          </a:prstGeom>
          <a:solidFill>
            <a:srgbClr val="F5F6F8"/>
          </a:solidFill>
          <a:ln/>
        </p:spPr>
      </p:sp>
      <p:sp>
        <p:nvSpPr>
          <p:cNvPr id="98" name="Shape 96"/>
          <p:cNvSpPr/>
          <p:nvPr/>
        </p:nvSpPr>
        <p:spPr>
          <a:xfrm>
            <a:off x="2757830" y="3621024"/>
            <a:ext cx="256032" cy="256032"/>
          </a:xfrm>
          <a:prstGeom prst="ellipse">
            <a:avLst/>
          </a:prstGeom>
          <a:solidFill>
            <a:srgbClr val="F3A712"/>
          </a:solidFill>
          <a:ln/>
        </p:spPr>
      </p:sp>
      <p:sp>
        <p:nvSpPr>
          <p:cNvPr id="99" name="Text 97"/>
          <p:cNvSpPr txBox="1"/>
          <p:nvPr/>
        </p:nvSpPr>
        <p:spPr>
          <a:xfrm>
            <a:off x="2757830" y="362102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00" name="Text 98"/>
          <p:cNvSpPr txBox="1"/>
          <p:nvPr/>
        </p:nvSpPr>
        <p:spPr>
          <a:xfrm>
            <a:off x="3068726" y="3575304"/>
            <a:ext cx="12947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Setor 7748</a:t>
            </a:r>
            <a:endParaRPr lang="en-US" sz="1500" dirty="0"/>
          </a:p>
        </p:txBody>
      </p:sp>
      <p:sp>
        <p:nvSpPr>
          <p:cNvPr id="101" name="Text 99"/>
          <p:cNvSpPr txBox="1"/>
          <p:nvPr/>
        </p:nvSpPr>
        <p:spPr>
          <a:xfrm>
            <a:off x="4363517" y="354787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F3A7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1700" dirty="0"/>
          </a:p>
        </p:txBody>
      </p:sp>
      <p:sp>
        <p:nvSpPr>
          <p:cNvPr id="102" name="Shape 100"/>
          <p:cNvSpPr/>
          <p:nvPr/>
        </p:nvSpPr>
        <p:spPr>
          <a:xfrm>
            <a:off x="3068726" y="3840480"/>
            <a:ext cx="1633118" cy="82296"/>
          </a:xfrm>
          <a:prstGeom prst="roundRect">
            <a:avLst>
              <a:gd name="adj" fmla="val 22222"/>
            </a:avLst>
          </a:prstGeom>
          <a:solidFill>
            <a:srgbClr val="E1E4E8"/>
          </a:solidFill>
          <a:ln/>
        </p:spPr>
      </p:sp>
      <p:sp>
        <p:nvSpPr>
          <p:cNvPr id="103" name="Shape 101"/>
          <p:cNvSpPr/>
          <p:nvPr/>
        </p:nvSpPr>
        <p:spPr>
          <a:xfrm>
            <a:off x="3068726" y="3840480"/>
            <a:ext cx="768526" cy="82296"/>
          </a:xfrm>
          <a:prstGeom prst="roundRect">
            <a:avLst>
              <a:gd name="adj" fmla="val 22222"/>
            </a:avLst>
          </a:prstGeom>
          <a:solidFill>
            <a:srgbClr val="F3A712"/>
          </a:solidFill>
          <a:ln/>
        </p:spPr>
      </p:sp>
      <p:sp>
        <p:nvSpPr>
          <p:cNvPr id="104" name="Text 102"/>
          <p:cNvSpPr txBox="1"/>
          <p:nvPr/>
        </p:nvSpPr>
        <p:spPr>
          <a:xfrm>
            <a:off x="3068726" y="3931920"/>
            <a:ext cx="170627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8,3% do setor</a:t>
            </a:r>
            <a:endParaRPr lang="en-US" sz="800" dirty="0"/>
          </a:p>
        </p:txBody>
      </p:sp>
      <p:sp>
        <p:nvSpPr>
          <p:cNvPr id="105" name="Shape 103"/>
          <p:cNvSpPr/>
          <p:nvPr/>
        </p:nvSpPr>
        <p:spPr>
          <a:xfrm>
            <a:off x="2684678" y="4114800"/>
            <a:ext cx="2181758" cy="512064"/>
          </a:xfrm>
          <a:prstGeom prst="roundRect">
            <a:avLst>
              <a:gd name="adj" fmla="val 8929"/>
            </a:avLst>
          </a:prstGeom>
          <a:solidFill>
            <a:srgbClr val="F5F6F8"/>
          </a:solidFill>
          <a:ln/>
        </p:spPr>
      </p:sp>
      <p:sp>
        <p:nvSpPr>
          <p:cNvPr id="106" name="Shape 104"/>
          <p:cNvSpPr/>
          <p:nvPr/>
        </p:nvSpPr>
        <p:spPr>
          <a:xfrm>
            <a:off x="2757830" y="4187952"/>
            <a:ext cx="256032" cy="256032"/>
          </a:xfrm>
          <a:prstGeom prst="ellipse">
            <a:avLst/>
          </a:prstGeom>
          <a:solidFill>
            <a:srgbClr val="F3A712"/>
          </a:solidFill>
          <a:ln/>
        </p:spPr>
      </p:sp>
      <p:sp>
        <p:nvSpPr>
          <p:cNvPr id="107" name="Text 105"/>
          <p:cNvSpPr txBox="1"/>
          <p:nvPr/>
        </p:nvSpPr>
        <p:spPr>
          <a:xfrm>
            <a:off x="2757830" y="418795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108" name="Text 106"/>
          <p:cNvSpPr txBox="1"/>
          <p:nvPr/>
        </p:nvSpPr>
        <p:spPr>
          <a:xfrm>
            <a:off x="3068726" y="4142232"/>
            <a:ext cx="12947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Setor 5613</a:t>
            </a:r>
            <a:endParaRPr lang="en-US" sz="1500" dirty="0"/>
          </a:p>
        </p:txBody>
      </p:sp>
      <p:sp>
        <p:nvSpPr>
          <p:cNvPr id="109" name="Text 107"/>
          <p:cNvSpPr txBox="1"/>
          <p:nvPr/>
        </p:nvSpPr>
        <p:spPr>
          <a:xfrm>
            <a:off x="4363517" y="4114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F3A7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1700" dirty="0"/>
          </a:p>
        </p:txBody>
      </p:sp>
      <p:sp>
        <p:nvSpPr>
          <p:cNvPr id="110" name="Shape 108"/>
          <p:cNvSpPr/>
          <p:nvPr/>
        </p:nvSpPr>
        <p:spPr>
          <a:xfrm>
            <a:off x="3068726" y="4407408"/>
            <a:ext cx="1633118" cy="82296"/>
          </a:xfrm>
          <a:prstGeom prst="roundRect">
            <a:avLst>
              <a:gd name="adj" fmla="val 22222"/>
            </a:avLst>
          </a:prstGeom>
          <a:solidFill>
            <a:srgbClr val="E1E4E8"/>
          </a:solidFill>
          <a:ln/>
        </p:spPr>
      </p:sp>
      <p:sp>
        <p:nvSpPr>
          <p:cNvPr id="111" name="Shape 109"/>
          <p:cNvSpPr/>
          <p:nvPr/>
        </p:nvSpPr>
        <p:spPr>
          <a:xfrm>
            <a:off x="3068726" y="4407408"/>
            <a:ext cx="736504" cy="82296"/>
          </a:xfrm>
          <a:prstGeom prst="roundRect">
            <a:avLst>
              <a:gd name="adj" fmla="val 22222"/>
            </a:avLst>
          </a:prstGeom>
          <a:solidFill>
            <a:srgbClr val="F3A712"/>
          </a:solidFill>
          <a:ln/>
        </p:spPr>
      </p:sp>
      <p:sp>
        <p:nvSpPr>
          <p:cNvPr id="112" name="Text 110"/>
          <p:cNvSpPr txBox="1"/>
          <p:nvPr/>
        </p:nvSpPr>
        <p:spPr>
          <a:xfrm>
            <a:off x="3068726" y="4498848"/>
            <a:ext cx="170627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8,2% do setor</a:t>
            </a:r>
            <a:endParaRPr lang="en-US" sz="800" dirty="0"/>
          </a:p>
        </p:txBody>
      </p:sp>
      <p:sp>
        <p:nvSpPr>
          <p:cNvPr id="113" name="Shape 111"/>
          <p:cNvSpPr/>
          <p:nvPr/>
        </p:nvSpPr>
        <p:spPr>
          <a:xfrm>
            <a:off x="2684678" y="4681728"/>
            <a:ext cx="2181758" cy="512064"/>
          </a:xfrm>
          <a:prstGeom prst="roundRect">
            <a:avLst>
              <a:gd name="adj" fmla="val 8929"/>
            </a:avLst>
          </a:prstGeom>
          <a:solidFill>
            <a:srgbClr val="F5F6F8"/>
          </a:solidFill>
          <a:ln/>
        </p:spPr>
      </p:sp>
      <p:sp>
        <p:nvSpPr>
          <p:cNvPr id="114" name="Shape 112"/>
          <p:cNvSpPr/>
          <p:nvPr/>
        </p:nvSpPr>
        <p:spPr>
          <a:xfrm>
            <a:off x="2757830" y="4754880"/>
            <a:ext cx="256032" cy="256032"/>
          </a:xfrm>
          <a:prstGeom prst="ellipse">
            <a:avLst/>
          </a:prstGeom>
          <a:solidFill>
            <a:srgbClr val="F3A712"/>
          </a:solidFill>
          <a:ln/>
        </p:spPr>
      </p:sp>
      <p:sp>
        <p:nvSpPr>
          <p:cNvPr id="115" name="Text 113"/>
          <p:cNvSpPr txBox="1"/>
          <p:nvPr/>
        </p:nvSpPr>
        <p:spPr>
          <a:xfrm>
            <a:off x="2757830" y="475488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  <p:sp>
        <p:nvSpPr>
          <p:cNvPr id="116" name="Text 114"/>
          <p:cNvSpPr txBox="1"/>
          <p:nvPr/>
        </p:nvSpPr>
        <p:spPr>
          <a:xfrm>
            <a:off x="3068726" y="4709160"/>
            <a:ext cx="12947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Setor 7741</a:t>
            </a:r>
            <a:endParaRPr lang="en-US" sz="1500" dirty="0"/>
          </a:p>
        </p:txBody>
      </p:sp>
      <p:sp>
        <p:nvSpPr>
          <p:cNvPr id="117" name="Text 115"/>
          <p:cNvSpPr txBox="1"/>
          <p:nvPr/>
        </p:nvSpPr>
        <p:spPr>
          <a:xfrm>
            <a:off x="4363517" y="46817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F3A7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1700" dirty="0"/>
          </a:p>
        </p:txBody>
      </p:sp>
      <p:sp>
        <p:nvSpPr>
          <p:cNvPr id="118" name="Shape 116"/>
          <p:cNvSpPr/>
          <p:nvPr/>
        </p:nvSpPr>
        <p:spPr>
          <a:xfrm>
            <a:off x="3068726" y="4974336"/>
            <a:ext cx="1633118" cy="82296"/>
          </a:xfrm>
          <a:prstGeom prst="roundRect">
            <a:avLst>
              <a:gd name="adj" fmla="val 22222"/>
            </a:avLst>
          </a:prstGeom>
          <a:solidFill>
            <a:srgbClr val="E1E4E8"/>
          </a:solidFill>
          <a:ln/>
        </p:spPr>
      </p:sp>
      <p:sp>
        <p:nvSpPr>
          <p:cNvPr id="119" name="Shape 117"/>
          <p:cNvSpPr/>
          <p:nvPr/>
        </p:nvSpPr>
        <p:spPr>
          <a:xfrm>
            <a:off x="3068726" y="4974336"/>
            <a:ext cx="704482" cy="82296"/>
          </a:xfrm>
          <a:prstGeom prst="roundRect">
            <a:avLst>
              <a:gd name="adj" fmla="val 22222"/>
            </a:avLst>
          </a:prstGeom>
          <a:solidFill>
            <a:srgbClr val="F3A712"/>
          </a:solidFill>
          <a:ln/>
        </p:spPr>
      </p:sp>
      <p:sp>
        <p:nvSpPr>
          <p:cNvPr id="120" name="Text 118"/>
          <p:cNvSpPr txBox="1"/>
          <p:nvPr/>
        </p:nvSpPr>
        <p:spPr>
          <a:xfrm>
            <a:off x="3068726" y="5065776"/>
            <a:ext cx="170627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7,7% do setor</a:t>
            </a:r>
            <a:endParaRPr lang="en-US" sz="800" dirty="0"/>
          </a:p>
        </p:txBody>
      </p:sp>
      <p:sp>
        <p:nvSpPr>
          <p:cNvPr id="121" name="Shape 119"/>
          <p:cNvSpPr/>
          <p:nvPr/>
        </p:nvSpPr>
        <p:spPr>
          <a:xfrm>
            <a:off x="2684678" y="5248656"/>
            <a:ext cx="2181758" cy="512064"/>
          </a:xfrm>
          <a:prstGeom prst="roundRect">
            <a:avLst>
              <a:gd name="adj" fmla="val 8929"/>
            </a:avLst>
          </a:prstGeom>
          <a:solidFill>
            <a:srgbClr val="F5F6F8"/>
          </a:solidFill>
          <a:ln/>
        </p:spPr>
      </p:sp>
      <p:sp>
        <p:nvSpPr>
          <p:cNvPr id="122" name="Shape 120"/>
          <p:cNvSpPr/>
          <p:nvPr/>
        </p:nvSpPr>
        <p:spPr>
          <a:xfrm>
            <a:off x="2757830" y="5321808"/>
            <a:ext cx="256032" cy="256032"/>
          </a:xfrm>
          <a:prstGeom prst="ellipse">
            <a:avLst/>
          </a:prstGeom>
          <a:solidFill>
            <a:srgbClr val="F3A712"/>
          </a:solidFill>
          <a:ln/>
        </p:spPr>
      </p:sp>
      <p:sp>
        <p:nvSpPr>
          <p:cNvPr id="123" name="Text 121"/>
          <p:cNvSpPr txBox="1"/>
          <p:nvPr/>
        </p:nvSpPr>
        <p:spPr>
          <a:xfrm>
            <a:off x="2757830" y="532180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300" dirty="0"/>
          </a:p>
        </p:txBody>
      </p:sp>
      <p:sp>
        <p:nvSpPr>
          <p:cNvPr id="124" name="Text 122"/>
          <p:cNvSpPr txBox="1"/>
          <p:nvPr/>
        </p:nvSpPr>
        <p:spPr>
          <a:xfrm>
            <a:off x="3068726" y="5276088"/>
            <a:ext cx="12947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Setor 5152</a:t>
            </a:r>
            <a:endParaRPr lang="en-US" sz="1500" dirty="0"/>
          </a:p>
        </p:txBody>
      </p:sp>
      <p:sp>
        <p:nvSpPr>
          <p:cNvPr id="125" name="Text 123"/>
          <p:cNvSpPr txBox="1"/>
          <p:nvPr/>
        </p:nvSpPr>
        <p:spPr>
          <a:xfrm>
            <a:off x="4363517" y="524865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F3A7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700" dirty="0"/>
          </a:p>
        </p:txBody>
      </p:sp>
      <p:sp>
        <p:nvSpPr>
          <p:cNvPr id="126" name="Shape 124"/>
          <p:cNvSpPr/>
          <p:nvPr/>
        </p:nvSpPr>
        <p:spPr>
          <a:xfrm>
            <a:off x="3068726" y="5541264"/>
            <a:ext cx="1633118" cy="82296"/>
          </a:xfrm>
          <a:prstGeom prst="roundRect">
            <a:avLst>
              <a:gd name="adj" fmla="val 22222"/>
            </a:avLst>
          </a:prstGeom>
          <a:solidFill>
            <a:srgbClr val="E1E4E8"/>
          </a:solidFill>
          <a:ln/>
        </p:spPr>
      </p:sp>
      <p:sp>
        <p:nvSpPr>
          <p:cNvPr id="127" name="Shape 125"/>
          <p:cNvSpPr/>
          <p:nvPr/>
        </p:nvSpPr>
        <p:spPr>
          <a:xfrm>
            <a:off x="3068726" y="5541264"/>
            <a:ext cx="576395" cy="82296"/>
          </a:xfrm>
          <a:prstGeom prst="roundRect">
            <a:avLst>
              <a:gd name="adj" fmla="val 22222"/>
            </a:avLst>
          </a:prstGeom>
          <a:solidFill>
            <a:srgbClr val="F3A712"/>
          </a:solidFill>
          <a:ln/>
        </p:spPr>
      </p:sp>
      <p:sp>
        <p:nvSpPr>
          <p:cNvPr id="128" name="Text 126"/>
          <p:cNvSpPr txBox="1"/>
          <p:nvPr/>
        </p:nvSpPr>
        <p:spPr>
          <a:xfrm>
            <a:off x="3068726" y="5632704"/>
            <a:ext cx="170627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6,1% do setor</a:t>
            </a:r>
            <a:endParaRPr lang="en-US" sz="800" dirty="0"/>
          </a:p>
        </p:txBody>
      </p:sp>
      <p:sp>
        <p:nvSpPr>
          <p:cNvPr id="129" name="Shape 127"/>
          <p:cNvSpPr/>
          <p:nvPr/>
        </p:nvSpPr>
        <p:spPr>
          <a:xfrm>
            <a:off x="2684678" y="5815584"/>
            <a:ext cx="2181758" cy="512064"/>
          </a:xfrm>
          <a:prstGeom prst="roundRect">
            <a:avLst>
              <a:gd name="adj" fmla="val 8929"/>
            </a:avLst>
          </a:prstGeom>
          <a:solidFill>
            <a:srgbClr val="F5F6F8"/>
          </a:solidFill>
          <a:ln/>
        </p:spPr>
      </p:sp>
      <p:sp>
        <p:nvSpPr>
          <p:cNvPr id="130" name="Shape 128"/>
          <p:cNvSpPr/>
          <p:nvPr/>
        </p:nvSpPr>
        <p:spPr>
          <a:xfrm>
            <a:off x="2757830" y="5888736"/>
            <a:ext cx="256032" cy="256032"/>
          </a:xfrm>
          <a:prstGeom prst="ellipse">
            <a:avLst/>
          </a:prstGeom>
          <a:solidFill>
            <a:srgbClr val="F3A712"/>
          </a:solidFill>
          <a:ln/>
        </p:spPr>
      </p:sp>
      <p:sp>
        <p:nvSpPr>
          <p:cNvPr id="131" name="Text 129"/>
          <p:cNvSpPr txBox="1"/>
          <p:nvPr/>
        </p:nvSpPr>
        <p:spPr>
          <a:xfrm>
            <a:off x="2757830" y="588873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300" dirty="0"/>
          </a:p>
        </p:txBody>
      </p:sp>
      <p:sp>
        <p:nvSpPr>
          <p:cNvPr id="132" name="Text 130"/>
          <p:cNvSpPr txBox="1"/>
          <p:nvPr/>
        </p:nvSpPr>
        <p:spPr>
          <a:xfrm>
            <a:off x="3068726" y="5843016"/>
            <a:ext cx="12947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Setor 7742</a:t>
            </a:r>
            <a:endParaRPr lang="en-US" sz="1500" dirty="0"/>
          </a:p>
        </p:txBody>
      </p:sp>
      <p:sp>
        <p:nvSpPr>
          <p:cNvPr id="133" name="Text 131"/>
          <p:cNvSpPr txBox="1"/>
          <p:nvPr/>
        </p:nvSpPr>
        <p:spPr>
          <a:xfrm>
            <a:off x="4363517" y="581558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F3A7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700" dirty="0"/>
          </a:p>
        </p:txBody>
      </p:sp>
      <p:sp>
        <p:nvSpPr>
          <p:cNvPr id="134" name="Shape 132"/>
          <p:cNvSpPr/>
          <p:nvPr/>
        </p:nvSpPr>
        <p:spPr>
          <a:xfrm>
            <a:off x="3068726" y="6108192"/>
            <a:ext cx="1633118" cy="82296"/>
          </a:xfrm>
          <a:prstGeom prst="roundRect">
            <a:avLst>
              <a:gd name="adj" fmla="val 22222"/>
            </a:avLst>
          </a:prstGeom>
          <a:solidFill>
            <a:srgbClr val="E1E4E8"/>
          </a:solidFill>
          <a:ln/>
        </p:spPr>
      </p:sp>
      <p:sp>
        <p:nvSpPr>
          <p:cNvPr id="135" name="Shape 133"/>
          <p:cNvSpPr/>
          <p:nvPr/>
        </p:nvSpPr>
        <p:spPr>
          <a:xfrm>
            <a:off x="3068726" y="6108192"/>
            <a:ext cx="416285" cy="82296"/>
          </a:xfrm>
          <a:prstGeom prst="roundRect">
            <a:avLst>
              <a:gd name="adj" fmla="val 22222"/>
            </a:avLst>
          </a:prstGeom>
          <a:solidFill>
            <a:srgbClr val="F3A712"/>
          </a:solidFill>
          <a:ln/>
        </p:spPr>
      </p:sp>
      <p:sp>
        <p:nvSpPr>
          <p:cNvPr id="136" name="Text 134"/>
          <p:cNvSpPr txBox="1"/>
          <p:nvPr/>
        </p:nvSpPr>
        <p:spPr>
          <a:xfrm>
            <a:off x="3068726" y="6199632"/>
            <a:ext cx="170627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4,2% do setor</a:t>
            </a:r>
            <a:endParaRPr lang="en-US" sz="800" dirty="0"/>
          </a:p>
        </p:txBody>
      </p:sp>
      <p:sp>
        <p:nvSpPr>
          <p:cNvPr id="137" name="Shape 135"/>
          <p:cNvSpPr/>
          <p:nvPr/>
        </p:nvSpPr>
        <p:spPr>
          <a:xfrm>
            <a:off x="5003597" y="960120"/>
            <a:ext cx="2181758" cy="777240"/>
          </a:xfrm>
          <a:prstGeom prst="roundRect">
            <a:avLst>
              <a:gd name="adj" fmla="val 9412"/>
            </a:avLst>
          </a:prstGeom>
          <a:solidFill>
            <a:srgbClr val="2A9D8F"/>
          </a:solidFill>
          <a:ln/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138" name="Text 136"/>
          <p:cNvSpPr txBox="1"/>
          <p:nvPr/>
        </p:nvSpPr>
        <p:spPr>
          <a:xfrm>
            <a:off x="5113325" y="1051560"/>
            <a:ext cx="19623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 3</a:t>
            </a:r>
            <a:endParaRPr lang="en-US" sz="2300" dirty="0"/>
          </a:p>
        </p:txBody>
      </p:sp>
      <p:sp>
        <p:nvSpPr>
          <p:cNvPr id="139" name="Text 137"/>
          <p:cNvSpPr txBox="1"/>
          <p:nvPr/>
        </p:nvSpPr>
        <p:spPr>
          <a:xfrm>
            <a:off x="5113325" y="1399032"/>
            <a:ext cx="196230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351 médicos no painel</a:t>
            </a:r>
            <a:endParaRPr lang="en-US" sz="1250" dirty="0"/>
          </a:p>
        </p:txBody>
      </p:sp>
      <p:sp>
        <p:nvSpPr>
          <p:cNvPr id="140" name="Shape 138"/>
          <p:cNvSpPr/>
          <p:nvPr/>
        </p:nvSpPr>
        <p:spPr>
          <a:xfrm>
            <a:off x="5003597" y="1847088"/>
            <a:ext cx="2181758" cy="512064"/>
          </a:xfrm>
          <a:prstGeom prst="roundRect">
            <a:avLst>
              <a:gd name="adj" fmla="val 8929"/>
            </a:avLst>
          </a:prstGeom>
          <a:solidFill>
            <a:srgbClr val="F5F6F8"/>
          </a:solidFill>
          <a:ln/>
        </p:spPr>
      </p:sp>
      <p:sp>
        <p:nvSpPr>
          <p:cNvPr id="141" name="Shape 139"/>
          <p:cNvSpPr/>
          <p:nvPr/>
        </p:nvSpPr>
        <p:spPr>
          <a:xfrm>
            <a:off x="5076749" y="1920240"/>
            <a:ext cx="256032" cy="256032"/>
          </a:xfrm>
          <a:prstGeom prst="ellipse">
            <a:avLst/>
          </a:prstGeom>
          <a:solidFill>
            <a:srgbClr val="2A9D8F"/>
          </a:solidFill>
          <a:ln/>
        </p:spPr>
      </p:sp>
      <p:sp>
        <p:nvSpPr>
          <p:cNvPr id="142" name="Text 140"/>
          <p:cNvSpPr txBox="1"/>
          <p:nvPr/>
        </p:nvSpPr>
        <p:spPr>
          <a:xfrm>
            <a:off x="5076749" y="192024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143" name="Text 141"/>
          <p:cNvSpPr txBox="1"/>
          <p:nvPr/>
        </p:nvSpPr>
        <p:spPr>
          <a:xfrm>
            <a:off x="5387645" y="1874520"/>
            <a:ext cx="12947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Setor 7745</a:t>
            </a:r>
            <a:endParaRPr lang="en-US" sz="1500" dirty="0"/>
          </a:p>
        </p:txBody>
      </p:sp>
      <p:sp>
        <p:nvSpPr>
          <p:cNvPr id="144" name="Text 142"/>
          <p:cNvSpPr txBox="1"/>
          <p:nvPr/>
        </p:nvSpPr>
        <p:spPr>
          <a:xfrm>
            <a:off x="6682435" y="1847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72</a:t>
            </a:r>
            <a:endParaRPr lang="en-US" sz="1700" dirty="0"/>
          </a:p>
        </p:txBody>
      </p:sp>
      <p:sp>
        <p:nvSpPr>
          <p:cNvPr id="145" name="Shape 143"/>
          <p:cNvSpPr/>
          <p:nvPr/>
        </p:nvSpPr>
        <p:spPr>
          <a:xfrm>
            <a:off x="5387645" y="2139696"/>
            <a:ext cx="1633118" cy="82296"/>
          </a:xfrm>
          <a:prstGeom prst="roundRect">
            <a:avLst>
              <a:gd name="adj" fmla="val 22222"/>
            </a:avLst>
          </a:prstGeom>
          <a:solidFill>
            <a:srgbClr val="E1E4E8"/>
          </a:solidFill>
          <a:ln/>
        </p:spPr>
      </p:sp>
      <p:sp>
        <p:nvSpPr>
          <p:cNvPr id="146" name="Shape 144"/>
          <p:cNvSpPr/>
          <p:nvPr/>
        </p:nvSpPr>
        <p:spPr>
          <a:xfrm>
            <a:off x="5387645" y="2139696"/>
            <a:ext cx="1633118" cy="82296"/>
          </a:xfrm>
          <a:prstGeom prst="roundRect">
            <a:avLst>
              <a:gd name="adj" fmla="val 22222"/>
            </a:avLst>
          </a:prstGeom>
          <a:solidFill>
            <a:srgbClr val="2A9D8F"/>
          </a:solidFill>
          <a:ln/>
        </p:spPr>
      </p:sp>
      <p:sp>
        <p:nvSpPr>
          <p:cNvPr id="147" name="Text 145"/>
          <p:cNvSpPr txBox="1"/>
          <p:nvPr/>
        </p:nvSpPr>
        <p:spPr>
          <a:xfrm>
            <a:off x="5387645" y="2231136"/>
            <a:ext cx="170627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25,2% do setor</a:t>
            </a:r>
            <a:endParaRPr lang="en-US" sz="800" dirty="0"/>
          </a:p>
        </p:txBody>
      </p:sp>
      <p:sp>
        <p:nvSpPr>
          <p:cNvPr id="148" name="Shape 146"/>
          <p:cNvSpPr/>
          <p:nvPr/>
        </p:nvSpPr>
        <p:spPr>
          <a:xfrm>
            <a:off x="5003597" y="2414016"/>
            <a:ext cx="2181758" cy="512064"/>
          </a:xfrm>
          <a:prstGeom prst="roundRect">
            <a:avLst>
              <a:gd name="adj" fmla="val 8929"/>
            </a:avLst>
          </a:prstGeom>
          <a:solidFill>
            <a:srgbClr val="F5F6F8"/>
          </a:solidFill>
          <a:ln/>
        </p:spPr>
      </p:sp>
      <p:sp>
        <p:nvSpPr>
          <p:cNvPr id="149" name="Shape 147"/>
          <p:cNvSpPr/>
          <p:nvPr/>
        </p:nvSpPr>
        <p:spPr>
          <a:xfrm>
            <a:off x="5076749" y="2487168"/>
            <a:ext cx="256032" cy="256032"/>
          </a:xfrm>
          <a:prstGeom prst="ellipse">
            <a:avLst/>
          </a:prstGeom>
          <a:solidFill>
            <a:srgbClr val="2A9D8F"/>
          </a:solidFill>
          <a:ln/>
        </p:spPr>
      </p:sp>
      <p:sp>
        <p:nvSpPr>
          <p:cNvPr id="150" name="Text 148"/>
          <p:cNvSpPr txBox="1"/>
          <p:nvPr/>
        </p:nvSpPr>
        <p:spPr>
          <a:xfrm>
            <a:off x="5076749" y="248716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51" name="Text 149"/>
          <p:cNvSpPr txBox="1"/>
          <p:nvPr/>
        </p:nvSpPr>
        <p:spPr>
          <a:xfrm>
            <a:off x="5387645" y="2441448"/>
            <a:ext cx="12947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Setor 5153</a:t>
            </a:r>
            <a:endParaRPr lang="en-US" sz="1500" dirty="0"/>
          </a:p>
        </p:txBody>
      </p:sp>
      <p:sp>
        <p:nvSpPr>
          <p:cNvPr id="152" name="Text 150"/>
          <p:cNvSpPr txBox="1"/>
          <p:nvPr/>
        </p:nvSpPr>
        <p:spPr>
          <a:xfrm>
            <a:off x="6682435" y="241401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57</a:t>
            </a:r>
            <a:endParaRPr lang="en-US" sz="1700" dirty="0"/>
          </a:p>
        </p:txBody>
      </p:sp>
      <p:sp>
        <p:nvSpPr>
          <p:cNvPr id="153" name="Shape 151"/>
          <p:cNvSpPr/>
          <p:nvPr/>
        </p:nvSpPr>
        <p:spPr>
          <a:xfrm>
            <a:off x="5387645" y="2706624"/>
            <a:ext cx="1633118" cy="82296"/>
          </a:xfrm>
          <a:prstGeom prst="roundRect">
            <a:avLst>
              <a:gd name="adj" fmla="val 22222"/>
            </a:avLst>
          </a:prstGeom>
          <a:solidFill>
            <a:srgbClr val="E1E4E8"/>
          </a:solidFill>
          <a:ln/>
        </p:spPr>
      </p:sp>
      <p:sp>
        <p:nvSpPr>
          <p:cNvPr id="154" name="Shape 152"/>
          <p:cNvSpPr/>
          <p:nvPr/>
        </p:nvSpPr>
        <p:spPr>
          <a:xfrm>
            <a:off x="5387645" y="2706624"/>
            <a:ext cx="1292885" cy="82296"/>
          </a:xfrm>
          <a:prstGeom prst="roundRect">
            <a:avLst>
              <a:gd name="adj" fmla="val 22222"/>
            </a:avLst>
          </a:prstGeom>
          <a:solidFill>
            <a:srgbClr val="2A9D8F"/>
          </a:solidFill>
          <a:ln/>
        </p:spPr>
      </p:sp>
      <p:sp>
        <p:nvSpPr>
          <p:cNvPr id="155" name="Text 153"/>
          <p:cNvSpPr txBox="1"/>
          <p:nvPr/>
        </p:nvSpPr>
        <p:spPr>
          <a:xfrm>
            <a:off x="5387645" y="2798064"/>
            <a:ext cx="170627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19,9% do setor</a:t>
            </a:r>
            <a:endParaRPr lang="en-US" sz="800" dirty="0"/>
          </a:p>
        </p:txBody>
      </p:sp>
      <p:sp>
        <p:nvSpPr>
          <p:cNvPr id="156" name="Shape 154"/>
          <p:cNvSpPr/>
          <p:nvPr/>
        </p:nvSpPr>
        <p:spPr>
          <a:xfrm>
            <a:off x="5003597" y="2980944"/>
            <a:ext cx="2181758" cy="512064"/>
          </a:xfrm>
          <a:prstGeom prst="roundRect">
            <a:avLst>
              <a:gd name="adj" fmla="val 8929"/>
            </a:avLst>
          </a:prstGeom>
          <a:solidFill>
            <a:srgbClr val="F5F6F8"/>
          </a:solidFill>
          <a:ln/>
        </p:spPr>
      </p:sp>
      <p:sp>
        <p:nvSpPr>
          <p:cNvPr id="157" name="Shape 155"/>
          <p:cNvSpPr/>
          <p:nvPr/>
        </p:nvSpPr>
        <p:spPr>
          <a:xfrm>
            <a:off x="5076749" y="3054096"/>
            <a:ext cx="256032" cy="256032"/>
          </a:xfrm>
          <a:prstGeom prst="ellipse">
            <a:avLst/>
          </a:prstGeom>
          <a:solidFill>
            <a:srgbClr val="2A9D8F"/>
          </a:solidFill>
          <a:ln/>
        </p:spPr>
      </p:sp>
      <p:sp>
        <p:nvSpPr>
          <p:cNvPr id="158" name="Text 156"/>
          <p:cNvSpPr txBox="1"/>
          <p:nvPr/>
        </p:nvSpPr>
        <p:spPr>
          <a:xfrm>
            <a:off x="5076749" y="305409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59" name="Text 157"/>
          <p:cNvSpPr txBox="1"/>
          <p:nvPr/>
        </p:nvSpPr>
        <p:spPr>
          <a:xfrm>
            <a:off x="5387645" y="3008376"/>
            <a:ext cx="12947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Setor 5149</a:t>
            </a:r>
            <a:endParaRPr lang="en-US" sz="1500" dirty="0"/>
          </a:p>
        </p:txBody>
      </p:sp>
      <p:sp>
        <p:nvSpPr>
          <p:cNvPr id="160" name="Text 158"/>
          <p:cNvSpPr txBox="1"/>
          <p:nvPr/>
        </p:nvSpPr>
        <p:spPr>
          <a:xfrm>
            <a:off x="6682435" y="298094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</a:t>
            </a:r>
            <a:endParaRPr lang="en-US" sz="1700" dirty="0"/>
          </a:p>
        </p:txBody>
      </p:sp>
      <p:sp>
        <p:nvSpPr>
          <p:cNvPr id="161" name="Shape 159"/>
          <p:cNvSpPr/>
          <p:nvPr/>
        </p:nvSpPr>
        <p:spPr>
          <a:xfrm>
            <a:off x="5387645" y="3273552"/>
            <a:ext cx="1633118" cy="82296"/>
          </a:xfrm>
          <a:prstGeom prst="roundRect">
            <a:avLst>
              <a:gd name="adj" fmla="val 22222"/>
            </a:avLst>
          </a:prstGeom>
          <a:solidFill>
            <a:srgbClr val="E1E4E8"/>
          </a:solidFill>
          <a:ln/>
        </p:spPr>
      </p:sp>
      <p:sp>
        <p:nvSpPr>
          <p:cNvPr id="162" name="Shape 160"/>
          <p:cNvSpPr/>
          <p:nvPr/>
        </p:nvSpPr>
        <p:spPr>
          <a:xfrm>
            <a:off x="5387645" y="3273552"/>
            <a:ext cx="1020699" cy="82296"/>
          </a:xfrm>
          <a:prstGeom prst="roundRect">
            <a:avLst>
              <a:gd name="adj" fmla="val 22222"/>
            </a:avLst>
          </a:prstGeom>
          <a:solidFill>
            <a:srgbClr val="2A9D8F"/>
          </a:solidFill>
          <a:ln/>
        </p:spPr>
      </p:sp>
      <p:sp>
        <p:nvSpPr>
          <p:cNvPr id="163" name="Text 161"/>
          <p:cNvSpPr txBox="1"/>
          <p:nvPr/>
        </p:nvSpPr>
        <p:spPr>
          <a:xfrm>
            <a:off x="5387645" y="3364992"/>
            <a:ext cx="170627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14,5% do setor</a:t>
            </a:r>
            <a:endParaRPr lang="en-US" sz="800" dirty="0"/>
          </a:p>
        </p:txBody>
      </p:sp>
      <p:sp>
        <p:nvSpPr>
          <p:cNvPr id="164" name="Shape 162"/>
          <p:cNvSpPr/>
          <p:nvPr/>
        </p:nvSpPr>
        <p:spPr>
          <a:xfrm>
            <a:off x="5003597" y="3547872"/>
            <a:ext cx="2181758" cy="512064"/>
          </a:xfrm>
          <a:prstGeom prst="roundRect">
            <a:avLst>
              <a:gd name="adj" fmla="val 8929"/>
            </a:avLst>
          </a:prstGeom>
          <a:solidFill>
            <a:srgbClr val="F5F6F8"/>
          </a:solidFill>
          <a:ln/>
        </p:spPr>
      </p:sp>
      <p:sp>
        <p:nvSpPr>
          <p:cNvPr id="165" name="Shape 163"/>
          <p:cNvSpPr/>
          <p:nvPr/>
        </p:nvSpPr>
        <p:spPr>
          <a:xfrm>
            <a:off x="5076749" y="3621024"/>
            <a:ext cx="256032" cy="256032"/>
          </a:xfrm>
          <a:prstGeom prst="ellipse">
            <a:avLst/>
          </a:prstGeom>
          <a:solidFill>
            <a:srgbClr val="2A9D8F"/>
          </a:solidFill>
          <a:ln/>
        </p:spPr>
      </p:sp>
      <p:sp>
        <p:nvSpPr>
          <p:cNvPr id="166" name="Text 164"/>
          <p:cNvSpPr txBox="1"/>
          <p:nvPr/>
        </p:nvSpPr>
        <p:spPr>
          <a:xfrm>
            <a:off x="5076749" y="362102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67" name="Text 165"/>
          <p:cNvSpPr txBox="1"/>
          <p:nvPr/>
        </p:nvSpPr>
        <p:spPr>
          <a:xfrm>
            <a:off x="5387645" y="3575304"/>
            <a:ext cx="12947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Setor 7742</a:t>
            </a:r>
            <a:endParaRPr lang="en-US" sz="1500" dirty="0"/>
          </a:p>
        </p:txBody>
      </p:sp>
      <p:sp>
        <p:nvSpPr>
          <p:cNvPr id="168" name="Text 166"/>
          <p:cNvSpPr txBox="1"/>
          <p:nvPr/>
        </p:nvSpPr>
        <p:spPr>
          <a:xfrm>
            <a:off x="6682435" y="354787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</a:t>
            </a:r>
            <a:endParaRPr lang="en-US" sz="1700" dirty="0"/>
          </a:p>
        </p:txBody>
      </p:sp>
      <p:sp>
        <p:nvSpPr>
          <p:cNvPr id="169" name="Shape 167"/>
          <p:cNvSpPr/>
          <p:nvPr/>
        </p:nvSpPr>
        <p:spPr>
          <a:xfrm>
            <a:off x="5387645" y="3840480"/>
            <a:ext cx="1633118" cy="82296"/>
          </a:xfrm>
          <a:prstGeom prst="roundRect">
            <a:avLst>
              <a:gd name="adj" fmla="val 22222"/>
            </a:avLst>
          </a:prstGeom>
          <a:solidFill>
            <a:srgbClr val="E1E4E8"/>
          </a:solidFill>
          <a:ln/>
        </p:spPr>
      </p:sp>
      <p:sp>
        <p:nvSpPr>
          <p:cNvPr id="170" name="Shape 168"/>
          <p:cNvSpPr/>
          <p:nvPr/>
        </p:nvSpPr>
        <p:spPr>
          <a:xfrm>
            <a:off x="5387645" y="3840480"/>
            <a:ext cx="1020699" cy="82296"/>
          </a:xfrm>
          <a:prstGeom prst="roundRect">
            <a:avLst>
              <a:gd name="adj" fmla="val 22222"/>
            </a:avLst>
          </a:prstGeom>
          <a:solidFill>
            <a:srgbClr val="2A9D8F"/>
          </a:solidFill>
          <a:ln/>
        </p:spPr>
      </p:sp>
      <p:sp>
        <p:nvSpPr>
          <p:cNvPr id="171" name="Text 169"/>
          <p:cNvSpPr txBox="1"/>
          <p:nvPr/>
        </p:nvSpPr>
        <p:spPr>
          <a:xfrm>
            <a:off x="5387645" y="3931920"/>
            <a:ext cx="170627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14,6% do setor</a:t>
            </a:r>
            <a:endParaRPr lang="en-US" sz="800" dirty="0"/>
          </a:p>
        </p:txBody>
      </p:sp>
      <p:sp>
        <p:nvSpPr>
          <p:cNvPr id="172" name="Shape 170"/>
          <p:cNvSpPr/>
          <p:nvPr/>
        </p:nvSpPr>
        <p:spPr>
          <a:xfrm>
            <a:off x="5003597" y="4114800"/>
            <a:ext cx="2181758" cy="512064"/>
          </a:xfrm>
          <a:prstGeom prst="roundRect">
            <a:avLst>
              <a:gd name="adj" fmla="val 8929"/>
            </a:avLst>
          </a:prstGeom>
          <a:solidFill>
            <a:srgbClr val="F5F6F8"/>
          </a:solidFill>
          <a:ln/>
        </p:spPr>
      </p:sp>
      <p:sp>
        <p:nvSpPr>
          <p:cNvPr id="173" name="Shape 171"/>
          <p:cNvSpPr/>
          <p:nvPr/>
        </p:nvSpPr>
        <p:spPr>
          <a:xfrm>
            <a:off x="5076749" y="4187952"/>
            <a:ext cx="256032" cy="256032"/>
          </a:xfrm>
          <a:prstGeom prst="ellipse">
            <a:avLst/>
          </a:prstGeom>
          <a:solidFill>
            <a:srgbClr val="2A9D8F"/>
          </a:solidFill>
          <a:ln/>
        </p:spPr>
      </p:sp>
      <p:sp>
        <p:nvSpPr>
          <p:cNvPr id="174" name="Text 172"/>
          <p:cNvSpPr txBox="1"/>
          <p:nvPr/>
        </p:nvSpPr>
        <p:spPr>
          <a:xfrm>
            <a:off x="5076749" y="418795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175" name="Text 173"/>
          <p:cNvSpPr txBox="1"/>
          <p:nvPr/>
        </p:nvSpPr>
        <p:spPr>
          <a:xfrm>
            <a:off x="5387645" y="4142232"/>
            <a:ext cx="12947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Setor 7741</a:t>
            </a:r>
            <a:endParaRPr lang="en-US" sz="1500" dirty="0"/>
          </a:p>
        </p:txBody>
      </p:sp>
      <p:sp>
        <p:nvSpPr>
          <p:cNvPr id="176" name="Text 174"/>
          <p:cNvSpPr txBox="1"/>
          <p:nvPr/>
        </p:nvSpPr>
        <p:spPr>
          <a:xfrm>
            <a:off x="6682435" y="4114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43</a:t>
            </a:r>
            <a:endParaRPr lang="en-US" sz="1700" dirty="0"/>
          </a:p>
        </p:txBody>
      </p:sp>
      <p:sp>
        <p:nvSpPr>
          <p:cNvPr id="177" name="Shape 175"/>
          <p:cNvSpPr/>
          <p:nvPr/>
        </p:nvSpPr>
        <p:spPr>
          <a:xfrm>
            <a:off x="5387645" y="4407408"/>
            <a:ext cx="1633118" cy="82296"/>
          </a:xfrm>
          <a:prstGeom prst="roundRect">
            <a:avLst>
              <a:gd name="adj" fmla="val 22222"/>
            </a:avLst>
          </a:prstGeom>
          <a:solidFill>
            <a:srgbClr val="E1E4E8"/>
          </a:solidFill>
          <a:ln/>
        </p:spPr>
      </p:sp>
      <p:sp>
        <p:nvSpPr>
          <p:cNvPr id="178" name="Shape 176"/>
          <p:cNvSpPr/>
          <p:nvPr/>
        </p:nvSpPr>
        <p:spPr>
          <a:xfrm>
            <a:off x="5387645" y="4407408"/>
            <a:ext cx="975335" cy="82296"/>
          </a:xfrm>
          <a:prstGeom prst="roundRect">
            <a:avLst>
              <a:gd name="adj" fmla="val 22222"/>
            </a:avLst>
          </a:prstGeom>
          <a:solidFill>
            <a:srgbClr val="2A9D8F"/>
          </a:solidFill>
          <a:ln/>
        </p:spPr>
      </p:sp>
      <p:sp>
        <p:nvSpPr>
          <p:cNvPr id="179" name="Text 177"/>
          <p:cNvSpPr txBox="1"/>
          <p:nvPr/>
        </p:nvSpPr>
        <p:spPr>
          <a:xfrm>
            <a:off x="5387645" y="4498848"/>
            <a:ext cx="170627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15,1% do setor</a:t>
            </a:r>
            <a:endParaRPr lang="en-US" sz="800" dirty="0"/>
          </a:p>
        </p:txBody>
      </p:sp>
      <p:sp>
        <p:nvSpPr>
          <p:cNvPr id="180" name="Shape 178"/>
          <p:cNvSpPr/>
          <p:nvPr/>
        </p:nvSpPr>
        <p:spPr>
          <a:xfrm>
            <a:off x="5003597" y="4681728"/>
            <a:ext cx="2181758" cy="512064"/>
          </a:xfrm>
          <a:prstGeom prst="roundRect">
            <a:avLst>
              <a:gd name="adj" fmla="val 8929"/>
            </a:avLst>
          </a:prstGeom>
          <a:solidFill>
            <a:srgbClr val="F5F6F8"/>
          </a:solidFill>
          <a:ln/>
        </p:spPr>
      </p:sp>
      <p:sp>
        <p:nvSpPr>
          <p:cNvPr id="181" name="Shape 179"/>
          <p:cNvSpPr/>
          <p:nvPr/>
        </p:nvSpPr>
        <p:spPr>
          <a:xfrm>
            <a:off x="5076749" y="4754880"/>
            <a:ext cx="256032" cy="256032"/>
          </a:xfrm>
          <a:prstGeom prst="ellipse">
            <a:avLst/>
          </a:prstGeom>
          <a:solidFill>
            <a:srgbClr val="2A9D8F"/>
          </a:solidFill>
          <a:ln/>
        </p:spPr>
      </p:sp>
      <p:sp>
        <p:nvSpPr>
          <p:cNvPr id="182" name="Text 180"/>
          <p:cNvSpPr txBox="1"/>
          <p:nvPr/>
        </p:nvSpPr>
        <p:spPr>
          <a:xfrm>
            <a:off x="5076749" y="475488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  <p:sp>
        <p:nvSpPr>
          <p:cNvPr id="183" name="Text 181"/>
          <p:cNvSpPr txBox="1"/>
          <p:nvPr/>
        </p:nvSpPr>
        <p:spPr>
          <a:xfrm>
            <a:off x="5387645" y="4709160"/>
            <a:ext cx="12947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Setor 5152</a:t>
            </a:r>
            <a:endParaRPr lang="en-US" sz="1500" dirty="0"/>
          </a:p>
        </p:txBody>
      </p:sp>
      <p:sp>
        <p:nvSpPr>
          <p:cNvPr id="184" name="Text 182"/>
          <p:cNvSpPr txBox="1"/>
          <p:nvPr/>
        </p:nvSpPr>
        <p:spPr>
          <a:xfrm>
            <a:off x="6682435" y="46817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</a:t>
            </a:r>
            <a:endParaRPr lang="en-US" sz="1700" dirty="0"/>
          </a:p>
        </p:txBody>
      </p:sp>
      <p:sp>
        <p:nvSpPr>
          <p:cNvPr id="185" name="Shape 183"/>
          <p:cNvSpPr/>
          <p:nvPr/>
        </p:nvSpPr>
        <p:spPr>
          <a:xfrm>
            <a:off x="5387645" y="4974336"/>
            <a:ext cx="1633118" cy="82296"/>
          </a:xfrm>
          <a:prstGeom prst="roundRect">
            <a:avLst>
              <a:gd name="adj" fmla="val 22222"/>
            </a:avLst>
          </a:prstGeom>
          <a:solidFill>
            <a:srgbClr val="E1E4E8"/>
          </a:solidFill>
          <a:ln/>
        </p:spPr>
      </p:sp>
      <p:sp>
        <p:nvSpPr>
          <p:cNvPr id="186" name="Shape 184"/>
          <p:cNvSpPr/>
          <p:nvPr/>
        </p:nvSpPr>
        <p:spPr>
          <a:xfrm>
            <a:off x="5387645" y="4974336"/>
            <a:ext cx="771195" cy="82296"/>
          </a:xfrm>
          <a:prstGeom prst="roundRect">
            <a:avLst>
              <a:gd name="adj" fmla="val 22222"/>
            </a:avLst>
          </a:prstGeom>
          <a:solidFill>
            <a:srgbClr val="2A9D8F"/>
          </a:solidFill>
          <a:ln/>
        </p:spPr>
      </p:sp>
      <p:sp>
        <p:nvSpPr>
          <p:cNvPr id="187" name="Text 185"/>
          <p:cNvSpPr txBox="1"/>
          <p:nvPr/>
        </p:nvSpPr>
        <p:spPr>
          <a:xfrm>
            <a:off x="5387645" y="5065776"/>
            <a:ext cx="170627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11,4% do setor</a:t>
            </a:r>
            <a:endParaRPr lang="en-US" sz="800" dirty="0"/>
          </a:p>
        </p:txBody>
      </p:sp>
      <p:sp>
        <p:nvSpPr>
          <p:cNvPr id="188" name="Shape 186"/>
          <p:cNvSpPr/>
          <p:nvPr/>
        </p:nvSpPr>
        <p:spPr>
          <a:xfrm>
            <a:off x="5003597" y="5248656"/>
            <a:ext cx="2181758" cy="512064"/>
          </a:xfrm>
          <a:prstGeom prst="roundRect">
            <a:avLst>
              <a:gd name="adj" fmla="val 8929"/>
            </a:avLst>
          </a:prstGeom>
          <a:solidFill>
            <a:srgbClr val="F5F6F8"/>
          </a:solidFill>
          <a:ln/>
        </p:spPr>
      </p:sp>
      <p:sp>
        <p:nvSpPr>
          <p:cNvPr id="189" name="Shape 187"/>
          <p:cNvSpPr/>
          <p:nvPr/>
        </p:nvSpPr>
        <p:spPr>
          <a:xfrm>
            <a:off x="5076749" y="5321808"/>
            <a:ext cx="256032" cy="256032"/>
          </a:xfrm>
          <a:prstGeom prst="ellipse">
            <a:avLst/>
          </a:prstGeom>
          <a:solidFill>
            <a:srgbClr val="2A9D8F"/>
          </a:solidFill>
          <a:ln/>
        </p:spPr>
      </p:sp>
      <p:sp>
        <p:nvSpPr>
          <p:cNvPr id="190" name="Text 188"/>
          <p:cNvSpPr txBox="1"/>
          <p:nvPr/>
        </p:nvSpPr>
        <p:spPr>
          <a:xfrm>
            <a:off x="5076749" y="532180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300" dirty="0"/>
          </a:p>
        </p:txBody>
      </p:sp>
      <p:sp>
        <p:nvSpPr>
          <p:cNvPr id="191" name="Text 189"/>
          <p:cNvSpPr txBox="1"/>
          <p:nvPr/>
        </p:nvSpPr>
        <p:spPr>
          <a:xfrm>
            <a:off x="5387645" y="5276088"/>
            <a:ext cx="12947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Setor 5613</a:t>
            </a:r>
            <a:endParaRPr lang="en-US" sz="1500" dirty="0"/>
          </a:p>
        </p:txBody>
      </p:sp>
      <p:sp>
        <p:nvSpPr>
          <p:cNvPr id="192" name="Text 190"/>
          <p:cNvSpPr txBox="1"/>
          <p:nvPr/>
        </p:nvSpPr>
        <p:spPr>
          <a:xfrm>
            <a:off x="6682435" y="524865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</a:t>
            </a:r>
            <a:endParaRPr lang="en-US" sz="1700" dirty="0"/>
          </a:p>
        </p:txBody>
      </p:sp>
      <p:sp>
        <p:nvSpPr>
          <p:cNvPr id="193" name="Shape 191"/>
          <p:cNvSpPr/>
          <p:nvPr/>
        </p:nvSpPr>
        <p:spPr>
          <a:xfrm>
            <a:off x="5387645" y="5541264"/>
            <a:ext cx="1633118" cy="82296"/>
          </a:xfrm>
          <a:prstGeom prst="roundRect">
            <a:avLst>
              <a:gd name="adj" fmla="val 22222"/>
            </a:avLst>
          </a:prstGeom>
          <a:solidFill>
            <a:srgbClr val="E1E4E8"/>
          </a:solidFill>
          <a:ln/>
        </p:spPr>
      </p:sp>
      <p:sp>
        <p:nvSpPr>
          <p:cNvPr id="194" name="Shape 192"/>
          <p:cNvSpPr/>
          <p:nvPr/>
        </p:nvSpPr>
        <p:spPr>
          <a:xfrm>
            <a:off x="5387645" y="5541264"/>
            <a:ext cx="725830" cy="82296"/>
          </a:xfrm>
          <a:prstGeom prst="roundRect">
            <a:avLst>
              <a:gd name="adj" fmla="val 22222"/>
            </a:avLst>
          </a:prstGeom>
          <a:solidFill>
            <a:srgbClr val="2A9D8F"/>
          </a:solidFill>
          <a:ln/>
        </p:spPr>
      </p:sp>
      <p:sp>
        <p:nvSpPr>
          <p:cNvPr id="195" name="Text 193"/>
          <p:cNvSpPr txBox="1"/>
          <p:nvPr/>
        </p:nvSpPr>
        <p:spPr>
          <a:xfrm>
            <a:off x="5387645" y="5632704"/>
            <a:ext cx="170627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11,4% do setor</a:t>
            </a:r>
            <a:endParaRPr lang="en-US" sz="800" dirty="0"/>
          </a:p>
        </p:txBody>
      </p:sp>
      <p:sp>
        <p:nvSpPr>
          <p:cNvPr id="196" name="Shape 194"/>
          <p:cNvSpPr/>
          <p:nvPr/>
        </p:nvSpPr>
        <p:spPr>
          <a:xfrm>
            <a:off x="5003597" y="5815584"/>
            <a:ext cx="2181758" cy="512064"/>
          </a:xfrm>
          <a:prstGeom prst="roundRect">
            <a:avLst>
              <a:gd name="adj" fmla="val 8929"/>
            </a:avLst>
          </a:prstGeom>
          <a:solidFill>
            <a:srgbClr val="F5F6F8"/>
          </a:solidFill>
          <a:ln/>
        </p:spPr>
      </p:sp>
      <p:sp>
        <p:nvSpPr>
          <p:cNvPr id="197" name="Shape 195"/>
          <p:cNvSpPr/>
          <p:nvPr/>
        </p:nvSpPr>
        <p:spPr>
          <a:xfrm>
            <a:off x="5076749" y="5888736"/>
            <a:ext cx="256032" cy="256032"/>
          </a:xfrm>
          <a:prstGeom prst="ellipse">
            <a:avLst/>
          </a:prstGeom>
          <a:solidFill>
            <a:srgbClr val="2A9D8F"/>
          </a:solidFill>
          <a:ln/>
        </p:spPr>
      </p:sp>
      <p:sp>
        <p:nvSpPr>
          <p:cNvPr id="198" name="Text 196"/>
          <p:cNvSpPr txBox="1"/>
          <p:nvPr/>
        </p:nvSpPr>
        <p:spPr>
          <a:xfrm>
            <a:off x="5076749" y="588873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300" dirty="0"/>
          </a:p>
        </p:txBody>
      </p:sp>
      <p:sp>
        <p:nvSpPr>
          <p:cNvPr id="199" name="Text 197"/>
          <p:cNvSpPr txBox="1"/>
          <p:nvPr/>
        </p:nvSpPr>
        <p:spPr>
          <a:xfrm>
            <a:off x="5387645" y="5843016"/>
            <a:ext cx="12947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Setor 7748</a:t>
            </a:r>
            <a:endParaRPr lang="en-US" sz="1500" dirty="0"/>
          </a:p>
        </p:txBody>
      </p:sp>
      <p:sp>
        <p:nvSpPr>
          <p:cNvPr id="200" name="Text 198"/>
          <p:cNvSpPr txBox="1"/>
          <p:nvPr/>
        </p:nvSpPr>
        <p:spPr>
          <a:xfrm>
            <a:off x="6682435" y="581558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1700" dirty="0"/>
          </a:p>
        </p:txBody>
      </p:sp>
      <p:sp>
        <p:nvSpPr>
          <p:cNvPr id="201" name="Shape 199"/>
          <p:cNvSpPr/>
          <p:nvPr/>
        </p:nvSpPr>
        <p:spPr>
          <a:xfrm>
            <a:off x="5387645" y="6108192"/>
            <a:ext cx="1633118" cy="82296"/>
          </a:xfrm>
          <a:prstGeom prst="roundRect">
            <a:avLst>
              <a:gd name="adj" fmla="val 22222"/>
            </a:avLst>
          </a:prstGeom>
          <a:solidFill>
            <a:srgbClr val="E1E4E8"/>
          </a:solidFill>
          <a:ln/>
        </p:spPr>
      </p:sp>
      <p:sp>
        <p:nvSpPr>
          <p:cNvPr id="202" name="Shape 200"/>
          <p:cNvSpPr/>
          <p:nvPr/>
        </p:nvSpPr>
        <p:spPr>
          <a:xfrm>
            <a:off x="5387645" y="6108192"/>
            <a:ext cx="521691" cy="82296"/>
          </a:xfrm>
          <a:prstGeom prst="roundRect">
            <a:avLst>
              <a:gd name="adj" fmla="val 22222"/>
            </a:avLst>
          </a:prstGeom>
          <a:solidFill>
            <a:srgbClr val="2A9D8F"/>
          </a:solidFill>
          <a:ln/>
        </p:spPr>
      </p:sp>
      <p:sp>
        <p:nvSpPr>
          <p:cNvPr id="203" name="Text 201"/>
          <p:cNvSpPr txBox="1"/>
          <p:nvPr/>
        </p:nvSpPr>
        <p:spPr>
          <a:xfrm>
            <a:off x="5387645" y="6199632"/>
            <a:ext cx="170627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8,0% do setor</a:t>
            </a:r>
            <a:endParaRPr lang="en-US" sz="800" dirty="0"/>
          </a:p>
        </p:txBody>
      </p:sp>
      <p:sp>
        <p:nvSpPr>
          <p:cNvPr id="204" name="Shape 202"/>
          <p:cNvSpPr/>
          <p:nvPr/>
        </p:nvSpPr>
        <p:spPr>
          <a:xfrm>
            <a:off x="7322515" y="960120"/>
            <a:ext cx="2181758" cy="777240"/>
          </a:xfrm>
          <a:prstGeom prst="roundRect">
            <a:avLst>
              <a:gd name="adj" fmla="val 9412"/>
            </a:avLst>
          </a:prstGeom>
          <a:solidFill>
            <a:srgbClr val="6A4C93"/>
          </a:solidFill>
          <a:ln/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205" name="Text 203"/>
          <p:cNvSpPr txBox="1"/>
          <p:nvPr/>
        </p:nvSpPr>
        <p:spPr>
          <a:xfrm>
            <a:off x="7432243" y="1051560"/>
            <a:ext cx="19623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 4</a:t>
            </a:r>
            <a:endParaRPr lang="en-US" sz="2300" dirty="0"/>
          </a:p>
        </p:txBody>
      </p:sp>
      <p:sp>
        <p:nvSpPr>
          <p:cNvPr id="206" name="Text 204"/>
          <p:cNvSpPr txBox="1"/>
          <p:nvPr/>
        </p:nvSpPr>
        <p:spPr>
          <a:xfrm>
            <a:off x="7432243" y="1399032"/>
            <a:ext cx="196230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617 médicos no painel</a:t>
            </a:r>
            <a:endParaRPr lang="en-US" sz="1250" dirty="0"/>
          </a:p>
        </p:txBody>
      </p:sp>
      <p:sp>
        <p:nvSpPr>
          <p:cNvPr id="207" name="Shape 205"/>
          <p:cNvSpPr/>
          <p:nvPr/>
        </p:nvSpPr>
        <p:spPr>
          <a:xfrm>
            <a:off x="7322515" y="1847088"/>
            <a:ext cx="2181758" cy="512064"/>
          </a:xfrm>
          <a:prstGeom prst="roundRect">
            <a:avLst>
              <a:gd name="adj" fmla="val 8929"/>
            </a:avLst>
          </a:prstGeom>
          <a:solidFill>
            <a:srgbClr val="F5F6F8"/>
          </a:solidFill>
          <a:ln/>
        </p:spPr>
      </p:sp>
      <p:sp>
        <p:nvSpPr>
          <p:cNvPr id="208" name="Shape 206"/>
          <p:cNvSpPr/>
          <p:nvPr/>
        </p:nvSpPr>
        <p:spPr>
          <a:xfrm>
            <a:off x="7395667" y="1920240"/>
            <a:ext cx="256032" cy="256032"/>
          </a:xfrm>
          <a:prstGeom prst="ellipse">
            <a:avLst/>
          </a:prstGeom>
          <a:solidFill>
            <a:srgbClr val="6A4C93"/>
          </a:solidFill>
          <a:ln/>
        </p:spPr>
      </p:sp>
      <p:sp>
        <p:nvSpPr>
          <p:cNvPr id="209" name="Text 207"/>
          <p:cNvSpPr txBox="1"/>
          <p:nvPr/>
        </p:nvSpPr>
        <p:spPr>
          <a:xfrm>
            <a:off x="7395667" y="192024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210" name="Text 208"/>
          <p:cNvSpPr txBox="1"/>
          <p:nvPr/>
        </p:nvSpPr>
        <p:spPr>
          <a:xfrm>
            <a:off x="7706563" y="1874520"/>
            <a:ext cx="12947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Setor 7742</a:t>
            </a:r>
            <a:endParaRPr lang="en-US" sz="1500" dirty="0"/>
          </a:p>
        </p:txBody>
      </p:sp>
      <p:sp>
        <p:nvSpPr>
          <p:cNvPr id="211" name="Text 209"/>
          <p:cNvSpPr txBox="1"/>
          <p:nvPr/>
        </p:nvSpPr>
        <p:spPr>
          <a:xfrm>
            <a:off x="9001354" y="1847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6A4C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92</a:t>
            </a:r>
            <a:endParaRPr lang="en-US" sz="1700" dirty="0"/>
          </a:p>
        </p:txBody>
      </p:sp>
      <p:sp>
        <p:nvSpPr>
          <p:cNvPr id="212" name="Shape 210"/>
          <p:cNvSpPr/>
          <p:nvPr/>
        </p:nvSpPr>
        <p:spPr>
          <a:xfrm>
            <a:off x="7706563" y="2139696"/>
            <a:ext cx="1633118" cy="82296"/>
          </a:xfrm>
          <a:prstGeom prst="roundRect">
            <a:avLst>
              <a:gd name="adj" fmla="val 22222"/>
            </a:avLst>
          </a:prstGeom>
          <a:solidFill>
            <a:srgbClr val="E1E4E8"/>
          </a:solidFill>
          <a:ln/>
        </p:spPr>
      </p:sp>
      <p:sp>
        <p:nvSpPr>
          <p:cNvPr id="213" name="Shape 211"/>
          <p:cNvSpPr/>
          <p:nvPr/>
        </p:nvSpPr>
        <p:spPr>
          <a:xfrm>
            <a:off x="7706563" y="2139696"/>
            <a:ext cx="1633118" cy="82296"/>
          </a:xfrm>
          <a:prstGeom prst="roundRect">
            <a:avLst>
              <a:gd name="adj" fmla="val 22222"/>
            </a:avLst>
          </a:prstGeom>
          <a:solidFill>
            <a:srgbClr val="6A4C93"/>
          </a:solidFill>
          <a:ln/>
        </p:spPr>
      </p:sp>
      <p:sp>
        <p:nvSpPr>
          <p:cNvPr id="214" name="Text 212"/>
          <p:cNvSpPr txBox="1"/>
          <p:nvPr/>
        </p:nvSpPr>
        <p:spPr>
          <a:xfrm>
            <a:off x="7706563" y="2231136"/>
            <a:ext cx="170627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29,8% do setor</a:t>
            </a:r>
            <a:endParaRPr lang="en-US" sz="800" dirty="0"/>
          </a:p>
        </p:txBody>
      </p:sp>
      <p:sp>
        <p:nvSpPr>
          <p:cNvPr id="215" name="Shape 213"/>
          <p:cNvSpPr/>
          <p:nvPr/>
        </p:nvSpPr>
        <p:spPr>
          <a:xfrm>
            <a:off x="7322515" y="2414016"/>
            <a:ext cx="2181758" cy="512064"/>
          </a:xfrm>
          <a:prstGeom prst="roundRect">
            <a:avLst>
              <a:gd name="adj" fmla="val 8929"/>
            </a:avLst>
          </a:prstGeom>
          <a:solidFill>
            <a:srgbClr val="F5F6F8"/>
          </a:solidFill>
          <a:ln/>
        </p:spPr>
      </p:sp>
      <p:sp>
        <p:nvSpPr>
          <p:cNvPr id="216" name="Shape 214"/>
          <p:cNvSpPr/>
          <p:nvPr/>
        </p:nvSpPr>
        <p:spPr>
          <a:xfrm>
            <a:off x="7395667" y="2487168"/>
            <a:ext cx="256032" cy="256032"/>
          </a:xfrm>
          <a:prstGeom prst="ellipse">
            <a:avLst/>
          </a:prstGeom>
          <a:solidFill>
            <a:srgbClr val="6A4C93"/>
          </a:solidFill>
          <a:ln/>
        </p:spPr>
      </p:sp>
      <p:sp>
        <p:nvSpPr>
          <p:cNvPr id="217" name="Text 215"/>
          <p:cNvSpPr txBox="1"/>
          <p:nvPr/>
        </p:nvSpPr>
        <p:spPr>
          <a:xfrm>
            <a:off x="7395667" y="248716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218" name="Text 216"/>
          <p:cNvSpPr txBox="1"/>
          <p:nvPr/>
        </p:nvSpPr>
        <p:spPr>
          <a:xfrm>
            <a:off x="7706563" y="2441448"/>
            <a:ext cx="12947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Setor 5153</a:t>
            </a:r>
            <a:endParaRPr lang="en-US" sz="1500" dirty="0"/>
          </a:p>
        </p:txBody>
      </p:sp>
      <p:sp>
        <p:nvSpPr>
          <p:cNvPr id="219" name="Text 217"/>
          <p:cNvSpPr txBox="1"/>
          <p:nvPr/>
        </p:nvSpPr>
        <p:spPr>
          <a:xfrm>
            <a:off x="9001354" y="241401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6A4C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85</a:t>
            </a:r>
            <a:endParaRPr lang="en-US" sz="1700" dirty="0"/>
          </a:p>
        </p:txBody>
      </p:sp>
      <p:sp>
        <p:nvSpPr>
          <p:cNvPr id="220" name="Shape 218"/>
          <p:cNvSpPr/>
          <p:nvPr/>
        </p:nvSpPr>
        <p:spPr>
          <a:xfrm>
            <a:off x="7706563" y="2706624"/>
            <a:ext cx="1633118" cy="82296"/>
          </a:xfrm>
          <a:prstGeom prst="roundRect">
            <a:avLst>
              <a:gd name="adj" fmla="val 22222"/>
            </a:avLst>
          </a:prstGeom>
          <a:solidFill>
            <a:srgbClr val="E1E4E8"/>
          </a:solidFill>
          <a:ln/>
        </p:spPr>
      </p:sp>
      <p:sp>
        <p:nvSpPr>
          <p:cNvPr id="221" name="Shape 219"/>
          <p:cNvSpPr/>
          <p:nvPr/>
        </p:nvSpPr>
        <p:spPr>
          <a:xfrm>
            <a:off x="7706563" y="2706624"/>
            <a:ext cx="1508859" cy="82296"/>
          </a:xfrm>
          <a:prstGeom prst="roundRect">
            <a:avLst>
              <a:gd name="adj" fmla="val 22222"/>
            </a:avLst>
          </a:prstGeom>
          <a:solidFill>
            <a:srgbClr val="6A4C93"/>
          </a:solidFill>
          <a:ln/>
        </p:spPr>
      </p:sp>
      <p:sp>
        <p:nvSpPr>
          <p:cNvPr id="222" name="Text 220"/>
          <p:cNvSpPr txBox="1"/>
          <p:nvPr/>
        </p:nvSpPr>
        <p:spPr>
          <a:xfrm>
            <a:off x="7706563" y="2798064"/>
            <a:ext cx="170627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29,6% do setor</a:t>
            </a:r>
            <a:endParaRPr lang="en-US" sz="800" dirty="0"/>
          </a:p>
        </p:txBody>
      </p:sp>
      <p:sp>
        <p:nvSpPr>
          <p:cNvPr id="223" name="Shape 221"/>
          <p:cNvSpPr/>
          <p:nvPr/>
        </p:nvSpPr>
        <p:spPr>
          <a:xfrm>
            <a:off x="7322515" y="2980944"/>
            <a:ext cx="2181758" cy="512064"/>
          </a:xfrm>
          <a:prstGeom prst="roundRect">
            <a:avLst>
              <a:gd name="adj" fmla="val 8929"/>
            </a:avLst>
          </a:prstGeom>
          <a:solidFill>
            <a:srgbClr val="F5F6F8"/>
          </a:solidFill>
          <a:ln/>
        </p:spPr>
      </p:sp>
      <p:sp>
        <p:nvSpPr>
          <p:cNvPr id="224" name="Shape 222"/>
          <p:cNvSpPr/>
          <p:nvPr/>
        </p:nvSpPr>
        <p:spPr>
          <a:xfrm>
            <a:off x="7395667" y="3054096"/>
            <a:ext cx="256032" cy="256032"/>
          </a:xfrm>
          <a:prstGeom prst="ellipse">
            <a:avLst/>
          </a:prstGeom>
          <a:solidFill>
            <a:srgbClr val="6A4C93"/>
          </a:solidFill>
          <a:ln/>
        </p:spPr>
      </p:sp>
      <p:sp>
        <p:nvSpPr>
          <p:cNvPr id="225" name="Text 223"/>
          <p:cNvSpPr txBox="1"/>
          <p:nvPr/>
        </p:nvSpPr>
        <p:spPr>
          <a:xfrm>
            <a:off x="7395667" y="305409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226" name="Text 224"/>
          <p:cNvSpPr txBox="1"/>
          <p:nvPr/>
        </p:nvSpPr>
        <p:spPr>
          <a:xfrm>
            <a:off x="7706563" y="3008376"/>
            <a:ext cx="12947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Setor 7741</a:t>
            </a:r>
            <a:endParaRPr lang="en-US" sz="1500" dirty="0"/>
          </a:p>
        </p:txBody>
      </p:sp>
      <p:sp>
        <p:nvSpPr>
          <p:cNvPr id="227" name="Text 225"/>
          <p:cNvSpPr txBox="1"/>
          <p:nvPr/>
        </p:nvSpPr>
        <p:spPr>
          <a:xfrm>
            <a:off x="9001354" y="298094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6A4C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85</a:t>
            </a:r>
            <a:endParaRPr lang="en-US" sz="1700" dirty="0"/>
          </a:p>
        </p:txBody>
      </p:sp>
      <p:sp>
        <p:nvSpPr>
          <p:cNvPr id="228" name="Shape 226"/>
          <p:cNvSpPr/>
          <p:nvPr/>
        </p:nvSpPr>
        <p:spPr>
          <a:xfrm>
            <a:off x="7706563" y="3273552"/>
            <a:ext cx="1633118" cy="82296"/>
          </a:xfrm>
          <a:prstGeom prst="roundRect">
            <a:avLst>
              <a:gd name="adj" fmla="val 22222"/>
            </a:avLst>
          </a:prstGeom>
          <a:solidFill>
            <a:srgbClr val="E1E4E8"/>
          </a:solidFill>
          <a:ln/>
        </p:spPr>
      </p:sp>
      <p:sp>
        <p:nvSpPr>
          <p:cNvPr id="229" name="Shape 227"/>
          <p:cNvSpPr/>
          <p:nvPr/>
        </p:nvSpPr>
        <p:spPr>
          <a:xfrm>
            <a:off x="7706563" y="3273552"/>
            <a:ext cx="1508859" cy="82296"/>
          </a:xfrm>
          <a:prstGeom prst="roundRect">
            <a:avLst>
              <a:gd name="adj" fmla="val 22222"/>
            </a:avLst>
          </a:prstGeom>
          <a:solidFill>
            <a:srgbClr val="6A4C93"/>
          </a:solidFill>
          <a:ln/>
        </p:spPr>
      </p:sp>
      <p:sp>
        <p:nvSpPr>
          <p:cNvPr id="230" name="Text 228"/>
          <p:cNvSpPr txBox="1"/>
          <p:nvPr/>
        </p:nvSpPr>
        <p:spPr>
          <a:xfrm>
            <a:off x="7706563" y="3364992"/>
            <a:ext cx="170627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29,9% do setor</a:t>
            </a:r>
            <a:endParaRPr lang="en-US" sz="800" dirty="0"/>
          </a:p>
        </p:txBody>
      </p:sp>
      <p:sp>
        <p:nvSpPr>
          <p:cNvPr id="231" name="Shape 229"/>
          <p:cNvSpPr/>
          <p:nvPr/>
        </p:nvSpPr>
        <p:spPr>
          <a:xfrm>
            <a:off x="7322515" y="3547872"/>
            <a:ext cx="2181758" cy="512064"/>
          </a:xfrm>
          <a:prstGeom prst="roundRect">
            <a:avLst>
              <a:gd name="adj" fmla="val 8929"/>
            </a:avLst>
          </a:prstGeom>
          <a:solidFill>
            <a:srgbClr val="F5F6F8"/>
          </a:solidFill>
          <a:ln/>
        </p:spPr>
      </p:sp>
      <p:sp>
        <p:nvSpPr>
          <p:cNvPr id="232" name="Shape 230"/>
          <p:cNvSpPr/>
          <p:nvPr/>
        </p:nvSpPr>
        <p:spPr>
          <a:xfrm>
            <a:off x="7395667" y="3621024"/>
            <a:ext cx="256032" cy="256032"/>
          </a:xfrm>
          <a:prstGeom prst="ellipse">
            <a:avLst/>
          </a:prstGeom>
          <a:solidFill>
            <a:srgbClr val="6A4C93"/>
          </a:solidFill>
          <a:ln/>
        </p:spPr>
      </p:sp>
      <p:sp>
        <p:nvSpPr>
          <p:cNvPr id="233" name="Text 231"/>
          <p:cNvSpPr txBox="1"/>
          <p:nvPr/>
        </p:nvSpPr>
        <p:spPr>
          <a:xfrm>
            <a:off x="7395667" y="362102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34" name="Text 232"/>
          <p:cNvSpPr txBox="1"/>
          <p:nvPr/>
        </p:nvSpPr>
        <p:spPr>
          <a:xfrm>
            <a:off x="7706563" y="3575304"/>
            <a:ext cx="12947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Setor 5152</a:t>
            </a:r>
            <a:endParaRPr lang="en-US" sz="1500" dirty="0"/>
          </a:p>
        </p:txBody>
      </p:sp>
      <p:sp>
        <p:nvSpPr>
          <p:cNvPr id="235" name="Text 233"/>
          <p:cNvSpPr txBox="1"/>
          <p:nvPr/>
        </p:nvSpPr>
        <p:spPr>
          <a:xfrm>
            <a:off x="9001354" y="354787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6A4C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84</a:t>
            </a:r>
            <a:endParaRPr lang="en-US" sz="1700" dirty="0"/>
          </a:p>
        </p:txBody>
      </p:sp>
      <p:sp>
        <p:nvSpPr>
          <p:cNvPr id="236" name="Shape 234"/>
          <p:cNvSpPr/>
          <p:nvPr/>
        </p:nvSpPr>
        <p:spPr>
          <a:xfrm>
            <a:off x="7706563" y="3840480"/>
            <a:ext cx="1633118" cy="82296"/>
          </a:xfrm>
          <a:prstGeom prst="roundRect">
            <a:avLst>
              <a:gd name="adj" fmla="val 22222"/>
            </a:avLst>
          </a:prstGeom>
          <a:solidFill>
            <a:srgbClr val="E1E4E8"/>
          </a:solidFill>
          <a:ln/>
        </p:spPr>
      </p:sp>
      <p:sp>
        <p:nvSpPr>
          <p:cNvPr id="237" name="Shape 235"/>
          <p:cNvSpPr/>
          <p:nvPr/>
        </p:nvSpPr>
        <p:spPr>
          <a:xfrm>
            <a:off x="7706563" y="3840480"/>
            <a:ext cx="1491108" cy="82296"/>
          </a:xfrm>
          <a:prstGeom prst="roundRect">
            <a:avLst>
              <a:gd name="adj" fmla="val 22222"/>
            </a:avLst>
          </a:prstGeom>
          <a:solidFill>
            <a:srgbClr val="6A4C93"/>
          </a:solidFill>
          <a:ln/>
        </p:spPr>
      </p:sp>
      <p:sp>
        <p:nvSpPr>
          <p:cNvPr id="238" name="Text 236"/>
          <p:cNvSpPr txBox="1"/>
          <p:nvPr/>
        </p:nvSpPr>
        <p:spPr>
          <a:xfrm>
            <a:off x="7706563" y="3931920"/>
            <a:ext cx="170627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28,3% do setor</a:t>
            </a:r>
            <a:endParaRPr lang="en-US" sz="800" dirty="0"/>
          </a:p>
        </p:txBody>
      </p:sp>
      <p:sp>
        <p:nvSpPr>
          <p:cNvPr id="239" name="Shape 237"/>
          <p:cNvSpPr/>
          <p:nvPr/>
        </p:nvSpPr>
        <p:spPr>
          <a:xfrm>
            <a:off x="7322515" y="4114800"/>
            <a:ext cx="2181758" cy="512064"/>
          </a:xfrm>
          <a:prstGeom prst="roundRect">
            <a:avLst>
              <a:gd name="adj" fmla="val 8929"/>
            </a:avLst>
          </a:prstGeom>
          <a:solidFill>
            <a:srgbClr val="F5F6F8"/>
          </a:solidFill>
          <a:ln/>
        </p:spPr>
      </p:sp>
      <p:sp>
        <p:nvSpPr>
          <p:cNvPr id="240" name="Shape 238"/>
          <p:cNvSpPr/>
          <p:nvPr/>
        </p:nvSpPr>
        <p:spPr>
          <a:xfrm>
            <a:off x="7395667" y="4187952"/>
            <a:ext cx="256032" cy="256032"/>
          </a:xfrm>
          <a:prstGeom prst="ellipse">
            <a:avLst/>
          </a:prstGeom>
          <a:solidFill>
            <a:srgbClr val="6A4C93"/>
          </a:solidFill>
          <a:ln/>
        </p:spPr>
      </p:sp>
      <p:sp>
        <p:nvSpPr>
          <p:cNvPr id="241" name="Text 239"/>
          <p:cNvSpPr txBox="1"/>
          <p:nvPr/>
        </p:nvSpPr>
        <p:spPr>
          <a:xfrm>
            <a:off x="7395667" y="418795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242" name="Text 240"/>
          <p:cNvSpPr txBox="1"/>
          <p:nvPr/>
        </p:nvSpPr>
        <p:spPr>
          <a:xfrm>
            <a:off x="7706563" y="4142232"/>
            <a:ext cx="12947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Setor 7745</a:t>
            </a:r>
            <a:endParaRPr lang="en-US" sz="1500" dirty="0"/>
          </a:p>
        </p:txBody>
      </p:sp>
      <p:sp>
        <p:nvSpPr>
          <p:cNvPr id="243" name="Text 241"/>
          <p:cNvSpPr txBox="1"/>
          <p:nvPr/>
        </p:nvSpPr>
        <p:spPr>
          <a:xfrm>
            <a:off x="9001354" y="4114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6A4C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72</a:t>
            </a:r>
            <a:endParaRPr lang="en-US" sz="1700" dirty="0"/>
          </a:p>
        </p:txBody>
      </p:sp>
      <p:sp>
        <p:nvSpPr>
          <p:cNvPr id="244" name="Shape 242"/>
          <p:cNvSpPr/>
          <p:nvPr/>
        </p:nvSpPr>
        <p:spPr>
          <a:xfrm>
            <a:off x="7706563" y="4407408"/>
            <a:ext cx="1633118" cy="82296"/>
          </a:xfrm>
          <a:prstGeom prst="roundRect">
            <a:avLst>
              <a:gd name="adj" fmla="val 22222"/>
            </a:avLst>
          </a:prstGeom>
          <a:solidFill>
            <a:srgbClr val="E1E4E8"/>
          </a:solidFill>
          <a:ln/>
        </p:spPr>
      </p:sp>
      <p:sp>
        <p:nvSpPr>
          <p:cNvPr id="245" name="Shape 243"/>
          <p:cNvSpPr/>
          <p:nvPr/>
        </p:nvSpPr>
        <p:spPr>
          <a:xfrm>
            <a:off x="7706563" y="4407408"/>
            <a:ext cx="1278093" cy="82296"/>
          </a:xfrm>
          <a:prstGeom prst="roundRect">
            <a:avLst>
              <a:gd name="adj" fmla="val 22222"/>
            </a:avLst>
          </a:prstGeom>
          <a:solidFill>
            <a:srgbClr val="6A4C93"/>
          </a:solidFill>
          <a:ln/>
        </p:spPr>
      </p:sp>
      <p:sp>
        <p:nvSpPr>
          <p:cNvPr id="246" name="Text 244"/>
          <p:cNvSpPr txBox="1"/>
          <p:nvPr/>
        </p:nvSpPr>
        <p:spPr>
          <a:xfrm>
            <a:off x="7706563" y="4498848"/>
            <a:ext cx="170627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25,2% do setor</a:t>
            </a:r>
            <a:endParaRPr lang="en-US" sz="800" dirty="0"/>
          </a:p>
        </p:txBody>
      </p:sp>
      <p:sp>
        <p:nvSpPr>
          <p:cNvPr id="247" name="Shape 245"/>
          <p:cNvSpPr/>
          <p:nvPr/>
        </p:nvSpPr>
        <p:spPr>
          <a:xfrm>
            <a:off x="7322515" y="4681728"/>
            <a:ext cx="2181758" cy="512064"/>
          </a:xfrm>
          <a:prstGeom prst="roundRect">
            <a:avLst>
              <a:gd name="adj" fmla="val 8929"/>
            </a:avLst>
          </a:prstGeom>
          <a:solidFill>
            <a:srgbClr val="F5F6F8"/>
          </a:solidFill>
          <a:ln/>
        </p:spPr>
      </p:sp>
      <p:sp>
        <p:nvSpPr>
          <p:cNvPr id="248" name="Shape 246"/>
          <p:cNvSpPr/>
          <p:nvPr/>
        </p:nvSpPr>
        <p:spPr>
          <a:xfrm>
            <a:off x="7395667" y="4754880"/>
            <a:ext cx="256032" cy="256032"/>
          </a:xfrm>
          <a:prstGeom prst="ellipse">
            <a:avLst/>
          </a:prstGeom>
          <a:solidFill>
            <a:srgbClr val="6A4C93"/>
          </a:solidFill>
          <a:ln/>
        </p:spPr>
      </p:sp>
      <p:sp>
        <p:nvSpPr>
          <p:cNvPr id="249" name="Text 247"/>
          <p:cNvSpPr txBox="1"/>
          <p:nvPr/>
        </p:nvSpPr>
        <p:spPr>
          <a:xfrm>
            <a:off x="7395667" y="475488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  <p:sp>
        <p:nvSpPr>
          <p:cNvPr id="250" name="Text 248"/>
          <p:cNvSpPr txBox="1"/>
          <p:nvPr/>
        </p:nvSpPr>
        <p:spPr>
          <a:xfrm>
            <a:off x="7706563" y="4709160"/>
            <a:ext cx="12947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Setor 5149</a:t>
            </a:r>
            <a:endParaRPr lang="en-US" sz="1500" dirty="0"/>
          </a:p>
        </p:txBody>
      </p:sp>
      <p:sp>
        <p:nvSpPr>
          <p:cNvPr id="251" name="Text 249"/>
          <p:cNvSpPr txBox="1"/>
          <p:nvPr/>
        </p:nvSpPr>
        <p:spPr>
          <a:xfrm>
            <a:off x="9001354" y="46817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6A4C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71</a:t>
            </a:r>
            <a:endParaRPr lang="en-US" sz="1700" dirty="0"/>
          </a:p>
        </p:txBody>
      </p:sp>
      <p:sp>
        <p:nvSpPr>
          <p:cNvPr id="252" name="Shape 250"/>
          <p:cNvSpPr/>
          <p:nvPr/>
        </p:nvSpPr>
        <p:spPr>
          <a:xfrm>
            <a:off x="7706563" y="4974336"/>
            <a:ext cx="1633118" cy="82296"/>
          </a:xfrm>
          <a:prstGeom prst="roundRect">
            <a:avLst>
              <a:gd name="adj" fmla="val 22222"/>
            </a:avLst>
          </a:prstGeom>
          <a:solidFill>
            <a:srgbClr val="E1E4E8"/>
          </a:solidFill>
          <a:ln/>
        </p:spPr>
      </p:sp>
      <p:sp>
        <p:nvSpPr>
          <p:cNvPr id="253" name="Shape 251"/>
          <p:cNvSpPr/>
          <p:nvPr/>
        </p:nvSpPr>
        <p:spPr>
          <a:xfrm>
            <a:off x="7706563" y="4974336"/>
            <a:ext cx="1260341" cy="82296"/>
          </a:xfrm>
          <a:prstGeom prst="roundRect">
            <a:avLst>
              <a:gd name="adj" fmla="val 22222"/>
            </a:avLst>
          </a:prstGeom>
          <a:solidFill>
            <a:srgbClr val="6A4C93"/>
          </a:solidFill>
          <a:ln/>
        </p:spPr>
      </p:sp>
      <p:sp>
        <p:nvSpPr>
          <p:cNvPr id="254" name="Text 252"/>
          <p:cNvSpPr txBox="1"/>
          <p:nvPr/>
        </p:nvSpPr>
        <p:spPr>
          <a:xfrm>
            <a:off x="7706563" y="5065776"/>
            <a:ext cx="170627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22,9% do setor</a:t>
            </a:r>
            <a:endParaRPr lang="en-US" sz="800" dirty="0"/>
          </a:p>
        </p:txBody>
      </p:sp>
      <p:sp>
        <p:nvSpPr>
          <p:cNvPr id="255" name="Shape 253"/>
          <p:cNvSpPr/>
          <p:nvPr/>
        </p:nvSpPr>
        <p:spPr>
          <a:xfrm>
            <a:off x="7322515" y="5248656"/>
            <a:ext cx="2181758" cy="512064"/>
          </a:xfrm>
          <a:prstGeom prst="roundRect">
            <a:avLst>
              <a:gd name="adj" fmla="val 8929"/>
            </a:avLst>
          </a:prstGeom>
          <a:solidFill>
            <a:srgbClr val="F5F6F8"/>
          </a:solidFill>
          <a:ln/>
        </p:spPr>
      </p:sp>
      <p:sp>
        <p:nvSpPr>
          <p:cNvPr id="256" name="Shape 254"/>
          <p:cNvSpPr/>
          <p:nvPr/>
        </p:nvSpPr>
        <p:spPr>
          <a:xfrm>
            <a:off x="7395667" y="5321808"/>
            <a:ext cx="256032" cy="256032"/>
          </a:xfrm>
          <a:prstGeom prst="ellipse">
            <a:avLst/>
          </a:prstGeom>
          <a:solidFill>
            <a:srgbClr val="6A4C93"/>
          </a:solidFill>
          <a:ln/>
        </p:spPr>
      </p:sp>
      <p:sp>
        <p:nvSpPr>
          <p:cNvPr id="257" name="Text 255"/>
          <p:cNvSpPr txBox="1"/>
          <p:nvPr/>
        </p:nvSpPr>
        <p:spPr>
          <a:xfrm>
            <a:off x="7395667" y="532180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300" dirty="0"/>
          </a:p>
        </p:txBody>
      </p:sp>
      <p:sp>
        <p:nvSpPr>
          <p:cNvPr id="258" name="Text 256"/>
          <p:cNvSpPr txBox="1"/>
          <p:nvPr/>
        </p:nvSpPr>
        <p:spPr>
          <a:xfrm>
            <a:off x="7706563" y="5276088"/>
            <a:ext cx="12947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Setor 5613</a:t>
            </a:r>
            <a:endParaRPr lang="en-US" sz="1500" dirty="0"/>
          </a:p>
        </p:txBody>
      </p:sp>
      <p:sp>
        <p:nvSpPr>
          <p:cNvPr id="259" name="Text 257"/>
          <p:cNvSpPr txBox="1"/>
          <p:nvPr/>
        </p:nvSpPr>
        <p:spPr>
          <a:xfrm>
            <a:off x="9001354" y="524865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6A4C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64</a:t>
            </a:r>
            <a:endParaRPr lang="en-US" sz="1700" dirty="0"/>
          </a:p>
        </p:txBody>
      </p:sp>
      <p:sp>
        <p:nvSpPr>
          <p:cNvPr id="260" name="Shape 258"/>
          <p:cNvSpPr/>
          <p:nvPr/>
        </p:nvSpPr>
        <p:spPr>
          <a:xfrm>
            <a:off x="7706563" y="5541264"/>
            <a:ext cx="1633118" cy="82296"/>
          </a:xfrm>
          <a:prstGeom prst="roundRect">
            <a:avLst>
              <a:gd name="adj" fmla="val 22222"/>
            </a:avLst>
          </a:prstGeom>
          <a:solidFill>
            <a:srgbClr val="E1E4E8"/>
          </a:solidFill>
          <a:ln/>
        </p:spPr>
      </p:sp>
      <p:sp>
        <p:nvSpPr>
          <p:cNvPr id="261" name="Shape 259"/>
          <p:cNvSpPr/>
          <p:nvPr/>
        </p:nvSpPr>
        <p:spPr>
          <a:xfrm>
            <a:off x="7706563" y="5541264"/>
            <a:ext cx="1136082" cy="82296"/>
          </a:xfrm>
          <a:prstGeom prst="roundRect">
            <a:avLst>
              <a:gd name="adj" fmla="val 22222"/>
            </a:avLst>
          </a:prstGeom>
          <a:solidFill>
            <a:srgbClr val="6A4C93"/>
          </a:solidFill>
          <a:ln/>
        </p:spPr>
      </p:sp>
      <p:sp>
        <p:nvSpPr>
          <p:cNvPr id="262" name="Text 260"/>
          <p:cNvSpPr txBox="1"/>
          <p:nvPr/>
        </p:nvSpPr>
        <p:spPr>
          <a:xfrm>
            <a:off x="7706563" y="5632704"/>
            <a:ext cx="170627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22,8% do setor</a:t>
            </a:r>
            <a:endParaRPr lang="en-US" sz="800" dirty="0"/>
          </a:p>
        </p:txBody>
      </p:sp>
      <p:sp>
        <p:nvSpPr>
          <p:cNvPr id="263" name="Shape 261"/>
          <p:cNvSpPr/>
          <p:nvPr/>
        </p:nvSpPr>
        <p:spPr>
          <a:xfrm>
            <a:off x="7322515" y="5815584"/>
            <a:ext cx="2181758" cy="512064"/>
          </a:xfrm>
          <a:prstGeom prst="roundRect">
            <a:avLst>
              <a:gd name="adj" fmla="val 8929"/>
            </a:avLst>
          </a:prstGeom>
          <a:solidFill>
            <a:srgbClr val="F5F6F8"/>
          </a:solidFill>
          <a:ln/>
        </p:spPr>
      </p:sp>
      <p:sp>
        <p:nvSpPr>
          <p:cNvPr id="264" name="Shape 262"/>
          <p:cNvSpPr/>
          <p:nvPr/>
        </p:nvSpPr>
        <p:spPr>
          <a:xfrm>
            <a:off x="7395667" y="5888736"/>
            <a:ext cx="256032" cy="256032"/>
          </a:xfrm>
          <a:prstGeom prst="ellipse">
            <a:avLst/>
          </a:prstGeom>
          <a:solidFill>
            <a:srgbClr val="6A4C93"/>
          </a:solidFill>
          <a:ln/>
        </p:spPr>
      </p:sp>
      <p:sp>
        <p:nvSpPr>
          <p:cNvPr id="265" name="Text 263"/>
          <p:cNvSpPr txBox="1"/>
          <p:nvPr/>
        </p:nvSpPr>
        <p:spPr>
          <a:xfrm>
            <a:off x="7395667" y="588873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300" dirty="0"/>
          </a:p>
        </p:txBody>
      </p:sp>
      <p:sp>
        <p:nvSpPr>
          <p:cNvPr id="266" name="Text 264"/>
          <p:cNvSpPr txBox="1"/>
          <p:nvPr/>
        </p:nvSpPr>
        <p:spPr>
          <a:xfrm>
            <a:off x="7706563" y="5843016"/>
            <a:ext cx="12947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Setor 7748</a:t>
            </a:r>
            <a:endParaRPr lang="en-US" sz="1500" dirty="0"/>
          </a:p>
        </p:txBody>
      </p:sp>
      <p:sp>
        <p:nvSpPr>
          <p:cNvPr id="267" name="Text 265"/>
          <p:cNvSpPr txBox="1"/>
          <p:nvPr/>
        </p:nvSpPr>
        <p:spPr>
          <a:xfrm>
            <a:off x="9001354" y="581558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6A4C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64</a:t>
            </a:r>
            <a:endParaRPr lang="en-US" sz="1700" dirty="0"/>
          </a:p>
        </p:txBody>
      </p:sp>
      <p:sp>
        <p:nvSpPr>
          <p:cNvPr id="268" name="Shape 266"/>
          <p:cNvSpPr/>
          <p:nvPr/>
        </p:nvSpPr>
        <p:spPr>
          <a:xfrm>
            <a:off x="7706563" y="6108192"/>
            <a:ext cx="1633118" cy="82296"/>
          </a:xfrm>
          <a:prstGeom prst="roundRect">
            <a:avLst>
              <a:gd name="adj" fmla="val 22222"/>
            </a:avLst>
          </a:prstGeom>
          <a:solidFill>
            <a:srgbClr val="E1E4E8"/>
          </a:solidFill>
          <a:ln/>
        </p:spPr>
      </p:sp>
      <p:sp>
        <p:nvSpPr>
          <p:cNvPr id="269" name="Shape 267"/>
          <p:cNvSpPr/>
          <p:nvPr/>
        </p:nvSpPr>
        <p:spPr>
          <a:xfrm>
            <a:off x="7706563" y="6108192"/>
            <a:ext cx="1136082" cy="82296"/>
          </a:xfrm>
          <a:prstGeom prst="roundRect">
            <a:avLst>
              <a:gd name="adj" fmla="val 22222"/>
            </a:avLst>
          </a:prstGeom>
          <a:solidFill>
            <a:srgbClr val="6A4C93"/>
          </a:solidFill>
          <a:ln/>
        </p:spPr>
      </p:sp>
      <p:sp>
        <p:nvSpPr>
          <p:cNvPr id="270" name="Text 268"/>
          <p:cNvSpPr txBox="1"/>
          <p:nvPr/>
        </p:nvSpPr>
        <p:spPr>
          <a:xfrm>
            <a:off x="7706563" y="6199632"/>
            <a:ext cx="170627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22,1% do setor</a:t>
            </a:r>
            <a:endParaRPr lang="en-US" sz="800" dirty="0"/>
          </a:p>
        </p:txBody>
      </p:sp>
      <p:sp>
        <p:nvSpPr>
          <p:cNvPr id="271" name="Shape 269"/>
          <p:cNvSpPr/>
          <p:nvPr/>
        </p:nvSpPr>
        <p:spPr>
          <a:xfrm>
            <a:off x="9641434" y="960120"/>
            <a:ext cx="2181758" cy="777240"/>
          </a:xfrm>
          <a:prstGeom prst="roundRect">
            <a:avLst>
              <a:gd name="adj" fmla="val 9412"/>
            </a:avLst>
          </a:prstGeom>
          <a:solidFill>
            <a:srgbClr val="52B788"/>
          </a:solidFill>
          <a:ln/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272" name="Text 270"/>
          <p:cNvSpPr txBox="1"/>
          <p:nvPr/>
        </p:nvSpPr>
        <p:spPr>
          <a:xfrm>
            <a:off x="9751162" y="1051560"/>
            <a:ext cx="19623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 5</a:t>
            </a:r>
            <a:endParaRPr lang="en-US" sz="2300" dirty="0"/>
          </a:p>
        </p:txBody>
      </p:sp>
      <p:sp>
        <p:nvSpPr>
          <p:cNvPr id="273" name="Text 271"/>
          <p:cNvSpPr txBox="1"/>
          <p:nvPr/>
        </p:nvSpPr>
        <p:spPr>
          <a:xfrm>
            <a:off x="9751162" y="1399032"/>
            <a:ext cx="196230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1046 médicos no painel</a:t>
            </a:r>
            <a:endParaRPr lang="en-US" sz="1250" dirty="0"/>
          </a:p>
        </p:txBody>
      </p:sp>
      <p:sp>
        <p:nvSpPr>
          <p:cNvPr id="274" name="Shape 272"/>
          <p:cNvSpPr/>
          <p:nvPr/>
        </p:nvSpPr>
        <p:spPr>
          <a:xfrm>
            <a:off x="9641434" y="1847088"/>
            <a:ext cx="2181758" cy="512064"/>
          </a:xfrm>
          <a:prstGeom prst="roundRect">
            <a:avLst>
              <a:gd name="adj" fmla="val 8929"/>
            </a:avLst>
          </a:prstGeom>
          <a:solidFill>
            <a:srgbClr val="F5F6F8"/>
          </a:solidFill>
          <a:ln/>
        </p:spPr>
      </p:sp>
      <p:sp>
        <p:nvSpPr>
          <p:cNvPr id="275" name="Shape 273"/>
          <p:cNvSpPr/>
          <p:nvPr/>
        </p:nvSpPr>
        <p:spPr>
          <a:xfrm>
            <a:off x="9714586" y="1920240"/>
            <a:ext cx="256032" cy="256032"/>
          </a:xfrm>
          <a:prstGeom prst="ellipse">
            <a:avLst/>
          </a:prstGeom>
          <a:solidFill>
            <a:srgbClr val="52B788"/>
          </a:solidFill>
          <a:ln/>
        </p:spPr>
      </p:sp>
      <p:sp>
        <p:nvSpPr>
          <p:cNvPr id="276" name="Text 274"/>
          <p:cNvSpPr txBox="1"/>
          <p:nvPr/>
        </p:nvSpPr>
        <p:spPr>
          <a:xfrm>
            <a:off x="9714586" y="192024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277" name="Text 275"/>
          <p:cNvSpPr txBox="1"/>
          <p:nvPr/>
        </p:nvSpPr>
        <p:spPr>
          <a:xfrm>
            <a:off x="10025482" y="1874520"/>
            <a:ext cx="12947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Setor 7748</a:t>
            </a:r>
            <a:endParaRPr lang="en-US" sz="1500" dirty="0"/>
          </a:p>
        </p:txBody>
      </p:sp>
      <p:sp>
        <p:nvSpPr>
          <p:cNvPr id="278" name="Text 276"/>
          <p:cNvSpPr txBox="1"/>
          <p:nvPr/>
        </p:nvSpPr>
        <p:spPr>
          <a:xfrm>
            <a:off x="11320272" y="1847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52B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173</a:t>
            </a:r>
            <a:endParaRPr lang="en-US" sz="1700" dirty="0"/>
          </a:p>
        </p:txBody>
      </p:sp>
      <p:sp>
        <p:nvSpPr>
          <p:cNvPr id="279" name="Shape 277"/>
          <p:cNvSpPr/>
          <p:nvPr/>
        </p:nvSpPr>
        <p:spPr>
          <a:xfrm>
            <a:off x="10025482" y="2139696"/>
            <a:ext cx="1633118" cy="82296"/>
          </a:xfrm>
          <a:prstGeom prst="roundRect">
            <a:avLst>
              <a:gd name="adj" fmla="val 22222"/>
            </a:avLst>
          </a:prstGeom>
          <a:solidFill>
            <a:srgbClr val="E1E4E8"/>
          </a:solidFill>
          <a:ln/>
        </p:spPr>
      </p:sp>
      <p:sp>
        <p:nvSpPr>
          <p:cNvPr id="280" name="Shape 278"/>
          <p:cNvSpPr/>
          <p:nvPr/>
        </p:nvSpPr>
        <p:spPr>
          <a:xfrm>
            <a:off x="10025482" y="2139696"/>
            <a:ext cx="1633118" cy="82296"/>
          </a:xfrm>
          <a:prstGeom prst="roundRect">
            <a:avLst>
              <a:gd name="adj" fmla="val 22222"/>
            </a:avLst>
          </a:prstGeom>
          <a:solidFill>
            <a:srgbClr val="52B788"/>
          </a:solidFill>
          <a:ln/>
        </p:spPr>
      </p:sp>
      <p:sp>
        <p:nvSpPr>
          <p:cNvPr id="281" name="Text 279"/>
          <p:cNvSpPr txBox="1"/>
          <p:nvPr/>
        </p:nvSpPr>
        <p:spPr>
          <a:xfrm>
            <a:off x="10025482" y="2231136"/>
            <a:ext cx="170627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59,9% do setor</a:t>
            </a:r>
            <a:endParaRPr lang="en-US" sz="800" dirty="0"/>
          </a:p>
        </p:txBody>
      </p:sp>
      <p:sp>
        <p:nvSpPr>
          <p:cNvPr id="282" name="Shape 280"/>
          <p:cNvSpPr/>
          <p:nvPr/>
        </p:nvSpPr>
        <p:spPr>
          <a:xfrm>
            <a:off x="9641434" y="2414016"/>
            <a:ext cx="2181758" cy="512064"/>
          </a:xfrm>
          <a:prstGeom prst="roundRect">
            <a:avLst>
              <a:gd name="adj" fmla="val 8929"/>
            </a:avLst>
          </a:prstGeom>
          <a:solidFill>
            <a:srgbClr val="F5F6F8"/>
          </a:solidFill>
          <a:ln/>
        </p:spPr>
      </p:sp>
      <p:sp>
        <p:nvSpPr>
          <p:cNvPr id="283" name="Shape 281"/>
          <p:cNvSpPr/>
          <p:nvPr/>
        </p:nvSpPr>
        <p:spPr>
          <a:xfrm>
            <a:off x="9714586" y="2487168"/>
            <a:ext cx="256032" cy="256032"/>
          </a:xfrm>
          <a:prstGeom prst="ellipse">
            <a:avLst/>
          </a:prstGeom>
          <a:solidFill>
            <a:srgbClr val="52B788"/>
          </a:solidFill>
          <a:ln/>
        </p:spPr>
      </p:sp>
      <p:sp>
        <p:nvSpPr>
          <p:cNvPr id="284" name="Text 282"/>
          <p:cNvSpPr txBox="1"/>
          <p:nvPr/>
        </p:nvSpPr>
        <p:spPr>
          <a:xfrm>
            <a:off x="9714586" y="248716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285" name="Text 283"/>
          <p:cNvSpPr txBox="1"/>
          <p:nvPr/>
        </p:nvSpPr>
        <p:spPr>
          <a:xfrm>
            <a:off x="10025482" y="2441448"/>
            <a:ext cx="12947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Setor 5613</a:t>
            </a:r>
            <a:endParaRPr lang="en-US" sz="1500" dirty="0"/>
          </a:p>
        </p:txBody>
      </p:sp>
      <p:sp>
        <p:nvSpPr>
          <p:cNvPr id="286" name="Text 284"/>
          <p:cNvSpPr txBox="1"/>
          <p:nvPr/>
        </p:nvSpPr>
        <p:spPr>
          <a:xfrm>
            <a:off x="11320272" y="241401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52B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156</a:t>
            </a:r>
            <a:endParaRPr lang="en-US" sz="1700" dirty="0"/>
          </a:p>
        </p:txBody>
      </p:sp>
      <p:sp>
        <p:nvSpPr>
          <p:cNvPr id="287" name="Shape 285"/>
          <p:cNvSpPr/>
          <p:nvPr/>
        </p:nvSpPr>
        <p:spPr>
          <a:xfrm>
            <a:off x="10025482" y="2706624"/>
            <a:ext cx="1633118" cy="82296"/>
          </a:xfrm>
          <a:prstGeom prst="roundRect">
            <a:avLst>
              <a:gd name="adj" fmla="val 22222"/>
            </a:avLst>
          </a:prstGeom>
          <a:solidFill>
            <a:srgbClr val="E1E4E8"/>
          </a:solidFill>
          <a:ln/>
        </p:spPr>
      </p:sp>
      <p:sp>
        <p:nvSpPr>
          <p:cNvPr id="288" name="Shape 286"/>
          <p:cNvSpPr/>
          <p:nvPr/>
        </p:nvSpPr>
        <p:spPr>
          <a:xfrm>
            <a:off x="10025482" y="2706624"/>
            <a:ext cx="1472639" cy="82296"/>
          </a:xfrm>
          <a:prstGeom prst="roundRect">
            <a:avLst>
              <a:gd name="adj" fmla="val 22222"/>
            </a:avLst>
          </a:prstGeom>
          <a:solidFill>
            <a:srgbClr val="52B788"/>
          </a:solidFill>
          <a:ln/>
        </p:spPr>
      </p:sp>
      <p:sp>
        <p:nvSpPr>
          <p:cNvPr id="289" name="Text 287"/>
          <p:cNvSpPr txBox="1"/>
          <p:nvPr/>
        </p:nvSpPr>
        <p:spPr>
          <a:xfrm>
            <a:off x="10025482" y="2798064"/>
            <a:ext cx="170627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55,5% do setor</a:t>
            </a:r>
            <a:endParaRPr lang="en-US" sz="800" dirty="0"/>
          </a:p>
        </p:txBody>
      </p:sp>
      <p:sp>
        <p:nvSpPr>
          <p:cNvPr id="290" name="Shape 288"/>
          <p:cNvSpPr/>
          <p:nvPr/>
        </p:nvSpPr>
        <p:spPr>
          <a:xfrm>
            <a:off x="9641434" y="2980944"/>
            <a:ext cx="2181758" cy="512064"/>
          </a:xfrm>
          <a:prstGeom prst="roundRect">
            <a:avLst>
              <a:gd name="adj" fmla="val 8929"/>
            </a:avLst>
          </a:prstGeom>
          <a:solidFill>
            <a:srgbClr val="F5F6F8"/>
          </a:solidFill>
          <a:ln/>
        </p:spPr>
      </p:sp>
      <p:sp>
        <p:nvSpPr>
          <p:cNvPr id="291" name="Shape 289"/>
          <p:cNvSpPr/>
          <p:nvPr/>
        </p:nvSpPr>
        <p:spPr>
          <a:xfrm>
            <a:off x="9714586" y="3054096"/>
            <a:ext cx="256032" cy="256032"/>
          </a:xfrm>
          <a:prstGeom prst="ellipse">
            <a:avLst/>
          </a:prstGeom>
          <a:solidFill>
            <a:srgbClr val="52B788"/>
          </a:solidFill>
          <a:ln/>
        </p:spPr>
      </p:sp>
      <p:sp>
        <p:nvSpPr>
          <p:cNvPr id="292" name="Text 290"/>
          <p:cNvSpPr txBox="1"/>
          <p:nvPr/>
        </p:nvSpPr>
        <p:spPr>
          <a:xfrm>
            <a:off x="9714586" y="305409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293" name="Text 291"/>
          <p:cNvSpPr txBox="1"/>
          <p:nvPr/>
        </p:nvSpPr>
        <p:spPr>
          <a:xfrm>
            <a:off x="10025482" y="3008376"/>
            <a:ext cx="12947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Setor 7742</a:t>
            </a:r>
            <a:endParaRPr lang="en-US" sz="1500" dirty="0"/>
          </a:p>
        </p:txBody>
      </p:sp>
      <p:sp>
        <p:nvSpPr>
          <p:cNvPr id="294" name="Text 292"/>
          <p:cNvSpPr txBox="1"/>
          <p:nvPr/>
        </p:nvSpPr>
        <p:spPr>
          <a:xfrm>
            <a:off x="11320272" y="298094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52B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152</a:t>
            </a:r>
            <a:endParaRPr lang="en-US" sz="1700" dirty="0"/>
          </a:p>
        </p:txBody>
      </p:sp>
      <p:sp>
        <p:nvSpPr>
          <p:cNvPr id="295" name="Shape 293"/>
          <p:cNvSpPr/>
          <p:nvPr/>
        </p:nvSpPr>
        <p:spPr>
          <a:xfrm>
            <a:off x="10025482" y="3273552"/>
            <a:ext cx="1633118" cy="82296"/>
          </a:xfrm>
          <a:prstGeom prst="roundRect">
            <a:avLst>
              <a:gd name="adj" fmla="val 22222"/>
            </a:avLst>
          </a:prstGeom>
          <a:solidFill>
            <a:srgbClr val="E1E4E8"/>
          </a:solidFill>
          <a:ln/>
        </p:spPr>
      </p:sp>
      <p:sp>
        <p:nvSpPr>
          <p:cNvPr id="296" name="Shape 294"/>
          <p:cNvSpPr/>
          <p:nvPr/>
        </p:nvSpPr>
        <p:spPr>
          <a:xfrm>
            <a:off x="10025482" y="3273552"/>
            <a:ext cx="1434879" cy="82296"/>
          </a:xfrm>
          <a:prstGeom prst="roundRect">
            <a:avLst>
              <a:gd name="adj" fmla="val 22222"/>
            </a:avLst>
          </a:prstGeom>
          <a:solidFill>
            <a:srgbClr val="52B788"/>
          </a:solidFill>
          <a:ln/>
        </p:spPr>
      </p:sp>
      <p:sp>
        <p:nvSpPr>
          <p:cNvPr id="297" name="Text 295"/>
          <p:cNvSpPr txBox="1"/>
          <p:nvPr/>
        </p:nvSpPr>
        <p:spPr>
          <a:xfrm>
            <a:off x="10025482" y="3364992"/>
            <a:ext cx="170627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49,2% do setor</a:t>
            </a:r>
            <a:endParaRPr lang="en-US" sz="800" dirty="0"/>
          </a:p>
        </p:txBody>
      </p:sp>
      <p:sp>
        <p:nvSpPr>
          <p:cNvPr id="298" name="Shape 296"/>
          <p:cNvSpPr/>
          <p:nvPr/>
        </p:nvSpPr>
        <p:spPr>
          <a:xfrm>
            <a:off x="9641434" y="3547872"/>
            <a:ext cx="2181758" cy="512064"/>
          </a:xfrm>
          <a:prstGeom prst="roundRect">
            <a:avLst>
              <a:gd name="adj" fmla="val 8929"/>
            </a:avLst>
          </a:prstGeom>
          <a:solidFill>
            <a:srgbClr val="F5F6F8"/>
          </a:solidFill>
          <a:ln/>
        </p:spPr>
      </p:sp>
      <p:sp>
        <p:nvSpPr>
          <p:cNvPr id="299" name="Shape 297"/>
          <p:cNvSpPr/>
          <p:nvPr/>
        </p:nvSpPr>
        <p:spPr>
          <a:xfrm>
            <a:off x="9714586" y="3621024"/>
            <a:ext cx="256032" cy="256032"/>
          </a:xfrm>
          <a:prstGeom prst="ellipse">
            <a:avLst/>
          </a:prstGeom>
          <a:solidFill>
            <a:srgbClr val="52B788"/>
          </a:solidFill>
          <a:ln/>
        </p:spPr>
      </p:sp>
      <p:sp>
        <p:nvSpPr>
          <p:cNvPr id="300" name="Text 298"/>
          <p:cNvSpPr txBox="1"/>
          <p:nvPr/>
        </p:nvSpPr>
        <p:spPr>
          <a:xfrm>
            <a:off x="9714586" y="362102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301" name="Text 299"/>
          <p:cNvSpPr txBox="1"/>
          <p:nvPr/>
        </p:nvSpPr>
        <p:spPr>
          <a:xfrm>
            <a:off x="10025482" y="3575304"/>
            <a:ext cx="12947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Setor 5152</a:t>
            </a:r>
            <a:endParaRPr lang="en-US" sz="1500" dirty="0"/>
          </a:p>
        </p:txBody>
      </p:sp>
      <p:sp>
        <p:nvSpPr>
          <p:cNvPr id="302" name="Text 300"/>
          <p:cNvSpPr txBox="1"/>
          <p:nvPr/>
        </p:nvSpPr>
        <p:spPr>
          <a:xfrm>
            <a:off x="11320272" y="354787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52B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149</a:t>
            </a:r>
            <a:endParaRPr lang="en-US" sz="1700" dirty="0"/>
          </a:p>
        </p:txBody>
      </p:sp>
      <p:sp>
        <p:nvSpPr>
          <p:cNvPr id="303" name="Shape 301"/>
          <p:cNvSpPr/>
          <p:nvPr/>
        </p:nvSpPr>
        <p:spPr>
          <a:xfrm>
            <a:off x="10025482" y="3840480"/>
            <a:ext cx="1633118" cy="82296"/>
          </a:xfrm>
          <a:prstGeom prst="roundRect">
            <a:avLst>
              <a:gd name="adj" fmla="val 22222"/>
            </a:avLst>
          </a:prstGeom>
          <a:solidFill>
            <a:srgbClr val="E1E4E8"/>
          </a:solidFill>
          <a:ln/>
        </p:spPr>
      </p:sp>
      <p:sp>
        <p:nvSpPr>
          <p:cNvPr id="304" name="Shape 302"/>
          <p:cNvSpPr/>
          <p:nvPr/>
        </p:nvSpPr>
        <p:spPr>
          <a:xfrm>
            <a:off x="10025482" y="3840480"/>
            <a:ext cx="1406559" cy="82296"/>
          </a:xfrm>
          <a:prstGeom prst="roundRect">
            <a:avLst>
              <a:gd name="adj" fmla="val 22222"/>
            </a:avLst>
          </a:prstGeom>
          <a:solidFill>
            <a:srgbClr val="52B788"/>
          </a:solidFill>
          <a:ln/>
        </p:spPr>
      </p:sp>
      <p:sp>
        <p:nvSpPr>
          <p:cNvPr id="305" name="Text 303"/>
          <p:cNvSpPr txBox="1"/>
          <p:nvPr/>
        </p:nvSpPr>
        <p:spPr>
          <a:xfrm>
            <a:off x="10025482" y="3931920"/>
            <a:ext cx="170627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50,2% do setor</a:t>
            </a:r>
            <a:endParaRPr lang="en-US" sz="800" dirty="0"/>
          </a:p>
        </p:txBody>
      </p:sp>
      <p:sp>
        <p:nvSpPr>
          <p:cNvPr id="306" name="Shape 304"/>
          <p:cNvSpPr/>
          <p:nvPr/>
        </p:nvSpPr>
        <p:spPr>
          <a:xfrm>
            <a:off x="9641434" y="4114800"/>
            <a:ext cx="2181758" cy="512064"/>
          </a:xfrm>
          <a:prstGeom prst="roundRect">
            <a:avLst>
              <a:gd name="adj" fmla="val 8929"/>
            </a:avLst>
          </a:prstGeom>
          <a:solidFill>
            <a:srgbClr val="F5F6F8"/>
          </a:solidFill>
          <a:ln/>
        </p:spPr>
      </p:sp>
      <p:sp>
        <p:nvSpPr>
          <p:cNvPr id="307" name="Shape 305"/>
          <p:cNvSpPr/>
          <p:nvPr/>
        </p:nvSpPr>
        <p:spPr>
          <a:xfrm>
            <a:off x="9714586" y="4187952"/>
            <a:ext cx="256032" cy="256032"/>
          </a:xfrm>
          <a:prstGeom prst="ellipse">
            <a:avLst/>
          </a:prstGeom>
          <a:solidFill>
            <a:srgbClr val="52B788"/>
          </a:solidFill>
          <a:ln/>
        </p:spPr>
      </p:sp>
      <p:sp>
        <p:nvSpPr>
          <p:cNvPr id="308" name="Text 306"/>
          <p:cNvSpPr txBox="1"/>
          <p:nvPr/>
        </p:nvSpPr>
        <p:spPr>
          <a:xfrm>
            <a:off x="9714586" y="418795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309" name="Text 307"/>
          <p:cNvSpPr txBox="1"/>
          <p:nvPr/>
        </p:nvSpPr>
        <p:spPr>
          <a:xfrm>
            <a:off x="10025482" y="4142232"/>
            <a:ext cx="12947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Setor 5149</a:t>
            </a:r>
            <a:endParaRPr lang="en-US" sz="1500" dirty="0"/>
          </a:p>
        </p:txBody>
      </p:sp>
      <p:sp>
        <p:nvSpPr>
          <p:cNvPr id="310" name="Text 308"/>
          <p:cNvSpPr txBox="1"/>
          <p:nvPr/>
        </p:nvSpPr>
        <p:spPr>
          <a:xfrm>
            <a:off x="11320272" y="4114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52B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146</a:t>
            </a:r>
            <a:endParaRPr lang="en-US" sz="1700" dirty="0"/>
          </a:p>
        </p:txBody>
      </p:sp>
      <p:sp>
        <p:nvSpPr>
          <p:cNvPr id="311" name="Shape 309"/>
          <p:cNvSpPr/>
          <p:nvPr/>
        </p:nvSpPr>
        <p:spPr>
          <a:xfrm>
            <a:off x="10025482" y="4407408"/>
            <a:ext cx="1633118" cy="82296"/>
          </a:xfrm>
          <a:prstGeom prst="roundRect">
            <a:avLst>
              <a:gd name="adj" fmla="val 22222"/>
            </a:avLst>
          </a:prstGeom>
          <a:solidFill>
            <a:srgbClr val="E1E4E8"/>
          </a:solidFill>
          <a:ln/>
        </p:spPr>
      </p:sp>
      <p:sp>
        <p:nvSpPr>
          <p:cNvPr id="312" name="Shape 310"/>
          <p:cNvSpPr/>
          <p:nvPr/>
        </p:nvSpPr>
        <p:spPr>
          <a:xfrm>
            <a:off x="10025482" y="4407408"/>
            <a:ext cx="1378239" cy="82296"/>
          </a:xfrm>
          <a:prstGeom prst="roundRect">
            <a:avLst>
              <a:gd name="adj" fmla="val 22222"/>
            </a:avLst>
          </a:prstGeom>
          <a:solidFill>
            <a:srgbClr val="52B788"/>
          </a:solidFill>
          <a:ln/>
        </p:spPr>
      </p:sp>
      <p:sp>
        <p:nvSpPr>
          <p:cNvPr id="313" name="Text 311"/>
          <p:cNvSpPr txBox="1"/>
          <p:nvPr/>
        </p:nvSpPr>
        <p:spPr>
          <a:xfrm>
            <a:off x="10025482" y="4498848"/>
            <a:ext cx="170627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47,1% do setor</a:t>
            </a:r>
            <a:endParaRPr lang="en-US" sz="800" dirty="0"/>
          </a:p>
        </p:txBody>
      </p:sp>
      <p:sp>
        <p:nvSpPr>
          <p:cNvPr id="314" name="Shape 312"/>
          <p:cNvSpPr/>
          <p:nvPr/>
        </p:nvSpPr>
        <p:spPr>
          <a:xfrm>
            <a:off x="9641434" y="4681728"/>
            <a:ext cx="2181758" cy="512064"/>
          </a:xfrm>
          <a:prstGeom prst="roundRect">
            <a:avLst>
              <a:gd name="adj" fmla="val 8929"/>
            </a:avLst>
          </a:prstGeom>
          <a:solidFill>
            <a:srgbClr val="F5F6F8"/>
          </a:solidFill>
          <a:ln/>
        </p:spPr>
      </p:sp>
      <p:sp>
        <p:nvSpPr>
          <p:cNvPr id="315" name="Shape 313"/>
          <p:cNvSpPr/>
          <p:nvPr/>
        </p:nvSpPr>
        <p:spPr>
          <a:xfrm>
            <a:off x="9714586" y="4754880"/>
            <a:ext cx="256032" cy="256032"/>
          </a:xfrm>
          <a:prstGeom prst="ellipse">
            <a:avLst/>
          </a:prstGeom>
          <a:solidFill>
            <a:srgbClr val="52B788"/>
          </a:solidFill>
          <a:ln/>
        </p:spPr>
      </p:sp>
      <p:sp>
        <p:nvSpPr>
          <p:cNvPr id="316" name="Text 314"/>
          <p:cNvSpPr txBox="1"/>
          <p:nvPr/>
        </p:nvSpPr>
        <p:spPr>
          <a:xfrm>
            <a:off x="9714586" y="475488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  <p:sp>
        <p:nvSpPr>
          <p:cNvPr id="317" name="Text 315"/>
          <p:cNvSpPr txBox="1"/>
          <p:nvPr/>
        </p:nvSpPr>
        <p:spPr>
          <a:xfrm>
            <a:off x="10025482" y="4709160"/>
            <a:ext cx="12947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Setor 7741</a:t>
            </a:r>
            <a:endParaRPr lang="en-US" sz="1500" dirty="0"/>
          </a:p>
        </p:txBody>
      </p:sp>
      <p:sp>
        <p:nvSpPr>
          <p:cNvPr id="318" name="Text 316"/>
          <p:cNvSpPr txBox="1"/>
          <p:nvPr/>
        </p:nvSpPr>
        <p:spPr>
          <a:xfrm>
            <a:off x="11320272" y="46817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52B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122</a:t>
            </a:r>
            <a:endParaRPr lang="en-US" sz="1700" dirty="0"/>
          </a:p>
        </p:txBody>
      </p:sp>
      <p:sp>
        <p:nvSpPr>
          <p:cNvPr id="319" name="Shape 317"/>
          <p:cNvSpPr/>
          <p:nvPr/>
        </p:nvSpPr>
        <p:spPr>
          <a:xfrm>
            <a:off x="10025482" y="4974336"/>
            <a:ext cx="1633118" cy="82296"/>
          </a:xfrm>
          <a:prstGeom prst="roundRect">
            <a:avLst>
              <a:gd name="adj" fmla="val 22222"/>
            </a:avLst>
          </a:prstGeom>
          <a:solidFill>
            <a:srgbClr val="E1E4E8"/>
          </a:solidFill>
          <a:ln/>
        </p:spPr>
      </p:sp>
      <p:sp>
        <p:nvSpPr>
          <p:cNvPr id="320" name="Shape 318"/>
          <p:cNvSpPr/>
          <p:nvPr/>
        </p:nvSpPr>
        <p:spPr>
          <a:xfrm>
            <a:off x="10025482" y="4974336"/>
            <a:ext cx="1151679" cy="82296"/>
          </a:xfrm>
          <a:prstGeom prst="roundRect">
            <a:avLst>
              <a:gd name="adj" fmla="val 22222"/>
            </a:avLst>
          </a:prstGeom>
          <a:solidFill>
            <a:srgbClr val="52B788"/>
          </a:solidFill>
          <a:ln/>
        </p:spPr>
      </p:sp>
      <p:sp>
        <p:nvSpPr>
          <p:cNvPr id="321" name="Text 319"/>
          <p:cNvSpPr txBox="1"/>
          <p:nvPr/>
        </p:nvSpPr>
        <p:spPr>
          <a:xfrm>
            <a:off x="10025482" y="5065776"/>
            <a:ext cx="170627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43,0% do setor</a:t>
            </a:r>
            <a:endParaRPr lang="en-US" sz="800" dirty="0"/>
          </a:p>
        </p:txBody>
      </p:sp>
      <p:sp>
        <p:nvSpPr>
          <p:cNvPr id="322" name="Shape 320"/>
          <p:cNvSpPr/>
          <p:nvPr/>
        </p:nvSpPr>
        <p:spPr>
          <a:xfrm>
            <a:off x="9641434" y="5248656"/>
            <a:ext cx="2181758" cy="512064"/>
          </a:xfrm>
          <a:prstGeom prst="roundRect">
            <a:avLst>
              <a:gd name="adj" fmla="val 8929"/>
            </a:avLst>
          </a:prstGeom>
          <a:solidFill>
            <a:srgbClr val="F5F6F8"/>
          </a:solidFill>
          <a:ln/>
        </p:spPr>
      </p:sp>
      <p:sp>
        <p:nvSpPr>
          <p:cNvPr id="323" name="Shape 321"/>
          <p:cNvSpPr/>
          <p:nvPr/>
        </p:nvSpPr>
        <p:spPr>
          <a:xfrm>
            <a:off x="9714586" y="5321808"/>
            <a:ext cx="256032" cy="256032"/>
          </a:xfrm>
          <a:prstGeom prst="ellipse">
            <a:avLst/>
          </a:prstGeom>
          <a:solidFill>
            <a:srgbClr val="52B788"/>
          </a:solidFill>
          <a:ln/>
        </p:spPr>
      </p:sp>
      <p:sp>
        <p:nvSpPr>
          <p:cNvPr id="324" name="Text 322"/>
          <p:cNvSpPr txBox="1"/>
          <p:nvPr/>
        </p:nvSpPr>
        <p:spPr>
          <a:xfrm>
            <a:off x="9714586" y="532180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300" dirty="0"/>
          </a:p>
        </p:txBody>
      </p:sp>
      <p:sp>
        <p:nvSpPr>
          <p:cNvPr id="325" name="Text 323"/>
          <p:cNvSpPr txBox="1"/>
          <p:nvPr/>
        </p:nvSpPr>
        <p:spPr>
          <a:xfrm>
            <a:off x="10025482" y="5276088"/>
            <a:ext cx="12947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Setor 5153</a:t>
            </a:r>
            <a:endParaRPr lang="en-US" sz="1500" dirty="0"/>
          </a:p>
        </p:txBody>
      </p:sp>
      <p:sp>
        <p:nvSpPr>
          <p:cNvPr id="326" name="Text 324"/>
          <p:cNvSpPr txBox="1"/>
          <p:nvPr/>
        </p:nvSpPr>
        <p:spPr>
          <a:xfrm>
            <a:off x="11320272" y="524865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52B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</a:t>
            </a:r>
            <a:endParaRPr lang="en-US" sz="1700" dirty="0"/>
          </a:p>
        </p:txBody>
      </p:sp>
      <p:sp>
        <p:nvSpPr>
          <p:cNvPr id="327" name="Shape 325"/>
          <p:cNvSpPr/>
          <p:nvPr/>
        </p:nvSpPr>
        <p:spPr>
          <a:xfrm>
            <a:off x="10025482" y="5541264"/>
            <a:ext cx="1633118" cy="82296"/>
          </a:xfrm>
          <a:prstGeom prst="roundRect">
            <a:avLst>
              <a:gd name="adj" fmla="val 22222"/>
            </a:avLst>
          </a:prstGeom>
          <a:solidFill>
            <a:srgbClr val="E1E4E8"/>
          </a:solidFill>
          <a:ln/>
        </p:spPr>
      </p:sp>
      <p:sp>
        <p:nvSpPr>
          <p:cNvPr id="328" name="Shape 326"/>
          <p:cNvSpPr/>
          <p:nvPr/>
        </p:nvSpPr>
        <p:spPr>
          <a:xfrm>
            <a:off x="10025482" y="5541264"/>
            <a:ext cx="707999" cy="82296"/>
          </a:xfrm>
          <a:prstGeom prst="roundRect">
            <a:avLst>
              <a:gd name="adj" fmla="val 22222"/>
            </a:avLst>
          </a:prstGeom>
          <a:solidFill>
            <a:srgbClr val="52B788"/>
          </a:solidFill>
          <a:ln/>
        </p:spPr>
      </p:sp>
      <p:sp>
        <p:nvSpPr>
          <p:cNvPr id="329" name="Text 327"/>
          <p:cNvSpPr txBox="1"/>
          <p:nvPr/>
        </p:nvSpPr>
        <p:spPr>
          <a:xfrm>
            <a:off x="10025482" y="5632704"/>
            <a:ext cx="170627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26,1% do setor</a:t>
            </a:r>
            <a:endParaRPr lang="en-US" sz="800" dirty="0"/>
          </a:p>
        </p:txBody>
      </p:sp>
      <p:sp>
        <p:nvSpPr>
          <p:cNvPr id="330" name="Shape 328"/>
          <p:cNvSpPr/>
          <p:nvPr/>
        </p:nvSpPr>
        <p:spPr>
          <a:xfrm>
            <a:off x="9641434" y="5815584"/>
            <a:ext cx="2181758" cy="512064"/>
          </a:xfrm>
          <a:prstGeom prst="roundRect">
            <a:avLst>
              <a:gd name="adj" fmla="val 8929"/>
            </a:avLst>
          </a:prstGeom>
          <a:solidFill>
            <a:srgbClr val="F5F6F8"/>
          </a:solidFill>
          <a:ln/>
        </p:spPr>
      </p:sp>
      <p:sp>
        <p:nvSpPr>
          <p:cNvPr id="331" name="Shape 329"/>
          <p:cNvSpPr/>
          <p:nvPr/>
        </p:nvSpPr>
        <p:spPr>
          <a:xfrm>
            <a:off x="9714586" y="5888736"/>
            <a:ext cx="256032" cy="256032"/>
          </a:xfrm>
          <a:prstGeom prst="ellipse">
            <a:avLst/>
          </a:prstGeom>
          <a:solidFill>
            <a:srgbClr val="52B788"/>
          </a:solidFill>
          <a:ln/>
        </p:spPr>
      </p:sp>
      <p:sp>
        <p:nvSpPr>
          <p:cNvPr id="332" name="Text 330"/>
          <p:cNvSpPr txBox="1"/>
          <p:nvPr/>
        </p:nvSpPr>
        <p:spPr>
          <a:xfrm>
            <a:off x="9714586" y="588873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300" dirty="0"/>
          </a:p>
        </p:txBody>
      </p:sp>
      <p:sp>
        <p:nvSpPr>
          <p:cNvPr id="333" name="Text 331"/>
          <p:cNvSpPr txBox="1"/>
          <p:nvPr/>
        </p:nvSpPr>
        <p:spPr>
          <a:xfrm>
            <a:off x="10025482" y="5843016"/>
            <a:ext cx="12947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Setor 7745</a:t>
            </a:r>
            <a:endParaRPr lang="en-US" sz="1500" dirty="0"/>
          </a:p>
        </p:txBody>
      </p:sp>
      <p:sp>
        <p:nvSpPr>
          <p:cNvPr id="334" name="Text 332"/>
          <p:cNvSpPr txBox="1"/>
          <p:nvPr/>
        </p:nvSpPr>
        <p:spPr>
          <a:xfrm>
            <a:off x="11320272" y="581558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52B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73</a:t>
            </a:r>
            <a:endParaRPr lang="en-US" sz="1700" dirty="0"/>
          </a:p>
        </p:txBody>
      </p:sp>
      <p:sp>
        <p:nvSpPr>
          <p:cNvPr id="335" name="Shape 333"/>
          <p:cNvSpPr/>
          <p:nvPr/>
        </p:nvSpPr>
        <p:spPr>
          <a:xfrm>
            <a:off x="10025482" y="6108192"/>
            <a:ext cx="1633118" cy="82296"/>
          </a:xfrm>
          <a:prstGeom prst="roundRect">
            <a:avLst>
              <a:gd name="adj" fmla="val 22222"/>
            </a:avLst>
          </a:prstGeom>
          <a:solidFill>
            <a:srgbClr val="E1E4E8"/>
          </a:solidFill>
          <a:ln/>
        </p:spPr>
      </p:sp>
      <p:sp>
        <p:nvSpPr>
          <p:cNvPr id="336" name="Shape 334"/>
          <p:cNvSpPr/>
          <p:nvPr/>
        </p:nvSpPr>
        <p:spPr>
          <a:xfrm>
            <a:off x="10025482" y="6108192"/>
            <a:ext cx="689119" cy="82296"/>
          </a:xfrm>
          <a:prstGeom prst="roundRect">
            <a:avLst>
              <a:gd name="adj" fmla="val 22222"/>
            </a:avLst>
          </a:prstGeom>
          <a:solidFill>
            <a:srgbClr val="52B788"/>
          </a:solidFill>
          <a:ln/>
        </p:spPr>
      </p:sp>
      <p:sp>
        <p:nvSpPr>
          <p:cNvPr id="337" name="Text 335"/>
          <p:cNvSpPr txBox="1"/>
          <p:nvPr/>
        </p:nvSpPr>
        <p:spPr>
          <a:xfrm>
            <a:off x="10025482" y="6199632"/>
            <a:ext cx="170627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25,5% do setor</a:t>
            </a:r>
            <a:endParaRPr lang="en-US" sz="800" dirty="0"/>
          </a:p>
        </p:txBody>
      </p:sp>
      <p:sp>
        <p:nvSpPr>
          <p:cNvPr id="338" name="Text 336"/>
          <p:cNvSpPr txBox="1"/>
          <p:nvPr/>
        </p:nvSpPr>
        <p:spPr>
          <a:xfrm>
            <a:off x="365760" y="6656832"/>
            <a:ext cx="114574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9AA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"% do setor" = participação da CAT no total de médicos classificados (CAT 1 a 5) daquele setor.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228600"/>
            <a:ext cx="114574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PAINEL MÉDICO</a:t>
            </a:r>
            <a:pPr algn="l" indent="0" marL="0">
              <a:buNone/>
            </a:pPr>
            <a:r>
              <a:rPr lang="en-US" sz="3000" b="1" dirty="0">
                <a:solidFill>
                  <a:srgbClr val="6A4C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DISTRITAL 1880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365760" y="658368"/>
            <a:ext cx="11457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Compilado Geral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365760" y="1051560"/>
            <a:ext cx="3666744" cy="1188720"/>
          </a:xfrm>
          <a:prstGeom prst="roundRect">
            <a:avLst>
              <a:gd name="adj" fmla="val 6154"/>
            </a:avLst>
          </a:prstGeom>
          <a:solidFill>
            <a:srgbClr val="F5F6F8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365760" y="1188720"/>
            <a:ext cx="366674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2.343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783080"/>
            <a:ext cx="33924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médicos classificados no painel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261104" y="1051560"/>
            <a:ext cx="3666744" cy="1188720"/>
          </a:xfrm>
          <a:prstGeom prst="roundRect">
            <a:avLst>
              <a:gd name="adj" fmla="val 6154"/>
            </a:avLst>
          </a:prstGeom>
          <a:solidFill>
            <a:srgbClr val="F5F6F8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4261104" y="1188720"/>
            <a:ext cx="366674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79,5%</a:t>
            </a:r>
            <a:endParaRPr lang="en-US" sz="4000" dirty="0"/>
          </a:p>
        </p:txBody>
      </p:sp>
      <p:sp>
        <p:nvSpPr>
          <p:cNvPr id="9" name="Text 7"/>
          <p:cNvSpPr txBox="1"/>
          <p:nvPr/>
        </p:nvSpPr>
        <p:spPr>
          <a:xfrm>
            <a:off x="4398264" y="1783080"/>
            <a:ext cx="33924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painel já prescrevem EUF (MAT)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8156448" y="1051560"/>
            <a:ext cx="3666744" cy="1188720"/>
          </a:xfrm>
          <a:prstGeom prst="roundRect">
            <a:avLst>
              <a:gd name="adj" fmla="val 6154"/>
            </a:avLst>
          </a:prstGeom>
          <a:solidFill>
            <a:srgbClr val="F5F6F8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8156448" y="1188720"/>
            <a:ext cx="366674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29,0%</a:t>
            </a:r>
            <a:endParaRPr lang="en-US" sz="4000" dirty="0"/>
          </a:p>
        </p:txBody>
      </p:sp>
      <p:sp>
        <p:nvSpPr>
          <p:cNvPr id="12" name="Text 10"/>
          <p:cNvSpPr txBox="1"/>
          <p:nvPr/>
        </p:nvSpPr>
        <p:spPr>
          <a:xfrm>
            <a:off x="8293608" y="1783080"/>
            <a:ext cx="33924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painel são CAT 1, 2 ou 3 (680 médicos)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365760" y="2350008"/>
            <a:ext cx="11457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Distribuição por CAT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365760" y="2697480"/>
            <a:ext cx="2181758" cy="2286000"/>
          </a:xfrm>
          <a:prstGeom prst="roundRect">
            <a:avLst>
              <a:gd name="adj" fmla="val 3353"/>
            </a:avLst>
          </a:prstGeom>
          <a:solidFill>
            <a:srgbClr val="D62839"/>
          </a:solidFill>
          <a:ln/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475488" y="2843784"/>
            <a:ext cx="196230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 1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3319272"/>
            <a:ext cx="199887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105</a:t>
            </a:r>
            <a:endParaRPr lang="en-US" sz="3200" dirty="0"/>
          </a:p>
        </p:txBody>
      </p:sp>
      <p:sp>
        <p:nvSpPr>
          <p:cNvPr id="17" name="Text 15"/>
          <p:cNvSpPr txBox="1"/>
          <p:nvPr/>
        </p:nvSpPr>
        <p:spPr>
          <a:xfrm>
            <a:off x="457200" y="4572000"/>
            <a:ext cx="19988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4,5% do painel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2684678" y="2697480"/>
            <a:ext cx="2181758" cy="2286000"/>
          </a:xfrm>
          <a:prstGeom prst="roundRect">
            <a:avLst>
              <a:gd name="adj" fmla="val 3353"/>
            </a:avLst>
          </a:prstGeom>
          <a:solidFill>
            <a:srgbClr val="F3A712"/>
          </a:solidFill>
          <a:ln/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2794406" y="2843784"/>
            <a:ext cx="196230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 2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2776118" y="3319272"/>
            <a:ext cx="199887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224</a:t>
            </a:r>
            <a:endParaRPr lang="en-US" sz="3200" dirty="0"/>
          </a:p>
        </p:txBody>
      </p:sp>
      <p:sp>
        <p:nvSpPr>
          <p:cNvPr id="21" name="Text 19"/>
          <p:cNvSpPr txBox="1"/>
          <p:nvPr/>
        </p:nvSpPr>
        <p:spPr>
          <a:xfrm>
            <a:off x="2776118" y="4572000"/>
            <a:ext cx="19988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9,6% do painel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5003597" y="2697480"/>
            <a:ext cx="2181758" cy="2286000"/>
          </a:xfrm>
          <a:prstGeom prst="roundRect">
            <a:avLst>
              <a:gd name="adj" fmla="val 3353"/>
            </a:avLst>
          </a:prstGeom>
          <a:solidFill>
            <a:srgbClr val="2A9D8F"/>
          </a:solidFill>
          <a:ln/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23" name="Text 21"/>
          <p:cNvSpPr txBox="1"/>
          <p:nvPr/>
        </p:nvSpPr>
        <p:spPr>
          <a:xfrm>
            <a:off x="5113325" y="2843784"/>
            <a:ext cx="196230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 3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5095037" y="3319272"/>
            <a:ext cx="199887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351</a:t>
            </a:r>
            <a:endParaRPr lang="en-US" sz="3200" dirty="0"/>
          </a:p>
        </p:txBody>
      </p:sp>
      <p:sp>
        <p:nvSpPr>
          <p:cNvPr id="25" name="Text 23"/>
          <p:cNvSpPr txBox="1"/>
          <p:nvPr/>
        </p:nvSpPr>
        <p:spPr>
          <a:xfrm>
            <a:off x="5095037" y="4572000"/>
            <a:ext cx="19988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15,0% do painel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7322515" y="2697480"/>
            <a:ext cx="2181758" cy="2286000"/>
          </a:xfrm>
          <a:prstGeom prst="roundRect">
            <a:avLst>
              <a:gd name="adj" fmla="val 3353"/>
            </a:avLst>
          </a:prstGeom>
          <a:solidFill>
            <a:srgbClr val="6A4C93"/>
          </a:solidFill>
          <a:ln/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27" name="Text 25"/>
          <p:cNvSpPr txBox="1"/>
          <p:nvPr/>
        </p:nvSpPr>
        <p:spPr>
          <a:xfrm>
            <a:off x="7432243" y="2843784"/>
            <a:ext cx="196230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 4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7413955" y="3319272"/>
            <a:ext cx="199887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617</a:t>
            </a:r>
            <a:endParaRPr lang="en-US" sz="3200" dirty="0"/>
          </a:p>
        </p:txBody>
      </p:sp>
      <p:sp>
        <p:nvSpPr>
          <p:cNvPr id="29" name="Text 27"/>
          <p:cNvSpPr txBox="1"/>
          <p:nvPr/>
        </p:nvSpPr>
        <p:spPr>
          <a:xfrm>
            <a:off x="7413955" y="4572000"/>
            <a:ext cx="19988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26,3% do painel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9641434" y="2697480"/>
            <a:ext cx="2181758" cy="2286000"/>
          </a:xfrm>
          <a:prstGeom prst="roundRect">
            <a:avLst>
              <a:gd name="adj" fmla="val 3353"/>
            </a:avLst>
          </a:prstGeom>
          <a:solidFill>
            <a:srgbClr val="52B788"/>
          </a:solidFill>
          <a:ln/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31" name="Text 29"/>
          <p:cNvSpPr txBox="1"/>
          <p:nvPr/>
        </p:nvSpPr>
        <p:spPr>
          <a:xfrm>
            <a:off x="9751162" y="2843784"/>
            <a:ext cx="196230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 5</a:t>
            </a:r>
            <a:endParaRPr lang="en-US" sz="1500" dirty="0"/>
          </a:p>
        </p:txBody>
      </p:sp>
      <p:sp>
        <p:nvSpPr>
          <p:cNvPr id="32" name="Text 30"/>
          <p:cNvSpPr txBox="1"/>
          <p:nvPr/>
        </p:nvSpPr>
        <p:spPr>
          <a:xfrm>
            <a:off x="9732874" y="3319272"/>
            <a:ext cx="199887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1.046</a:t>
            </a:r>
            <a:endParaRPr lang="en-US" sz="3200" dirty="0"/>
          </a:p>
        </p:txBody>
      </p:sp>
      <p:sp>
        <p:nvSpPr>
          <p:cNvPr id="33" name="Text 31"/>
          <p:cNvSpPr txBox="1"/>
          <p:nvPr/>
        </p:nvSpPr>
        <p:spPr>
          <a:xfrm>
            <a:off x="9732874" y="4572000"/>
            <a:ext cx="19988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44,6% do painel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365760" y="5257800"/>
            <a:ext cx="11457432" cy="1234440"/>
          </a:xfrm>
          <a:prstGeom prst="roundRect">
            <a:avLst>
              <a:gd name="adj" fmla="val 5926"/>
            </a:avLst>
          </a:prstGeom>
          <a:solidFill>
            <a:srgbClr val="1D3557"/>
          </a:solidFill>
          <a:ln/>
          <a:effectLst>
            <a:outerShdw sx="100000" sy="100000" kx="0" ky="0" algn="bl" rotWithShape="0" blurRad="101600" dist="38100" dir="5400000">
              <a:srgbClr val="000000">
                <a:alpha val="20000"/>
              </a:srgbClr>
            </a:outerShdw>
          </a:effectLst>
        </p:spPr>
      </p:sp>
      <p:sp>
        <p:nvSpPr>
          <p:cNvPr id="35" name="Text 33"/>
          <p:cNvSpPr txBox="1"/>
          <p:nvPr/>
        </p:nvSpPr>
        <p:spPr>
          <a:xfrm>
            <a:off x="640080" y="5394960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REPRESENTATIVIDADE DOS PRESCRITORES · CAT 1 + 2 + 3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640080" y="5623560"/>
            <a:ext cx="3407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680</a:t>
            </a:r>
            <a:endParaRPr lang="en-US" sz="3200" dirty="0"/>
          </a:p>
        </p:txBody>
      </p:sp>
      <p:sp>
        <p:nvSpPr>
          <p:cNvPr id="37" name="Text 35"/>
          <p:cNvSpPr txBox="1"/>
          <p:nvPr/>
        </p:nvSpPr>
        <p:spPr>
          <a:xfrm>
            <a:off x="640080" y="6099048"/>
            <a:ext cx="34076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médicos nas CAT 1, 2 e 3</a:t>
            </a:r>
            <a:endParaRPr lang="en-US" sz="1050" dirty="0"/>
          </a:p>
        </p:txBody>
      </p:sp>
      <p:sp>
        <p:nvSpPr>
          <p:cNvPr id="38" name="Text 36"/>
          <p:cNvSpPr txBox="1"/>
          <p:nvPr/>
        </p:nvSpPr>
        <p:spPr>
          <a:xfrm>
            <a:off x="4276344" y="5623560"/>
            <a:ext cx="3407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99,7%</a:t>
            </a:r>
            <a:endParaRPr lang="en-US" sz="3200" dirty="0"/>
          </a:p>
        </p:txBody>
      </p:sp>
      <p:sp>
        <p:nvSpPr>
          <p:cNvPr id="39" name="Text 37"/>
          <p:cNvSpPr txBox="1"/>
          <p:nvPr/>
        </p:nvSpPr>
        <p:spPr>
          <a:xfrm>
            <a:off x="4276344" y="6099048"/>
            <a:ext cx="34076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prescrevem EUF dentro do grupo (678 médicos)</a:t>
            </a:r>
            <a:endParaRPr lang="en-US" sz="1050" dirty="0"/>
          </a:p>
        </p:txBody>
      </p:sp>
      <p:sp>
        <p:nvSpPr>
          <p:cNvPr id="40" name="Text 38"/>
          <p:cNvSpPr txBox="1"/>
          <p:nvPr/>
        </p:nvSpPr>
        <p:spPr>
          <a:xfrm>
            <a:off x="7912608" y="5623560"/>
            <a:ext cx="3407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36,4%</a:t>
            </a:r>
            <a:endParaRPr lang="en-US" sz="3200" dirty="0"/>
          </a:p>
        </p:txBody>
      </p:sp>
      <p:sp>
        <p:nvSpPr>
          <p:cNvPr id="41" name="Text 39"/>
          <p:cNvSpPr txBox="1"/>
          <p:nvPr/>
        </p:nvSpPr>
        <p:spPr>
          <a:xfrm>
            <a:off x="7912608" y="6099048"/>
            <a:ext cx="34076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todos os prescritores da distrital estão nesse grupo</a:t>
            </a:r>
            <a:endParaRPr lang="en-US" sz="1050" dirty="0"/>
          </a:p>
        </p:txBody>
      </p:sp>
      <p:sp>
        <p:nvSpPr>
          <p:cNvPr id="42" name="Text 40"/>
          <p:cNvSpPr txBox="1"/>
          <p:nvPr/>
        </p:nvSpPr>
        <p:spPr>
          <a:xfrm>
            <a:off x="365760" y="6583680"/>
            <a:ext cx="114574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9AA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Base: 2.551 profissionais cadastrados na planilha, sendo 208 sem CAT classificada (não incluídos neste compilado).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228600"/>
            <a:ext cx="114574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DIAGNÓSTICO DE MERCADO</a:t>
            </a:r>
            <a:pPr algn="l" indent="0" marL="0">
              <a:buNone/>
            </a:pPr>
            <a:r>
              <a:rPr lang="en-US" sz="2800" b="1" dirty="0">
                <a:solidFill>
                  <a:srgbClr val="6A4C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DISTRITAL 1880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365760" y="658368"/>
            <a:ext cx="11457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5 mercados prioritários (maior representatividade x maior gap vs. líder)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365760" y="1051560"/>
            <a:ext cx="3666744" cy="960120"/>
          </a:xfrm>
          <a:prstGeom prst="roundRect">
            <a:avLst>
              <a:gd name="adj" fmla="val 7619"/>
            </a:avLst>
          </a:prstGeom>
          <a:solidFill>
            <a:srgbClr val="F5F6F8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365760" y="1143000"/>
            <a:ext cx="36667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R$ 47,8M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600200"/>
            <a:ext cx="33924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faturamento total da distrital (YTD)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261104" y="1051560"/>
            <a:ext cx="3666744" cy="960120"/>
          </a:xfrm>
          <a:prstGeom prst="roundRect">
            <a:avLst>
              <a:gd name="adj" fmla="val 7619"/>
            </a:avLst>
          </a:prstGeom>
          <a:solidFill>
            <a:srgbClr val="F5F6F8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4261104" y="1143000"/>
            <a:ext cx="36667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33,0%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4398264" y="1600200"/>
            <a:ext cx="33924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faturamento concentrado nesses 5 mercados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8156448" y="1051560"/>
            <a:ext cx="3666744" cy="960120"/>
          </a:xfrm>
          <a:prstGeom prst="roundRect">
            <a:avLst>
              <a:gd name="adj" fmla="val 7619"/>
            </a:avLst>
          </a:prstGeom>
          <a:solidFill>
            <a:srgbClr val="F5F6F8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8156448" y="1143000"/>
            <a:ext cx="36667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R$ 10,4M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8293608" y="1600200"/>
            <a:ext cx="33924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gap identificado frente aos líderes desses mercados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2331720"/>
          <a:ext cx="11457432" cy="914400"/>
        </p:xfrm>
        <a:graphic>
          <a:graphicData uri="http://schemas.openxmlformats.org/drawingml/2006/table">
            <a:tbl>
              <a:tblPr/>
              <a:tblGrid>
                <a:gridCol w="1691640"/>
                <a:gridCol w="1234440"/>
                <a:gridCol w="1051560"/>
                <a:gridCol w="960120"/>
                <a:gridCol w="914400"/>
                <a:gridCol w="731520"/>
                <a:gridCol w="2331720"/>
                <a:gridCol w="1444752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Mercado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35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Tamanho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(YTD)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35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 do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fatur.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35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Evolução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YoY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35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EUF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35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Rank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EUF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35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Líder de mercado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35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Gap vs.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líder (R$)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355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D35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SINOT CLAV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R$ 4.368.417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9,1%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-11,3%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6A4C9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14,4%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Clavulin Bd  (67,4%)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D6283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R$ 2.317.187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D35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MELOCOX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R$ 3.501.884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7,3%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E84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+7,4%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6A4C9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6,5%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Flancox  (74,4%)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D6283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R$ 2.380.356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D35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EBASTEL XAROPE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R$ 3.477.589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7,3%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-0,4%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6A4C9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7,8%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Allegra  (61,9%)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D6283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R$ 1.883.228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D35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STIMA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R$ 3.096.329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6,5%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E84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+29,3%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6A4C9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6,9%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Ansitec  (93,1%)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D6283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R$ 2.666.056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D35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AZOX CPR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R$ 1.345.516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-4,3%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6A4C9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6,3%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Annita  (88,8%)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D6283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R$ 1.109.604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" name="Shape 11"/>
          <p:cNvSpPr/>
          <p:nvPr/>
        </p:nvSpPr>
        <p:spPr>
          <a:xfrm>
            <a:off x="365760" y="5486400"/>
            <a:ext cx="11457432" cy="868680"/>
          </a:xfrm>
          <a:prstGeom prst="roundRect">
            <a:avLst>
              <a:gd name="adj" fmla="val 8421"/>
            </a:avLst>
          </a:prstGeom>
          <a:solidFill>
            <a:srgbClr val="F0F7F2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548640" y="5596128"/>
            <a:ext cx="11091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E84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Mercados onde a Eurofarma já é líder: </a:t>
            </a:r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PONDERA XR (89,9%, +6,6%), PONDERA (55,8%, -13,4%), AMATO (72,1%, -11,7%), TAMIRAM (64,8%, -23,8%). Vários estão em queda de mercado — priorizar defesa de share além da conquista nos 5 mercados acima.</a:t>
            </a:r>
            <a:endParaRPr lang="en-US" sz="1150" dirty="0"/>
          </a:p>
        </p:txBody>
      </p:sp>
      <p:sp>
        <p:nvSpPr>
          <p:cNvPr id="16" name="Text 13"/>
          <p:cNvSpPr txBox="1"/>
          <p:nvPr/>
        </p:nvSpPr>
        <p:spPr>
          <a:xfrm>
            <a:off x="365760" y="6656832"/>
            <a:ext cx="114574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9AA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 vs. líder = tamanho do mercado (YTD) × diferença de share entre o líder e a Eurofarma. Fonte: DETALHE_92 (mercado montado, ordenado do maior para o menor).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228600"/>
            <a:ext cx="114574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AÇÃO</a:t>
            </a:r>
            <a:pPr algn="l" indent="0" marL="0">
              <a:buNone/>
            </a:pPr>
            <a:r>
              <a:rPr lang="en-US" sz="2800" b="1" dirty="0">
                <a:solidFill>
                  <a:srgbClr val="6A4C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SETORES PRIORITÁRIOS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365760" y="658368"/>
            <a:ext cx="11457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DISTRITAL 1880  ·  3º quadrimestre (setembro a dezembro/2026)  ·  mapa resumo por setor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365760" y="1097280"/>
            <a:ext cx="3666744" cy="5440680"/>
          </a:xfrm>
          <a:prstGeom prst="roundRect">
            <a:avLst>
              <a:gd name="adj" fmla="val 2494"/>
            </a:avLst>
          </a:prstGeom>
          <a:solidFill>
            <a:srgbClr val="F8F9FA"/>
          </a:solidFill>
          <a:ln w="19050">
            <a:solidFill>
              <a:srgbClr val="D62839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65760" y="1097280"/>
            <a:ext cx="3666744" cy="777240"/>
          </a:xfrm>
          <a:prstGeom prst="roundRect">
            <a:avLst>
              <a:gd name="adj" fmla="val 11765"/>
            </a:avLst>
          </a:prstGeom>
          <a:solidFill>
            <a:srgbClr val="D62839"/>
          </a:solidFill>
          <a:ln/>
        </p:spPr>
      </p:sp>
      <p:sp>
        <p:nvSpPr>
          <p:cNvPr id="6" name="Shape 4"/>
          <p:cNvSpPr/>
          <p:nvPr/>
        </p:nvSpPr>
        <p:spPr>
          <a:xfrm>
            <a:off x="365760" y="1481328"/>
            <a:ext cx="3666744" cy="393192"/>
          </a:xfrm>
          <a:prstGeom prst="rect">
            <a:avLst/>
          </a:prstGeom>
          <a:solidFill>
            <a:srgbClr val="D62839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30352" y="1188720"/>
            <a:ext cx="3337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Setor 5613 — MILLER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530352" y="1572768"/>
            <a:ext cx="3337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Gap: R$ 2.373.337   ·   61 médicos CAT 1-3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530352" y="2011680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D628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PONTOS DE ATENÇÃO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530352" y="2267712"/>
            <a:ext cx="333756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Maior gap de mercado da distrital nos 5 mercados-foco: R$ 2,37M não capturados</a:t>
            </a:r>
            <a:endParaRPr lang="en-US" sz="1150" dirty="0"/>
          </a:p>
          <a:p>
            <a:pPr algn="l" marL="342900" indent="-34290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EUF médio de apenas 5,4% nesses mercados</a:t>
            </a:r>
            <a:endParaRPr lang="en-US" sz="1150" dirty="0"/>
          </a:p>
          <a:p>
            <a:pPr algn="l" marL="342900" indent="-34290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Apenas 61 médicos CAT 1-3 mapeados — o setor com MENOS potencial identificado no painel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30352" y="4297680"/>
            <a:ext cx="3337560" cy="0"/>
          </a:xfrm>
          <a:prstGeom prst="line">
            <a:avLst/>
          </a:prstGeom>
          <a:noFill/>
          <a:ln w="12700">
            <a:solidFill>
              <a:srgbClr val="D9DCE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30352" y="4407408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D628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AÇÕES · 3º QUADRIMESTRE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530352" y="4663440"/>
            <a:ext cx="333756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Revisar a classificação de potencial médico do setor (indício de potencial não mapeado)</a:t>
            </a:r>
            <a:endParaRPr lang="en-US" sz="1150" dirty="0"/>
          </a:p>
          <a:p>
            <a:pPr algn="l" marL="342900" indent="-34290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Priorizar SINOT CLAV, EBASTEL XAROPE e MELOCOX no ciclo de visitas</a:t>
            </a:r>
            <a:endParaRPr lang="en-US" sz="1150" dirty="0"/>
          </a:p>
          <a:p>
            <a:pPr algn="l" marL="342900" indent="-34290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Reforçar amostras/material clínico junto à base já prescritora, para fidelização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261104" y="1097280"/>
            <a:ext cx="3666744" cy="5440680"/>
          </a:xfrm>
          <a:prstGeom prst="roundRect">
            <a:avLst>
              <a:gd name="adj" fmla="val 2494"/>
            </a:avLst>
          </a:prstGeom>
          <a:solidFill>
            <a:srgbClr val="F8F9FA"/>
          </a:solidFill>
          <a:ln w="19050">
            <a:solidFill>
              <a:srgbClr val="6A4C93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261104" y="1097280"/>
            <a:ext cx="3666744" cy="777240"/>
          </a:xfrm>
          <a:prstGeom prst="roundRect">
            <a:avLst>
              <a:gd name="adj" fmla="val 11765"/>
            </a:avLst>
          </a:prstGeom>
          <a:solidFill>
            <a:srgbClr val="6A4C93"/>
          </a:solidFill>
          <a:ln/>
        </p:spPr>
      </p:sp>
      <p:sp>
        <p:nvSpPr>
          <p:cNvPr id="16" name="Shape 14"/>
          <p:cNvSpPr/>
          <p:nvPr/>
        </p:nvSpPr>
        <p:spPr>
          <a:xfrm>
            <a:off x="4261104" y="1481328"/>
            <a:ext cx="3666744" cy="393192"/>
          </a:xfrm>
          <a:prstGeom prst="rect">
            <a:avLst/>
          </a:prstGeom>
          <a:solidFill>
            <a:srgbClr val="6A4C93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425696" y="1188720"/>
            <a:ext cx="3337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Setor 5153 — MARCELLE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4425696" y="1572768"/>
            <a:ext cx="3337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Gap: R$ 2.243.364   ·   127 médicos CAT 1-3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4425696" y="2011680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6A4C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PONTOS DE ATENÇÃO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4425696" y="2267712"/>
            <a:ext cx="333756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2º maior gap (R$ 2,24M) e 2º maior nº de médicos CAT 1-3 (127) — prioridade dupla</a:t>
            </a:r>
            <a:endParaRPr lang="en-US" sz="1150" dirty="0"/>
          </a:p>
          <a:p>
            <a:pPr algn="l" marL="342900" indent="-34290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Maior concentração de gap em SINOT CLAV e STIMA</a:t>
            </a:r>
            <a:endParaRPr lang="en-US" sz="1150" dirty="0"/>
          </a:p>
          <a:p>
            <a:pPr algn="l" marL="342900" indent="-34290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Já é o setor com maior representatividade de médicos de alto potencial no painel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4425696" y="4297680"/>
            <a:ext cx="3337560" cy="0"/>
          </a:xfrm>
          <a:prstGeom prst="line">
            <a:avLst/>
          </a:prstGeom>
          <a:noFill/>
          <a:ln w="12700">
            <a:solidFill>
              <a:srgbClr val="D9DCE1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425696" y="4407408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6A4C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AÇÕES · 3º QUADRIMESTRE</a:t>
            </a:r>
            <a:endParaRPr lang="en-US" sz="1150" dirty="0"/>
          </a:p>
        </p:txBody>
      </p:sp>
      <p:sp>
        <p:nvSpPr>
          <p:cNvPr id="23" name="Text 21"/>
          <p:cNvSpPr txBox="1"/>
          <p:nvPr/>
        </p:nvSpPr>
        <p:spPr>
          <a:xfrm>
            <a:off x="4425696" y="4663440"/>
            <a:ext cx="333756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Foco total em SINOT CLAV e STIMA nas visitas aos 127 médicos CAT 1-3</a:t>
            </a:r>
            <a:endParaRPr lang="en-US" sz="1150" dirty="0"/>
          </a:p>
          <a:p>
            <a:pPr algn="l" marL="342900" indent="-34290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Argumentário comparativo vs. líderes (Clavulin BD/Ansitec) para conversão de share</a:t>
            </a:r>
            <a:endParaRPr lang="en-US" sz="1150" dirty="0"/>
          </a:p>
          <a:p>
            <a:pPr algn="l" marL="342900" indent="-34290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Acompanhamento quinzenal da evolução de share nesses 2 mercados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8156448" y="1097280"/>
            <a:ext cx="3666744" cy="5440680"/>
          </a:xfrm>
          <a:prstGeom prst="roundRect">
            <a:avLst>
              <a:gd name="adj" fmla="val 2494"/>
            </a:avLst>
          </a:prstGeom>
          <a:solidFill>
            <a:srgbClr val="F8F9FA"/>
          </a:solidFill>
          <a:ln w="19050">
            <a:solidFill>
              <a:srgbClr val="2A9D8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8156448" y="1097280"/>
            <a:ext cx="3666744" cy="777240"/>
          </a:xfrm>
          <a:prstGeom prst="roundRect">
            <a:avLst>
              <a:gd name="adj" fmla="val 11765"/>
            </a:avLst>
          </a:prstGeom>
          <a:solidFill>
            <a:srgbClr val="2A9D8F"/>
          </a:solidFill>
          <a:ln/>
        </p:spPr>
      </p:sp>
      <p:sp>
        <p:nvSpPr>
          <p:cNvPr id="26" name="Shape 24"/>
          <p:cNvSpPr/>
          <p:nvPr/>
        </p:nvSpPr>
        <p:spPr>
          <a:xfrm>
            <a:off x="8156448" y="1481328"/>
            <a:ext cx="3666744" cy="393192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8321040" y="1188720"/>
            <a:ext cx="3337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Setor 7742 — EDUARDO</a:t>
            </a:r>
            <a:endParaRPr lang="en-US" sz="1600" dirty="0"/>
          </a:p>
        </p:txBody>
      </p:sp>
      <p:sp>
        <p:nvSpPr>
          <p:cNvPr id="28" name="Text 26"/>
          <p:cNvSpPr txBox="1"/>
          <p:nvPr/>
        </p:nvSpPr>
        <p:spPr>
          <a:xfrm>
            <a:off x="8321040" y="1572768"/>
            <a:ext cx="3337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Gap: R$ 2.145.162   ·   65 médicos CAT 1-3</a:t>
            </a:r>
            <a:endParaRPr lang="en-US" sz="1050" dirty="0"/>
          </a:p>
        </p:txBody>
      </p:sp>
      <p:sp>
        <p:nvSpPr>
          <p:cNvPr id="29" name="Text 27"/>
          <p:cNvSpPr txBox="1"/>
          <p:nvPr/>
        </p:nvSpPr>
        <p:spPr>
          <a:xfrm>
            <a:off x="8321040" y="2011680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PONTOS DE ATENÇÃO</a:t>
            </a:r>
            <a:endParaRPr lang="en-US" sz="1150" dirty="0"/>
          </a:p>
        </p:txBody>
      </p:sp>
      <p:sp>
        <p:nvSpPr>
          <p:cNvPr id="30" name="Text 28"/>
          <p:cNvSpPr txBox="1"/>
          <p:nvPr/>
        </p:nvSpPr>
        <p:spPr>
          <a:xfrm>
            <a:off x="8321040" y="2267712"/>
            <a:ext cx="333756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3º maior gap (R$ 2,15M), concentrado em MELOCOX e SINOT CLAV</a:t>
            </a:r>
            <a:endParaRPr lang="en-US" sz="1150" dirty="0"/>
          </a:p>
          <a:p>
            <a:pPr algn="l" marL="342900" indent="-34290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ainda baixo (5,4%) apesar do crescimento de MELOCOX (+41% no período)</a:t>
            </a:r>
            <a:endParaRPr lang="en-US" sz="1150" dirty="0"/>
          </a:p>
          <a:p>
            <a:pPr algn="l" marL="342900" indent="-34290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65 médicos CAT 1-3 mapeados no painel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8321040" y="4297680"/>
            <a:ext cx="3337560" cy="0"/>
          </a:xfrm>
          <a:prstGeom prst="line">
            <a:avLst/>
          </a:prstGeom>
          <a:noFill/>
          <a:ln w="12700">
            <a:solidFill>
              <a:srgbClr val="D9DCE1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8321040" y="4407408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AÇÕES · 3º QUADRIMESTRE</a:t>
            </a:r>
            <a:endParaRPr lang="en-US" sz="1150" dirty="0"/>
          </a:p>
        </p:txBody>
      </p:sp>
      <p:sp>
        <p:nvSpPr>
          <p:cNvPr id="33" name="Text 31"/>
          <p:cNvSpPr txBox="1"/>
          <p:nvPr/>
        </p:nvSpPr>
        <p:spPr>
          <a:xfrm>
            <a:off x="8321040" y="4663440"/>
            <a:ext cx="333756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Detalhamento dirigido de MELOCOX (maior momentum de crescimento) e SINOT CLAV</a:t>
            </a:r>
            <a:endParaRPr lang="en-US" sz="1150" dirty="0"/>
          </a:p>
          <a:p>
            <a:pPr algn="l" marL="342900" indent="-34290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Ciclo de visitas focado em médicos que já prescrevem outras linhas EUF (cross-sell)</a:t>
            </a:r>
            <a:endParaRPr lang="en-US" sz="1150" dirty="0"/>
          </a:p>
          <a:p>
            <a:pPr algn="l" marL="342900" indent="-34290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Monitorar concorrente líder CLAVULIN BD (67% de share em SINOT CLAV) para argumentação diferenciada</a:t>
            </a:r>
            <a:endParaRPr lang="en-US" sz="1150" dirty="0"/>
          </a:p>
        </p:txBody>
      </p:sp>
      <p:sp>
        <p:nvSpPr>
          <p:cNvPr id="34" name="Text 32"/>
          <p:cNvSpPr txBox="1"/>
          <p:nvPr/>
        </p:nvSpPr>
        <p:spPr>
          <a:xfrm>
            <a:off x="365760" y="6629400"/>
            <a:ext cx="114574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9AA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Priorização combina o gap de mercado (DETALHE_92) nos 5 mercados-foco com a densidade de médicos CAT 1-3 do painel (painel_distrital).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201168"/>
            <a:ext cx="114574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AÇÃO SMART</a:t>
            </a:r>
            <a:pPr algn="l" indent="0" marL="0">
              <a:buNone/>
            </a:pPr>
            <a:r>
              <a:rPr lang="en-US" sz="2600" b="1" dirty="0">
                <a:solidFill>
                  <a:srgbClr val="6A4C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SÍNTESE DISTRITAL 1880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365760" y="594360"/>
            <a:ext cx="114574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3º quadrimestre 2026 (setembro a dezembro)  ·  base: painel_distrital + DETALHE_92 (mercado montado)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365760" y="914400"/>
            <a:ext cx="5591556" cy="329184"/>
          </a:xfrm>
          <a:prstGeom prst="roundRect">
            <a:avLst>
              <a:gd name="adj" fmla="val 13889"/>
            </a:avLst>
          </a:prstGeom>
          <a:solidFill>
            <a:srgbClr val="1D355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02920" y="914400"/>
            <a:ext cx="53172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 </a:t>
            </a:r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CENÁRIO ATUAL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411480" y="1353312"/>
            <a:ext cx="550011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R$ 47,8M em faturamento (YTD), 41 mercados DDD monitorados</a:t>
            </a:r>
            <a:endParaRPr lang="en-US" sz="1200" dirty="0"/>
          </a:p>
          <a:p>
            <a:pPr algn="l" marL="342900" indent="-3429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2.343 médicos classificados; 680 (29,0%) nas CAT 1, 2 e 3</a:t>
            </a:r>
            <a:endParaRPr lang="en-US" sz="1200" dirty="0"/>
          </a:p>
          <a:p>
            <a:pPr algn="l" marL="342900" indent="-3429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Penetração EUF: 79,5% geral e 99,7% entre CAT 1, 2 e 3</a:t>
            </a:r>
            <a:endParaRPr lang="en-US" sz="1200" dirty="0"/>
          </a:p>
          <a:p>
            <a:pPr algn="l" marL="342900" indent="-3429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mercados-foco = 33,0% do faturamento e R$ 10,4M de gap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231636" y="914400"/>
            <a:ext cx="5591556" cy="329184"/>
          </a:xfrm>
          <a:prstGeom prst="roundRect">
            <a:avLst>
              <a:gd name="adj" fmla="val 13889"/>
            </a:avLst>
          </a:prstGeom>
          <a:solidFill>
            <a:srgbClr val="2A9D8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368796" y="914400"/>
            <a:ext cx="53172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 </a:t>
            </a:r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OPORTUNIDADE IDENTIFICADA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231636" y="1353312"/>
            <a:ext cx="5591556" cy="1069848"/>
          </a:xfrm>
          <a:prstGeom prst="roundRect">
            <a:avLst>
              <a:gd name="adj" fmla="val 5128"/>
            </a:avLst>
          </a:prstGeom>
          <a:solidFill>
            <a:srgbClr val="F5F6F8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396228" y="1463040"/>
            <a:ext cx="5262372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penetração de 99,7% entre CAT 1-3 mostra que a barreira não é confiança na marca — é participação por SKU. Nos 5 mercados-foco a Eurofarma tem share de 6,3% a 14,4%. Os setores 5613, 5153 e 7742 concentram R$ 6,76M desse gap.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365760" y="2532888"/>
            <a:ext cx="11457432" cy="329184"/>
          </a:xfrm>
          <a:prstGeom prst="roundRect">
            <a:avLst>
              <a:gd name="adj" fmla="val 13889"/>
            </a:avLst>
          </a:prstGeom>
          <a:solidFill>
            <a:srgbClr val="F3A71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02920" y="2532888"/>
            <a:ext cx="111831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 </a:t>
            </a:r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AÇÕES PROPOSTAS PARA O 3º QUADRIMESTRE</a:t>
            </a:r>
            <a:endParaRPr lang="en-US" sz="13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2898648"/>
          <a:ext cx="11457432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5394960"/>
                <a:gridCol w="3593592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Ação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355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Descrição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355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Indicador de sucesso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355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b="1" dirty="0">
                          <a:solidFill>
                            <a:srgbClr val="1D35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Foco SINOT CLAV / MELOCOX / STIMA</a:t>
                      </a:r>
                      <a:endParaRPr lang="en-US" sz="10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Priorizar as 3 marcas nas visitas aos setores 5613, 5153 e 7742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Ganho de share mensal por mercado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b="1" dirty="0">
                          <a:solidFill>
                            <a:srgbClr val="1D35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Cross-sell na base fiel</a:t>
                      </a:r>
                      <a:endParaRPr lang="en-US" sz="10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Detalhar novas linhas EUF para médicos que já prescrevem a marca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Nº de médicos com 2+ marcas EUF prescritas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b="1" dirty="0">
                          <a:solidFill>
                            <a:srgbClr val="1D35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Revisão de potencial — Setor 5613</a:t>
                      </a:r>
                      <a:endParaRPr lang="en-US" sz="10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Reclassificar médicos com maior gap e menor densidade CAT 1-3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Novos médicos CAT 1-3 identificados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b="1" dirty="0">
                          <a:solidFill>
                            <a:srgbClr val="1D35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Defesa dos mercados líderes</a:t>
                      </a:r>
                      <a:endParaRPr lang="en-US" sz="10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Monitorar PONDERA XR, AMATO e TAMIRAM — líderes em mercados que encolhem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Manutenção do share líder (&gt; 50%)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</a:tr>
            </a:tbl>
          </a:graphicData>
        </a:graphic>
      </p:graphicFrame>
      <p:sp>
        <p:nvSpPr>
          <p:cNvPr id="14" name="Shape 11"/>
          <p:cNvSpPr/>
          <p:nvPr/>
        </p:nvSpPr>
        <p:spPr>
          <a:xfrm>
            <a:off x="365760" y="4599432"/>
            <a:ext cx="11457432" cy="329184"/>
          </a:xfrm>
          <a:prstGeom prst="roundRect">
            <a:avLst>
              <a:gd name="adj" fmla="val 13889"/>
            </a:avLst>
          </a:prstGeom>
          <a:solidFill>
            <a:srgbClr val="D62839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502920" y="4599432"/>
            <a:ext cx="111831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 </a:t>
            </a:r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RESULTADOS ESPERADOS (META DO 3º QUADRIMESTRE)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365760" y="4965192"/>
            <a:ext cx="2727198" cy="594360"/>
          </a:xfrm>
          <a:prstGeom prst="roundRect">
            <a:avLst>
              <a:gd name="adj" fmla="val 9231"/>
            </a:avLst>
          </a:prstGeom>
          <a:solidFill>
            <a:srgbClr val="F5F6F8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365760" y="5001768"/>
            <a:ext cx="272719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R$ 0,7M</a:t>
            </a:r>
            <a:endParaRPr lang="en-US" sz="1800" dirty="0"/>
          </a:p>
        </p:txBody>
      </p:sp>
      <p:sp>
        <p:nvSpPr>
          <p:cNvPr id="18" name="Text 15"/>
          <p:cNvSpPr txBox="1"/>
          <p:nvPr/>
        </p:nvSpPr>
        <p:spPr>
          <a:xfrm>
            <a:off x="438912" y="5321808"/>
            <a:ext cx="258089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78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 de captura (10% do gap nos 3 setores foco)</a:t>
            </a:r>
            <a:endParaRPr lang="en-US" sz="780" dirty="0"/>
          </a:p>
        </p:txBody>
      </p:sp>
      <p:sp>
        <p:nvSpPr>
          <p:cNvPr id="19" name="Shape 16"/>
          <p:cNvSpPr/>
          <p:nvPr/>
        </p:nvSpPr>
        <p:spPr>
          <a:xfrm>
            <a:off x="3275838" y="4965192"/>
            <a:ext cx="2727198" cy="594360"/>
          </a:xfrm>
          <a:prstGeom prst="roundRect">
            <a:avLst>
              <a:gd name="adj" fmla="val 9231"/>
            </a:avLst>
          </a:prstGeom>
          <a:solidFill>
            <a:srgbClr val="F5F6F8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3275838" y="5001768"/>
            <a:ext cx="272719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3348990" y="5321808"/>
            <a:ext cx="258089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78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setores prioritários (5613, 5153, 7742)</a:t>
            </a:r>
            <a:endParaRPr lang="en-US" sz="780" dirty="0"/>
          </a:p>
        </p:txBody>
      </p:sp>
      <p:sp>
        <p:nvSpPr>
          <p:cNvPr id="22" name="Shape 19"/>
          <p:cNvSpPr/>
          <p:nvPr/>
        </p:nvSpPr>
        <p:spPr>
          <a:xfrm>
            <a:off x="6185916" y="4965192"/>
            <a:ext cx="2727198" cy="594360"/>
          </a:xfrm>
          <a:prstGeom prst="roundRect">
            <a:avLst>
              <a:gd name="adj" fmla="val 9231"/>
            </a:avLst>
          </a:prstGeom>
          <a:solidFill>
            <a:srgbClr val="F5F6F8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6185916" y="5001768"/>
            <a:ext cx="272719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800" dirty="0"/>
          </a:p>
        </p:txBody>
      </p:sp>
      <p:sp>
        <p:nvSpPr>
          <p:cNvPr id="24" name="Text 21"/>
          <p:cNvSpPr txBox="1"/>
          <p:nvPr/>
        </p:nvSpPr>
        <p:spPr>
          <a:xfrm>
            <a:off x="6259068" y="5321808"/>
            <a:ext cx="258089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78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mercados-foco (SINOT CLAV, MELOCOX, EBASTEL XPE, STIMA, AZOX CPR)</a:t>
            </a:r>
            <a:endParaRPr lang="en-US" sz="780" dirty="0"/>
          </a:p>
        </p:txBody>
      </p:sp>
      <p:sp>
        <p:nvSpPr>
          <p:cNvPr id="25" name="Shape 22"/>
          <p:cNvSpPr/>
          <p:nvPr/>
        </p:nvSpPr>
        <p:spPr>
          <a:xfrm>
            <a:off x="9095994" y="4965192"/>
            <a:ext cx="2727198" cy="594360"/>
          </a:xfrm>
          <a:prstGeom prst="roundRect">
            <a:avLst>
              <a:gd name="adj" fmla="val 9231"/>
            </a:avLst>
          </a:prstGeom>
          <a:solidFill>
            <a:srgbClr val="F5F6F8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9095994" y="5001768"/>
            <a:ext cx="272719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253</a:t>
            </a:r>
            <a:endParaRPr lang="en-US" sz="1800" dirty="0"/>
          </a:p>
        </p:txBody>
      </p:sp>
      <p:sp>
        <p:nvSpPr>
          <p:cNvPr id="27" name="Text 24"/>
          <p:cNvSpPr txBox="1"/>
          <p:nvPr/>
        </p:nvSpPr>
        <p:spPr>
          <a:xfrm>
            <a:off x="9169146" y="5321808"/>
            <a:ext cx="258089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78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médicos CAT 1-3 endereçados nos setores foco</a:t>
            </a:r>
            <a:endParaRPr lang="en-US" sz="780" dirty="0"/>
          </a:p>
        </p:txBody>
      </p:sp>
      <p:sp>
        <p:nvSpPr>
          <p:cNvPr id="28" name="Shape 25"/>
          <p:cNvSpPr/>
          <p:nvPr/>
        </p:nvSpPr>
        <p:spPr>
          <a:xfrm>
            <a:off x="365760" y="5669280"/>
            <a:ext cx="11457432" cy="329184"/>
          </a:xfrm>
          <a:prstGeom prst="roundRect">
            <a:avLst>
              <a:gd name="adj" fmla="val 13889"/>
            </a:avLst>
          </a:prstGeom>
          <a:solidFill>
            <a:srgbClr val="52B788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502920" y="5669280"/>
            <a:ext cx="111831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 </a:t>
            </a:r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PRAZO PARA EXECUÇÃO E ACOMPANHAMENTO</a:t>
            </a:r>
            <a:endParaRPr lang="en-US" sz="1300" dirty="0"/>
          </a:p>
        </p:txBody>
      </p:sp>
      <p:sp>
        <p:nvSpPr>
          <p:cNvPr id="30" name="Shape 27"/>
          <p:cNvSpPr/>
          <p:nvPr/>
        </p:nvSpPr>
        <p:spPr>
          <a:xfrm>
            <a:off x="365760" y="6035040"/>
            <a:ext cx="2761488" cy="411480"/>
          </a:xfrm>
          <a:prstGeom prst="roundRect">
            <a:avLst>
              <a:gd name="adj" fmla="val 13333"/>
            </a:avLst>
          </a:prstGeom>
          <a:solidFill>
            <a:srgbClr val="F5F6F8"/>
          </a:solidFill>
          <a:ln/>
        </p:spPr>
      </p:sp>
      <p:sp>
        <p:nvSpPr>
          <p:cNvPr id="31" name="Text 28"/>
          <p:cNvSpPr txBox="1"/>
          <p:nvPr/>
        </p:nvSpPr>
        <p:spPr>
          <a:xfrm>
            <a:off x="457200" y="6053328"/>
            <a:ext cx="25786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52B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SET/26</a:t>
            </a:r>
            <a:endParaRPr lang="en-US" sz="1100" dirty="0"/>
          </a:p>
        </p:txBody>
      </p:sp>
      <p:sp>
        <p:nvSpPr>
          <p:cNvPr id="32" name="Text 29"/>
          <p:cNvSpPr txBox="1"/>
          <p:nvPr/>
        </p:nvSpPr>
        <p:spPr>
          <a:xfrm>
            <a:off x="457200" y="6217920"/>
            <a:ext cx="2578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Kickoff + revisão de potencial (setor 5613)</a:t>
            </a:r>
            <a:endParaRPr lang="en-US" sz="850" dirty="0"/>
          </a:p>
        </p:txBody>
      </p:sp>
      <p:sp>
        <p:nvSpPr>
          <p:cNvPr id="33" name="Shape 30"/>
          <p:cNvSpPr/>
          <p:nvPr/>
        </p:nvSpPr>
        <p:spPr>
          <a:xfrm>
            <a:off x="3264408" y="6035040"/>
            <a:ext cx="2761488" cy="411480"/>
          </a:xfrm>
          <a:prstGeom prst="roundRect">
            <a:avLst>
              <a:gd name="adj" fmla="val 13333"/>
            </a:avLst>
          </a:prstGeom>
          <a:solidFill>
            <a:srgbClr val="F5F6F8"/>
          </a:solidFill>
          <a:ln/>
        </p:spPr>
      </p:sp>
      <p:sp>
        <p:nvSpPr>
          <p:cNvPr id="34" name="Text 31"/>
          <p:cNvSpPr txBox="1"/>
          <p:nvPr/>
        </p:nvSpPr>
        <p:spPr>
          <a:xfrm>
            <a:off x="3355848" y="6053328"/>
            <a:ext cx="25786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52B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OUT/26</a:t>
            </a:r>
            <a:endParaRPr lang="en-US" sz="1100" dirty="0"/>
          </a:p>
        </p:txBody>
      </p:sp>
      <p:sp>
        <p:nvSpPr>
          <p:cNvPr id="35" name="Text 32"/>
          <p:cNvSpPr txBox="1"/>
          <p:nvPr/>
        </p:nvSpPr>
        <p:spPr>
          <a:xfrm>
            <a:off x="3355848" y="6217920"/>
            <a:ext cx="2578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Ciclo 1 — foco SINOT CLAV, MELOCOX e STIMA</a:t>
            </a:r>
            <a:endParaRPr lang="en-US" sz="850" dirty="0"/>
          </a:p>
        </p:txBody>
      </p:sp>
      <p:sp>
        <p:nvSpPr>
          <p:cNvPr id="36" name="Shape 33"/>
          <p:cNvSpPr/>
          <p:nvPr/>
        </p:nvSpPr>
        <p:spPr>
          <a:xfrm>
            <a:off x="6163056" y="6035040"/>
            <a:ext cx="2761488" cy="411480"/>
          </a:xfrm>
          <a:prstGeom prst="roundRect">
            <a:avLst>
              <a:gd name="adj" fmla="val 13333"/>
            </a:avLst>
          </a:prstGeom>
          <a:solidFill>
            <a:srgbClr val="F5F6F8"/>
          </a:solidFill>
          <a:ln/>
        </p:spPr>
      </p:sp>
      <p:sp>
        <p:nvSpPr>
          <p:cNvPr id="37" name="Text 34"/>
          <p:cNvSpPr txBox="1"/>
          <p:nvPr/>
        </p:nvSpPr>
        <p:spPr>
          <a:xfrm>
            <a:off x="6254496" y="6053328"/>
            <a:ext cx="25786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52B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NOV/26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6254496" y="6217920"/>
            <a:ext cx="2578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Revisão intermediária de share</a:t>
            </a:r>
            <a:endParaRPr lang="en-US" sz="850" dirty="0"/>
          </a:p>
        </p:txBody>
      </p:sp>
      <p:sp>
        <p:nvSpPr>
          <p:cNvPr id="39" name="Shape 36"/>
          <p:cNvSpPr/>
          <p:nvPr/>
        </p:nvSpPr>
        <p:spPr>
          <a:xfrm>
            <a:off x="9061704" y="6035040"/>
            <a:ext cx="2761488" cy="411480"/>
          </a:xfrm>
          <a:prstGeom prst="roundRect">
            <a:avLst>
              <a:gd name="adj" fmla="val 13333"/>
            </a:avLst>
          </a:prstGeom>
          <a:solidFill>
            <a:srgbClr val="F5F6F8"/>
          </a:solidFill>
          <a:ln/>
        </p:spPr>
      </p:sp>
      <p:sp>
        <p:nvSpPr>
          <p:cNvPr id="40" name="Text 37"/>
          <p:cNvSpPr txBox="1"/>
          <p:nvPr/>
        </p:nvSpPr>
        <p:spPr>
          <a:xfrm>
            <a:off x="9153144" y="6053328"/>
            <a:ext cx="25786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52B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DEZ/26</a:t>
            </a:r>
            <a:endParaRPr lang="en-US" sz="1100" dirty="0"/>
          </a:p>
        </p:txBody>
      </p:sp>
      <p:sp>
        <p:nvSpPr>
          <p:cNvPr id="41" name="Text 38"/>
          <p:cNvSpPr txBox="1"/>
          <p:nvPr/>
        </p:nvSpPr>
        <p:spPr>
          <a:xfrm>
            <a:off x="9153144" y="6217920"/>
            <a:ext cx="2578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Fechamento e consolidado de resultados</a:t>
            </a:r>
            <a:endParaRPr lang="en-US" sz="850" dirty="0"/>
          </a:p>
        </p:txBody>
      </p:sp>
      <p:sp>
        <p:nvSpPr>
          <p:cNvPr id="42" name="Text 39"/>
          <p:cNvSpPr txBox="1"/>
          <p:nvPr/>
        </p:nvSpPr>
        <p:spPr>
          <a:xfrm>
            <a:off x="365760" y="6537960"/>
            <a:ext cx="114574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9AA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 ilustrativa (10% do gap identificado) — referência para acompanhamento, a validar com a gestão comercial.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2026-08-31T16:21:14Z</dcterms:created>
  <dcterms:modified xsi:type="dcterms:W3CDTF">2026-08-31T16:21:14Z</dcterms:modified>
</cp:coreProperties>
</file>